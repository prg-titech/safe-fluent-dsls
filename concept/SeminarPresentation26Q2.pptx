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8"/>
  </p:notesMasterIdLst>
  <p:sldIdLst>
    <p:sldId id="291" r:id="rId2"/>
    <p:sldId id="295" r:id="rId3"/>
    <p:sldId id="292" r:id="rId4"/>
    <p:sldId id="297" r:id="rId5"/>
    <p:sldId id="298" r:id="rId6"/>
    <p:sldId id="299" r:id="rId7"/>
    <p:sldId id="300" r:id="rId8"/>
    <p:sldId id="301" r:id="rId9"/>
    <p:sldId id="309" r:id="rId10"/>
    <p:sldId id="311" r:id="rId11"/>
    <p:sldId id="312" r:id="rId12"/>
    <p:sldId id="313" r:id="rId13"/>
    <p:sldId id="314" r:id="rId14"/>
    <p:sldId id="315" r:id="rId15"/>
    <p:sldId id="316" r:id="rId16"/>
    <p:sldId id="317" r:id="rId17"/>
    <p:sldId id="318" r:id="rId18"/>
    <p:sldId id="319" r:id="rId19"/>
    <p:sldId id="320" r:id="rId20"/>
    <p:sldId id="321" r:id="rId21"/>
    <p:sldId id="324" r:id="rId22"/>
    <p:sldId id="322" r:id="rId23"/>
    <p:sldId id="323" r:id="rId24"/>
    <p:sldId id="306" r:id="rId25"/>
    <p:sldId id="307" r:id="rId26"/>
    <p:sldId id="294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29204"/>
    <a:srgbClr val="447DE4"/>
    <a:srgbClr val="CB0756"/>
    <a:srgbClr val="E96207"/>
    <a:srgbClr val="A34D14"/>
    <a:srgbClr val="AD0B4D"/>
    <a:srgbClr val="14710A"/>
    <a:srgbClr val="846E15"/>
    <a:srgbClr val="A3144D"/>
    <a:srgbClr val="BCBE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87" d="100"/>
          <a:sy n="87" d="100"/>
        </p:scale>
        <p:origin x="40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DFC1B7-3D5E-4A5B-82A1-8FEEA2A3FD17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645753-AE66-4D7F-9406-BD9694DCF1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75248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5C679D-38E5-62C6-DCF5-C04B1C9195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8B288A3-B35F-2082-6D50-BE52AF5996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11017F-F025-5400-6140-E5428DA432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50111-6FED-49C2-8789-378BED76E634}" type="datetime1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F8174D-A11D-486F-CF04-0E88CD81FA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22E3C-11E9-61B1-DBA8-79694B82A8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890E68-D690-4AC2-96FA-C0B5F80968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72008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F76113-E68B-BBA2-CDAB-79ED000E88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37F934-9076-09D9-3419-910458B245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80842D-B413-513F-D00B-0F377A4A13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68E46B-21C7-46F1-9D55-2740DDD970A3}" type="datetime1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2A55A0-8903-6565-1068-D2BC5E6DF4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393266-096C-A70C-AFFD-00C822C384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890E68-D690-4AC2-96FA-C0B5F80968DC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F415A2B9-7A2C-23E7-E194-DF2295B7594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8200" y="296863"/>
            <a:ext cx="10515600" cy="642937"/>
          </a:xfrm>
        </p:spPr>
        <p:txBody>
          <a:bodyPr/>
          <a:lstStyle>
            <a:lvl1pPr>
              <a:buNone/>
              <a:defRPr sz="30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lvl="0"/>
            <a:r>
              <a:rPr lang="en-GB"/>
              <a:t>Chapter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62179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E3564F-A307-C491-FE23-0F6A29C74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1052E5-9E55-BB04-15E2-EE0FEFD760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ADA1C6-65BA-7A4F-815C-A84E0B2066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1CA89-DA8F-4892-AEE5-F7C0F2CD0860}" type="datetime1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9574E6-B211-C2BB-7BA9-67667E69D9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1FC850-A256-C0E4-284B-E620E8241C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890E68-D690-4AC2-96FA-C0B5F80968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1981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423579-917D-D3AA-1638-246FD3FEF6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C2CB76-418B-B247-6C74-6F9A741F65C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C6CAA3-2229-9018-0916-E48C168DDF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A4E871-A9CB-2D58-804A-8B8707A75E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8F53EC-CDE8-46DF-AB65-BEF790280B3B}" type="datetime1">
              <a:rPr lang="en-US" smtClean="0"/>
              <a:t>7/24/2026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AECA95-EFBB-B200-A7F0-A231A2F86F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60B3AA-8FB9-DB22-B068-B6240A6B2F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890E68-D690-4AC2-96FA-C0B5F80968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66701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B8B221-BB99-48A8-197F-89CCE40B2D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5D10F7-C485-AD65-C886-A06D41B59D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D76E9B-C3F7-B779-CB31-A5B2E8F276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844C204-4A8A-33B1-9701-AC9E8F3A5D0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4EC0CB5-A440-ECED-F5E5-EAF67B25EAC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8253797-D8ED-93EE-8E58-DF58DEF70B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D328C3-EDF4-4EB0-A1F0-7630EE62CF3E}" type="datetime1">
              <a:rPr lang="en-US" smtClean="0"/>
              <a:t>7/24/2026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71E6375-6CF0-2B55-E07F-70594A8A47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E5E465-21B0-63C7-63AC-3639860569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890E68-D690-4AC2-96FA-C0B5F80968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20158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8CB73E-1FDB-2768-18D7-8485AAC38F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110CD60-1834-0DF8-3443-713D561916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B759E-DC99-4512-A1E6-4D6A6134EB65}" type="datetime1">
              <a:rPr lang="en-US" smtClean="0"/>
              <a:t>7/24/2026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23F3FEE-CF11-8C35-6D90-76C6304C80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21C6E1-DA89-5462-56D3-26358FDC97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890E68-D690-4AC2-96FA-C0B5F80968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48485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5028DA4-D373-D1F6-209E-966219D57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E4549-2816-45A0-AF94-821BE7068C3B}" type="datetime1">
              <a:rPr lang="en-US" smtClean="0"/>
              <a:t>7/24/2026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35CB80-108F-8FC2-127B-B08D4F865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C6B649-EB53-2848-390C-3A4296ACD2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890E68-D690-4AC2-96FA-C0B5F80968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39764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C3889D-672A-FC76-2B81-7EE892F2A7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8DDFD9-081D-6001-41DF-96ACA27FB0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6F64D0-E159-82DE-47DD-F7556FA0DF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FEEF5F-78F1-EF2B-4382-375D8C9D49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572C81-353A-4972-8CE5-08B95FC9C929}" type="datetime1">
              <a:rPr lang="en-US" smtClean="0"/>
              <a:t>7/24/2026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C3C07A-3CD4-E8F9-9591-52C3E8BE9B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AB6502-81A6-3D88-2039-3C24133F2D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890E68-D690-4AC2-96FA-C0B5F80968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48398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B6E3FB-1D85-C984-8EFA-7D3968960A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2FC6586-CA07-0B0B-6D91-00E92D9DA6E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18DE47-470D-21CD-DE5B-99C2B16496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B08691-1EC7-AA14-CC9C-9EF5A8EDBF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43E090-6202-4986-AD3A-4D939944BE69}" type="datetime1">
              <a:rPr lang="en-US" smtClean="0"/>
              <a:t>7/24/2026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E8A282-89E9-69BB-2C98-E6F7BE4D27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E503F8-246C-2C8B-1DEE-979C67A9A5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890E68-D690-4AC2-96FA-C0B5F80968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12897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FC6F3D-8CAB-6F4A-F2F4-4FC14E26D7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31687B3-6CC0-EC5C-4AF6-574DD41759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742338-32CC-B9CD-47B4-835A134B1F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7E6740-DF18-4F16-8667-118742CC9E59}" type="datetime1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CF34E6-4CF0-607D-AD40-97885841C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DA7598-B72F-596B-0939-423513BE5C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890E68-D690-4AC2-96FA-C0B5F80968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80889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65CC993-C462-C039-3E0D-EFC0A53EDD2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788C53B-5E6B-17A7-4426-8448744712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E28B83-BCE9-EA98-16F2-98E390A4DC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03630C-7BE1-4F40-A0D5-7861FD4EF867}" type="datetime1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771E89-95C7-563B-5AA7-3A05A9B07A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CD416D-097C-BCBD-AD42-2B8700DBCA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890E68-D690-4AC2-96FA-C0B5F80968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63163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45FE3C9-471C-AF24-9B31-408B6D7F05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39114"/>
            <a:ext cx="10515600" cy="75157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5AC752-CF0B-2524-A240-3264854CC5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64DAA7-A556-9B03-DB8D-D79A598CDC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09C74DE-3C94-41C8-AEB3-8BC6999FD8F4}" type="datetime1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C1BDC3-3EE0-5E7A-97E3-D90296BEA2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2EDCAB-2080-63E3-EF09-AA0A0D9129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890E68-D690-4AC2-96FA-C0B5F80968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29337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6EBB7D-D940-45D4-1008-947EBEC01D5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GB"/>
              <a:t>An Approach for Static Analysis of Fluent APIs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986BF54-FFE2-BB8C-F984-57B6BC09E05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/>
              <a:t>26M30498 | Dennis Prüne</a:t>
            </a:r>
          </a:p>
          <a:p>
            <a:r>
              <a:rPr lang="en-GB"/>
              <a:t>PRG Lab | 2026-07-24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78576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2F66A0-1FB2-E377-1206-0E1F3726B0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Contents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02F97D-9FF1-CD4B-EBD4-6D9B512B50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4000"/>
              <a:t>Background</a:t>
            </a:r>
          </a:p>
          <a:p>
            <a:r>
              <a:rPr lang="en-GB" sz="4000"/>
              <a:t>Related Work</a:t>
            </a:r>
          </a:p>
          <a:p>
            <a:r>
              <a:rPr lang="en-GB" sz="4000"/>
              <a:t>My Proposal</a:t>
            </a:r>
          </a:p>
          <a:p>
            <a:r>
              <a:rPr lang="en-GB" sz="4000"/>
              <a:t>Current Progress &amp; Summary</a:t>
            </a:r>
            <a:endParaRPr lang="en-US" sz="400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4C2189-1D99-DDAA-7C14-063D748F94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GB"/>
              <a:t>2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F66B32D-B2B2-F1A5-24F6-2108CC48FE0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77289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60DE6D-9215-4A91-C1BB-D5CC7976B4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What are Fluent APIs?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2429F1-A76F-94B4-3FA1-B3940F3DCD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890E68-D690-4AC2-96FA-C0B5F80968DC}" type="slidenum">
              <a:rPr lang="en-US" smtClean="0"/>
              <a:t>3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155F2F-A5F3-01AB-CC97-0D86A9C5898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GB"/>
              <a:t>Background</a:t>
            </a: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B8F5142-B743-D51B-4828-DE321A2163FD}"/>
              </a:ext>
            </a:extLst>
          </p:cNvPr>
          <p:cNvSpPr/>
          <p:nvPr/>
        </p:nvSpPr>
        <p:spPr>
          <a:xfrm>
            <a:off x="838200" y="1934307"/>
            <a:ext cx="5238033" cy="1782173"/>
          </a:xfrm>
          <a:prstGeom prst="rect">
            <a:avLst/>
          </a:prstGeom>
          <a:solidFill>
            <a:schemeClr val="bg1"/>
          </a:solidFill>
          <a:ln w="3810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>
                <a:solidFill>
                  <a:schemeClr val="tx1"/>
                </a:solidFill>
                <a:latin typeface="Consolas" panose="020B0609020204030204" pitchFamily="49" charset="0"/>
              </a:rPr>
              <a:t>List&lt;Integer&gt; ys = </a:t>
            </a:r>
            <a:r>
              <a:rPr lang="en-US">
                <a:solidFill>
                  <a:srgbClr val="CB0756"/>
                </a:solidFill>
                <a:latin typeface="Consolas" panose="020B0609020204030204" pitchFamily="49" charset="0"/>
              </a:rPr>
              <a:t>new</a:t>
            </a:r>
            <a:r>
              <a:rPr lang="en-US">
                <a:solidFill>
                  <a:schemeClr val="tx1"/>
                </a:solidFill>
                <a:latin typeface="Consolas" panose="020B0609020204030204" pitchFamily="49" charset="0"/>
              </a:rPr>
              <a:t> ArrayList();</a:t>
            </a:r>
          </a:p>
          <a:p>
            <a:r>
              <a:rPr lang="en-US">
                <a:solidFill>
                  <a:srgbClr val="CB0756"/>
                </a:solidFill>
                <a:latin typeface="Consolas" panose="020B0609020204030204" pitchFamily="49" charset="0"/>
              </a:rPr>
              <a:t>for</a:t>
            </a:r>
            <a:r>
              <a:rPr lang="en-US">
                <a:solidFill>
                  <a:schemeClr val="tx1"/>
                </a:solidFill>
                <a:latin typeface="Consolas" panose="020B0609020204030204" pitchFamily="49" charset="0"/>
              </a:rPr>
              <a:t> (int x : xs) {</a:t>
            </a:r>
          </a:p>
          <a:p>
            <a:r>
              <a:rPr lang="en-US">
                <a:solidFill>
                  <a:schemeClr val="tx1"/>
                </a:solidFill>
                <a:latin typeface="Consolas" panose="020B0609020204030204" pitchFamily="49" charset="0"/>
              </a:rPr>
              <a:t>    </a:t>
            </a:r>
            <a:r>
              <a:rPr lang="en-US">
                <a:solidFill>
                  <a:srgbClr val="CB0756"/>
                </a:solidFill>
                <a:latin typeface="Consolas" panose="020B0609020204030204" pitchFamily="49" charset="0"/>
              </a:rPr>
              <a:t>if</a:t>
            </a:r>
            <a:r>
              <a:rPr lang="en-US">
                <a:solidFill>
                  <a:schemeClr val="tx1"/>
                </a:solidFill>
                <a:latin typeface="Consolas" panose="020B0609020204030204" pitchFamily="49" charset="0"/>
              </a:rPr>
              <a:t> (x &gt;= </a:t>
            </a:r>
            <a:r>
              <a:rPr lang="en-US">
                <a:solidFill>
                  <a:srgbClr val="447DE4"/>
                </a:solidFill>
                <a:latin typeface="Consolas" panose="020B0609020204030204" pitchFamily="49" charset="0"/>
              </a:rPr>
              <a:t>0</a:t>
            </a:r>
            <a:r>
              <a:rPr lang="en-US">
                <a:solidFill>
                  <a:schemeClr val="tx1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en-US">
                <a:solidFill>
                  <a:schemeClr val="tx1"/>
                </a:solidFill>
                <a:latin typeface="Consolas" panose="020B0609020204030204" pitchFamily="49" charset="0"/>
              </a:rPr>
              <a:t>        ys.add(</a:t>
            </a:r>
            <a:r>
              <a:rPr lang="en-US">
                <a:solidFill>
                  <a:srgbClr val="447DE4"/>
                </a:solidFill>
                <a:latin typeface="Consolas" panose="020B0609020204030204" pitchFamily="49" charset="0"/>
              </a:rPr>
              <a:t>2</a:t>
            </a:r>
            <a:r>
              <a:rPr lang="en-US">
                <a:solidFill>
                  <a:schemeClr val="tx1"/>
                </a:solidFill>
                <a:latin typeface="Consolas" panose="020B0609020204030204" pitchFamily="49" charset="0"/>
              </a:rPr>
              <a:t> * x);</a:t>
            </a:r>
          </a:p>
          <a:p>
            <a:r>
              <a:rPr lang="en-US">
                <a:solidFill>
                  <a:schemeClr val="tx1"/>
                </a:solidFill>
                <a:latin typeface="Consolas" panose="020B0609020204030204" pitchFamily="49" charset="0"/>
              </a:rPr>
              <a:t>    }</a:t>
            </a:r>
          </a:p>
          <a:p>
            <a:r>
              <a:rPr lang="en-US">
                <a:solidFill>
                  <a:schemeClr val="tx1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E7D84D5-0BBB-DA00-9F1B-9515D7A597F7}"/>
              </a:ext>
            </a:extLst>
          </p:cNvPr>
          <p:cNvSpPr/>
          <p:nvPr/>
        </p:nvSpPr>
        <p:spPr>
          <a:xfrm>
            <a:off x="6115769" y="1936971"/>
            <a:ext cx="5238033" cy="1492029"/>
          </a:xfrm>
          <a:prstGeom prst="rect">
            <a:avLst/>
          </a:prstGeom>
          <a:solidFill>
            <a:schemeClr val="bg1"/>
          </a:solidFill>
          <a:ln w="3810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>
                <a:solidFill>
                  <a:schemeClr val="tx1"/>
                </a:solidFill>
                <a:latin typeface="Consolas" panose="020B0609020204030204" pitchFamily="49" charset="0"/>
              </a:rPr>
              <a:t>List&lt;Integer&gt; ys = xs</a:t>
            </a:r>
          </a:p>
          <a:p>
            <a:r>
              <a:rPr lang="en-US">
                <a:solidFill>
                  <a:schemeClr val="tx1"/>
                </a:solidFill>
                <a:latin typeface="Consolas" panose="020B0609020204030204" pitchFamily="49" charset="0"/>
              </a:rPr>
              <a:t>    .stream()</a:t>
            </a:r>
          </a:p>
          <a:p>
            <a:r>
              <a:rPr lang="en-US">
                <a:solidFill>
                  <a:schemeClr val="tx1"/>
                </a:solidFill>
                <a:latin typeface="Consolas" panose="020B0609020204030204" pitchFamily="49" charset="0"/>
              </a:rPr>
              <a:t>    .filter(x -&gt; x &gt;= </a:t>
            </a:r>
            <a:r>
              <a:rPr lang="en-US">
                <a:solidFill>
                  <a:srgbClr val="447DE4"/>
                </a:solidFill>
                <a:latin typeface="Consolas" panose="020B0609020204030204" pitchFamily="49" charset="0"/>
              </a:rPr>
              <a:t>0</a:t>
            </a:r>
            <a:r>
              <a:rPr lang="en-US">
                <a:solidFill>
                  <a:schemeClr val="tx1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>
                <a:solidFill>
                  <a:schemeClr val="tx1"/>
                </a:solidFill>
                <a:latin typeface="Consolas" panose="020B0609020204030204" pitchFamily="49" charset="0"/>
              </a:rPr>
              <a:t>    .map(x -&gt; </a:t>
            </a:r>
            <a:r>
              <a:rPr lang="en-US">
                <a:solidFill>
                  <a:srgbClr val="447DE4"/>
                </a:solidFill>
                <a:latin typeface="Consolas" panose="020B0609020204030204" pitchFamily="49" charset="0"/>
              </a:rPr>
              <a:t>2</a:t>
            </a:r>
            <a:r>
              <a:rPr lang="en-US">
                <a:solidFill>
                  <a:schemeClr val="tx1"/>
                </a:solidFill>
                <a:latin typeface="Consolas" panose="020B0609020204030204" pitchFamily="49" charset="0"/>
              </a:rPr>
              <a:t> * x)</a:t>
            </a:r>
          </a:p>
          <a:p>
            <a:r>
              <a:rPr lang="en-US">
                <a:solidFill>
                  <a:schemeClr val="tx1"/>
                </a:solidFill>
                <a:latin typeface="Consolas" panose="020B0609020204030204" pitchFamily="49" charset="0"/>
              </a:rPr>
              <a:t>    .collect();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311D47EB-ADF9-1F2D-765F-120123C5F418}"/>
              </a:ext>
            </a:extLst>
          </p:cNvPr>
          <p:cNvSpPr txBox="1">
            <a:spLocks/>
          </p:cNvSpPr>
          <p:nvPr/>
        </p:nvSpPr>
        <p:spPr>
          <a:xfrm>
            <a:off x="838200" y="3675283"/>
            <a:ext cx="5157787" cy="82391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 algn="ctr">
              <a:buNone/>
            </a:pPr>
            <a:r>
              <a:rPr lang="en-GB" b="1"/>
              <a:t>Imperative Style</a:t>
            </a:r>
            <a:endParaRPr lang="en-US" b="1"/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F9C43515-1A3F-8DDF-88E5-4D5491DB04BA}"/>
              </a:ext>
            </a:extLst>
          </p:cNvPr>
          <p:cNvSpPr txBox="1">
            <a:spLocks/>
          </p:cNvSpPr>
          <p:nvPr/>
        </p:nvSpPr>
        <p:spPr>
          <a:xfrm>
            <a:off x="838200" y="4499195"/>
            <a:ext cx="5157787" cy="129493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/>
              <a:t>For-loops, if-clauses, …</a:t>
            </a:r>
          </a:p>
          <a:p>
            <a:r>
              <a:rPr lang="en-US"/>
              <a:t>Nested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0C703BAC-0F23-93C0-FA4D-22A78A533ECA}"/>
              </a:ext>
            </a:extLst>
          </p:cNvPr>
          <p:cNvSpPr txBox="1">
            <a:spLocks/>
          </p:cNvSpPr>
          <p:nvPr/>
        </p:nvSpPr>
        <p:spPr>
          <a:xfrm>
            <a:off x="6170612" y="3675283"/>
            <a:ext cx="5183188" cy="823912"/>
          </a:xfrm>
          <a:prstGeom prst="rect">
            <a:avLst/>
          </a:prstGeom>
        </p:spPr>
        <p:txBody>
          <a:bodyPr anchor="b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GB" sz="2400" b="1"/>
              <a:t>Fluent Style</a:t>
            </a:r>
            <a:endParaRPr lang="en-US" sz="2400" b="1"/>
          </a:p>
        </p:txBody>
      </p:sp>
      <p:sp>
        <p:nvSpPr>
          <p:cNvPr id="17" name="Content Placeholder 5">
            <a:extLst>
              <a:ext uri="{FF2B5EF4-FFF2-40B4-BE49-F238E27FC236}">
                <a16:creationId xmlns:a16="http://schemas.microsoft.com/office/drawing/2014/main" id="{293D38D1-9E71-93A0-1494-74FD22D350B3}"/>
              </a:ext>
            </a:extLst>
          </p:cNvPr>
          <p:cNvSpPr txBox="1">
            <a:spLocks/>
          </p:cNvSpPr>
          <p:nvPr/>
        </p:nvSpPr>
        <p:spPr>
          <a:xfrm>
            <a:off x="6170612" y="4499195"/>
            <a:ext cx="5183188" cy="103116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/>
              <a:t>Method chaining</a:t>
            </a:r>
          </a:p>
          <a:p>
            <a:r>
              <a:rPr lang="en-GB"/>
              <a:t>Flat 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2621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16" grpId="0"/>
      <p:bldP spid="1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2CEA0F-B2B3-10BC-EEA5-5F4BE99917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Fluent APIs 🤝 Embedded DSLs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AFBB45-C607-5812-7C6A-3A40CBC1FE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890E68-D690-4AC2-96FA-C0B5F80968DC}" type="slidenum">
              <a:rPr lang="en-US" smtClean="0"/>
              <a:t>4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2346461-09DF-54B5-9D46-8B488986E3F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GB"/>
              <a:t>Background</a:t>
            </a:r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CF461BA-2C79-406F-0EB9-52C4D2911B0F}"/>
              </a:ext>
            </a:extLst>
          </p:cNvPr>
          <p:cNvSpPr txBox="1"/>
          <p:nvPr/>
        </p:nvSpPr>
        <p:spPr>
          <a:xfrm>
            <a:off x="4146305" y="2124580"/>
            <a:ext cx="319600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>
                <a:solidFill>
                  <a:srgbClr val="CB0756"/>
                </a:solidFill>
                <a:latin typeface="Consolas" panose="020B0609020204030204" pitchFamily="49" charset="0"/>
              </a:rPr>
              <a:t>SELECT</a:t>
            </a:r>
            <a:r>
              <a:rPr lang="en-GB">
                <a:latin typeface="Consolas" panose="020B0609020204030204" pitchFamily="49" charset="0"/>
              </a:rPr>
              <a:t> name, birth_year </a:t>
            </a:r>
          </a:p>
          <a:p>
            <a:r>
              <a:rPr lang="en-GB">
                <a:solidFill>
                  <a:srgbClr val="CB0756"/>
                </a:solidFill>
                <a:latin typeface="Consolas" panose="020B0609020204030204" pitchFamily="49" charset="0"/>
              </a:rPr>
              <a:t>FROM</a:t>
            </a:r>
            <a:r>
              <a:rPr lang="en-GB">
                <a:latin typeface="Consolas" panose="020B0609020204030204" pitchFamily="49" charset="0"/>
              </a:rPr>
              <a:t> Students </a:t>
            </a:r>
          </a:p>
          <a:p>
            <a:r>
              <a:rPr lang="en-GB">
                <a:solidFill>
                  <a:srgbClr val="CB0756"/>
                </a:solidFill>
                <a:latin typeface="Consolas" panose="020B0609020204030204" pitchFamily="49" charset="0"/>
              </a:rPr>
              <a:t>WHERE</a:t>
            </a:r>
            <a:r>
              <a:rPr lang="en-GB">
                <a:latin typeface="Consolas" panose="020B0609020204030204" pitchFamily="49" charset="0"/>
              </a:rPr>
              <a:t> birth_year == </a:t>
            </a:r>
            <a:r>
              <a:rPr lang="en-GB">
                <a:solidFill>
                  <a:srgbClr val="447DE4"/>
                </a:solidFill>
                <a:latin typeface="Consolas" panose="020B0609020204030204" pitchFamily="49" charset="0"/>
              </a:rPr>
              <a:t>2005</a:t>
            </a:r>
            <a:endParaRPr lang="en-US">
              <a:solidFill>
                <a:srgbClr val="447DE4"/>
              </a:solidFill>
              <a:latin typeface="Consolas" panose="020B06090202040302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214C915-B6FC-76E0-BADA-8D8F388FC913}"/>
              </a:ext>
            </a:extLst>
          </p:cNvPr>
          <p:cNvSpPr txBox="1"/>
          <p:nvPr/>
        </p:nvSpPr>
        <p:spPr>
          <a:xfrm>
            <a:off x="838198" y="4159282"/>
            <a:ext cx="429943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>
                <a:latin typeface="Consolas" panose="020B0609020204030204" pitchFamily="49" charset="0"/>
              </a:rPr>
              <a:t>Query query = SQL.query(</a:t>
            </a:r>
          </a:p>
          <a:p>
            <a:r>
              <a:rPr lang="en-GB">
                <a:latin typeface="Consolas" panose="020B0609020204030204" pitchFamily="49" charset="0"/>
              </a:rPr>
              <a:t>  </a:t>
            </a:r>
            <a:r>
              <a:rPr lang="en-GB">
                <a:solidFill>
                  <a:srgbClr val="129204"/>
                </a:solidFill>
                <a:latin typeface="Consolas" panose="020B0609020204030204" pitchFamily="49" charset="0"/>
              </a:rPr>
              <a:t>"SELECT name, birth_year "</a:t>
            </a:r>
            <a:r>
              <a:rPr lang="en-GB">
                <a:latin typeface="Consolas" panose="020B0609020204030204" pitchFamily="49" charset="0"/>
              </a:rPr>
              <a:t>  </a:t>
            </a:r>
          </a:p>
          <a:p>
            <a:r>
              <a:rPr lang="en-GB">
                <a:latin typeface="Consolas" panose="020B0609020204030204" pitchFamily="49" charset="0"/>
              </a:rPr>
              <a:t>  + </a:t>
            </a:r>
            <a:r>
              <a:rPr lang="en-GB">
                <a:solidFill>
                  <a:srgbClr val="129204"/>
                </a:solidFill>
                <a:latin typeface="Consolas" panose="020B0609020204030204" pitchFamily="49" charset="0"/>
              </a:rPr>
              <a:t>"FROM Students "</a:t>
            </a:r>
            <a:r>
              <a:rPr lang="en-GB">
                <a:latin typeface="Consolas" panose="020B0609020204030204" pitchFamily="49" charset="0"/>
              </a:rPr>
              <a:t> </a:t>
            </a:r>
          </a:p>
          <a:p>
            <a:r>
              <a:rPr lang="en-GB">
                <a:latin typeface="Consolas" panose="020B0609020204030204" pitchFamily="49" charset="0"/>
              </a:rPr>
              <a:t>  + </a:t>
            </a:r>
            <a:r>
              <a:rPr lang="en-GB">
                <a:solidFill>
                  <a:srgbClr val="129204"/>
                </a:solidFill>
                <a:latin typeface="Consolas" panose="020B0609020204030204" pitchFamily="49" charset="0"/>
              </a:rPr>
              <a:t>"WHERE birth_year == 2005"</a:t>
            </a:r>
            <a:r>
              <a:rPr lang="en-GB">
                <a:latin typeface="Consolas" panose="020B0609020204030204" pitchFamily="49" charset="0"/>
              </a:rPr>
              <a:t>);</a:t>
            </a:r>
            <a:endParaRPr lang="en-US">
              <a:latin typeface="Consolas" panose="020B0609020204030204" pitchFamily="49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189D9EC-A5FB-96A1-EA14-EC302E02061C}"/>
              </a:ext>
            </a:extLst>
          </p:cNvPr>
          <p:cNvSpPr txBox="1"/>
          <p:nvPr/>
        </p:nvSpPr>
        <p:spPr>
          <a:xfrm>
            <a:off x="6365629" y="4159281"/>
            <a:ext cx="498817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>
                <a:latin typeface="Consolas" panose="020B0609020204030204" pitchFamily="49" charset="0"/>
              </a:rPr>
              <a:t>Query query = SQL</a:t>
            </a:r>
          </a:p>
          <a:p>
            <a:r>
              <a:rPr lang="en-GB">
                <a:latin typeface="Consolas" panose="020B0609020204030204" pitchFamily="49" charset="0"/>
              </a:rPr>
              <a:t>  .select(</a:t>
            </a:r>
            <a:r>
              <a:rPr lang="en-GB">
                <a:solidFill>
                  <a:srgbClr val="129204"/>
                </a:solidFill>
                <a:latin typeface="Consolas" panose="020B0609020204030204" pitchFamily="49" charset="0"/>
              </a:rPr>
              <a:t>"name, birth_year"</a:t>
            </a:r>
            <a:r>
              <a:rPr lang="en-GB">
                <a:latin typeface="Consolas" panose="020B0609020204030204" pitchFamily="49" charset="0"/>
              </a:rPr>
              <a:t>)</a:t>
            </a:r>
          </a:p>
          <a:p>
            <a:r>
              <a:rPr lang="en-GB">
                <a:latin typeface="Consolas" panose="020B0609020204030204" pitchFamily="49" charset="0"/>
              </a:rPr>
              <a:t>  .from(</a:t>
            </a:r>
            <a:r>
              <a:rPr lang="en-GB">
                <a:solidFill>
                  <a:srgbClr val="129204"/>
                </a:solidFill>
                <a:latin typeface="Consolas" panose="020B0609020204030204" pitchFamily="49" charset="0"/>
              </a:rPr>
              <a:t>"Students"</a:t>
            </a:r>
            <a:r>
              <a:rPr lang="en-GB">
                <a:latin typeface="Consolas" panose="020B0609020204030204" pitchFamily="49" charset="0"/>
              </a:rPr>
              <a:t>)</a:t>
            </a:r>
          </a:p>
          <a:p>
            <a:r>
              <a:rPr lang="en-GB">
                <a:latin typeface="Consolas" panose="020B0609020204030204" pitchFamily="49" charset="0"/>
              </a:rPr>
              <a:t>  .where(</a:t>
            </a:r>
            <a:r>
              <a:rPr lang="en-GB">
                <a:solidFill>
                  <a:srgbClr val="129204"/>
                </a:solidFill>
                <a:latin typeface="Consolas" panose="020B0609020204030204" pitchFamily="49" charset="0"/>
              </a:rPr>
              <a:t>"birth_year == 2005"</a:t>
            </a:r>
            <a:r>
              <a:rPr lang="en-GB">
                <a:latin typeface="Consolas" panose="020B0609020204030204" pitchFamily="49" charset="0"/>
              </a:rPr>
              <a:t>);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EF7DE014-3CBE-A3D1-3582-1312464434B6}"/>
              </a:ext>
            </a:extLst>
          </p:cNvPr>
          <p:cNvCxnSpPr>
            <a:cxnSpLocks/>
          </p:cNvCxnSpPr>
          <p:nvPr/>
        </p:nvCxnSpPr>
        <p:spPr>
          <a:xfrm flipH="1">
            <a:off x="3288323" y="3047910"/>
            <a:ext cx="857982" cy="111137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4832EAD-7BF5-E71C-C499-E102F59CE812}"/>
              </a:ext>
            </a:extLst>
          </p:cNvPr>
          <p:cNvCxnSpPr>
            <a:cxnSpLocks/>
          </p:cNvCxnSpPr>
          <p:nvPr/>
        </p:nvCxnSpPr>
        <p:spPr>
          <a:xfrm>
            <a:off x="7342309" y="3047910"/>
            <a:ext cx="857982" cy="111137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14495246-4373-35B0-70B2-C8487ADAF2D6}"/>
              </a:ext>
            </a:extLst>
          </p:cNvPr>
          <p:cNvSpPr txBox="1"/>
          <p:nvPr/>
        </p:nvSpPr>
        <p:spPr>
          <a:xfrm>
            <a:off x="1817159" y="3328284"/>
            <a:ext cx="18832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/>
              <a:t>naïve embedding</a:t>
            </a:r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2A79767-24AC-D11F-2F92-2FB098457C34}"/>
              </a:ext>
            </a:extLst>
          </p:cNvPr>
          <p:cNvSpPr txBox="1"/>
          <p:nvPr/>
        </p:nvSpPr>
        <p:spPr>
          <a:xfrm>
            <a:off x="7892141" y="3328284"/>
            <a:ext cx="19351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/>
              <a:t>fluent embedding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15235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1" grpId="0"/>
      <p:bldP spid="12" grpId="0"/>
      <p:bldP spid="1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461ABC-2EA7-C235-3557-C5B9C0110B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E197C5-2EB8-C59D-B398-1337B2DEA7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The Tradeoff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0E5763-67F9-3969-1176-32D3A60D3A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890E68-D690-4AC2-96FA-C0B5F80968DC}" type="slidenum">
              <a:rPr lang="en-US" smtClean="0"/>
              <a:t>5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46B4804-32F3-C3AA-A814-D89F0950291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GB"/>
              <a:t>Background</a:t>
            </a:r>
            <a:endParaRPr lang="en-US"/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6BE623D3-CB17-F0E1-8D96-B47F8A3AE5D9}"/>
              </a:ext>
            </a:extLst>
          </p:cNvPr>
          <p:cNvSpPr>
            <a:spLocks noGrp="1"/>
          </p:cNvSpPr>
          <p:nvPr/>
        </p:nvSpPr>
        <p:spPr>
          <a:xfrm>
            <a:off x="838200" y="1690688"/>
            <a:ext cx="5157787" cy="82391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/>
              <a:t>Advantages</a:t>
            </a:r>
            <a:endParaRPr lang="en-US"/>
          </a:p>
        </p:txBody>
      </p:sp>
      <p:sp>
        <p:nvSpPr>
          <p:cNvPr id="25" name="Content Placeholder 3">
            <a:extLst>
              <a:ext uri="{FF2B5EF4-FFF2-40B4-BE49-F238E27FC236}">
                <a16:creationId xmlns:a16="http://schemas.microsoft.com/office/drawing/2014/main" id="{46B6F0F8-599F-A243-43AB-BEB3E175E26C}"/>
              </a:ext>
            </a:extLst>
          </p:cNvPr>
          <p:cNvSpPr>
            <a:spLocks noGrp="1"/>
          </p:cNvSpPr>
          <p:nvPr/>
        </p:nvSpPr>
        <p:spPr>
          <a:xfrm>
            <a:off x="838200" y="2514600"/>
            <a:ext cx="5157787" cy="36845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/>
              <a:t>Less syntax to remember</a:t>
            </a:r>
          </a:p>
          <a:p>
            <a:r>
              <a:rPr lang="en-GB"/>
              <a:t>Dynamic data support</a:t>
            </a:r>
          </a:p>
          <a:p>
            <a:endParaRPr lang="en-GB"/>
          </a:p>
          <a:p>
            <a:endParaRPr lang="en-GB"/>
          </a:p>
          <a:p>
            <a:pPr marL="0" indent="0">
              <a:buNone/>
            </a:pPr>
            <a:endParaRPr lang="en-US"/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FC071023-1BDE-00EE-B05D-6A36FF942A25}"/>
              </a:ext>
            </a:extLst>
          </p:cNvPr>
          <p:cNvSpPr>
            <a:spLocks noGrp="1"/>
          </p:cNvSpPr>
          <p:nvPr/>
        </p:nvSpPr>
        <p:spPr>
          <a:xfrm>
            <a:off x="6170612" y="1690688"/>
            <a:ext cx="5183188" cy="82391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/>
              <a:t>Disadvantages</a:t>
            </a:r>
            <a:endParaRPr lang="en-US"/>
          </a:p>
        </p:txBody>
      </p:sp>
      <p:sp>
        <p:nvSpPr>
          <p:cNvPr id="29" name="Content Placeholder 5">
            <a:extLst>
              <a:ext uri="{FF2B5EF4-FFF2-40B4-BE49-F238E27FC236}">
                <a16:creationId xmlns:a16="http://schemas.microsoft.com/office/drawing/2014/main" id="{E58F0A3B-F734-C183-AB2F-E7A5AAF15B3A}"/>
              </a:ext>
            </a:extLst>
          </p:cNvPr>
          <p:cNvSpPr>
            <a:spLocks noGrp="1"/>
          </p:cNvSpPr>
          <p:nvPr/>
        </p:nvSpPr>
        <p:spPr>
          <a:xfrm>
            <a:off x="6170612" y="2514600"/>
            <a:ext cx="5183188" cy="36845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/>
              <a:t>NO static safety guarantees</a:t>
            </a:r>
          </a:p>
          <a:p>
            <a:pPr lvl="1"/>
            <a:r>
              <a:rPr lang="en-GB"/>
              <a:t>NO syntax checking</a:t>
            </a:r>
          </a:p>
          <a:p>
            <a:pPr lvl="1"/>
            <a:r>
              <a:rPr lang="en-GB"/>
              <a:t>NO type checking</a:t>
            </a:r>
          </a:p>
          <a:p>
            <a:pPr lvl="1"/>
            <a:r>
              <a:rPr lang="en-GB"/>
              <a:t>NO semantic analysis</a:t>
            </a:r>
            <a:endParaRPr lang="en-US"/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EB6C3CE0-CBE4-925A-C87C-734F7E820A5D}"/>
              </a:ext>
            </a:extLst>
          </p:cNvPr>
          <p:cNvGrpSpPr/>
          <p:nvPr/>
        </p:nvGrpSpPr>
        <p:grpSpPr>
          <a:xfrm>
            <a:off x="1088065" y="3543245"/>
            <a:ext cx="4658056" cy="1305854"/>
            <a:chOff x="1092507" y="3059668"/>
            <a:chExt cx="4658056" cy="1305854"/>
          </a:xfrm>
        </p:grpSpPr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8F548EF0-59F9-45BF-3480-4F57D9880DF8}"/>
                </a:ext>
              </a:extLst>
            </p:cNvPr>
            <p:cNvSpPr txBox="1"/>
            <p:nvPr/>
          </p:nvSpPr>
          <p:spPr>
            <a:xfrm>
              <a:off x="1260231" y="3059668"/>
              <a:ext cx="449033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>
                  <a:latin typeface="Consolas" panose="020B0609020204030204" pitchFamily="49" charset="0"/>
                </a:rPr>
                <a:t>SQL.select(</a:t>
              </a:r>
              <a:r>
                <a:rPr lang="en-GB" u="sng">
                  <a:uFill>
                    <a:solidFill>
                      <a:srgbClr val="0070C0"/>
                    </a:solidFill>
                  </a:uFill>
                  <a:latin typeface="Consolas" panose="020B0609020204030204" pitchFamily="49" charset="0"/>
                </a:rPr>
                <a:t>field</a:t>
              </a:r>
              <a:r>
                <a:rPr lang="en-GB">
                  <a:latin typeface="Consolas" panose="020B0609020204030204" pitchFamily="49" charset="0"/>
                </a:rPr>
                <a:t>).from(</a:t>
              </a:r>
              <a:r>
                <a:rPr lang="en-GB">
                  <a:solidFill>
                    <a:srgbClr val="129204"/>
                  </a:solidFill>
                  <a:latin typeface="Consolas" panose="020B0609020204030204" pitchFamily="49" charset="0"/>
                </a:rPr>
                <a:t>"Students"</a:t>
              </a:r>
              <a:r>
                <a:rPr lang="en-GB">
                  <a:latin typeface="Consolas" panose="020B0609020204030204" pitchFamily="49" charset="0"/>
                </a:rPr>
                <a:t>)</a:t>
              </a:r>
              <a:endParaRPr lang="en-US">
                <a:latin typeface="Consolas" panose="020B0609020204030204" pitchFamily="49" charset="0"/>
              </a:endParaRP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D473CCAA-F5FE-5029-F72B-9D9E810B4791}"/>
                </a:ext>
              </a:extLst>
            </p:cNvPr>
            <p:cNvSpPr txBox="1"/>
            <p:nvPr/>
          </p:nvSpPr>
          <p:spPr>
            <a:xfrm>
              <a:off x="1092507" y="3780747"/>
              <a:ext cx="1822935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1600">
                  <a:solidFill>
                    <a:srgbClr val="0070C0"/>
                  </a:solidFill>
                  <a:latin typeface="Comic Sans MS" panose="030F0702030302020204" pitchFamily="66" charset="0"/>
                </a:rPr>
                <a:t>can be set</a:t>
              </a:r>
            </a:p>
            <a:p>
              <a:pPr algn="ctr"/>
              <a:r>
                <a:rPr lang="en-GB" sz="1600">
                  <a:solidFill>
                    <a:srgbClr val="0070C0"/>
                  </a:solidFill>
                  <a:latin typeface="Comic Sans MS" panose="030F0702030302020204" pitchFamily="66" charset="0"/>
                </a:rPr>
                <a:t>programmatically</a:t>
              </a:r>
              <a:endParaRPr lang="en-US" sz="1600">
                <a:solidFill>
                  <a:srgbClr val="0070C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726EB60-6F33-C844-7BA8-EDBE0E99DB5D}"/>
                </a:ext>
              </a:extLst>
            </p:cNvPr>
            <p:cNvSpPr/>
            <p:nvPr/>
          </p:nvSpPr>
          <p:spPr>
            <a:xfrm>
              <a:off x="2848708" y="3472962"/>
              <a:ext cx="228600" cy="574767"/>
            </a:xfrm>
            <a:custGeom>
              <a:avLst/>
              <a:gdLst>
                <a:gd name="csX0" fmla="*/ 0 w 228600"/>
                <a:gd name="csY0" fmla="*/ 536330 h 574767"/>
                <a:gd name="csX1" fmla="*/ 175846 w 228600"/>
                <a:gd name="csY1" fmla="*/ 518746 h 574767"/>
                <a:gd name="csX2" fmla="*/ 228600 w 228600"/>
                <a:gd name="csY2" fmla="*/ 0 h 57476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28600" h="574767">
                  <a:moveTo>
                    <a:pt x="0" y="536330"/>
                  </a:moveTo>
                  <a:cubicBezTo>
                    <a:pt x="68873" y="572232"/>
                    <a:pt x="137746" y="608134"/>
                    <a:pt x="175846" y="518746"/>
                  </a:cubicBezTo>
                  <a:cubicBezTo>
                    <a:pt x="213946" y="429358"/>
                    <a:pt x="221273" y="214679"/>
                    <a:pt x="228600" y="0"/>
                  </a:cubicBezTo>
                </a:path>
              </a:pathLst>
            </a:custGeom>
            <a:ln w="19050" cap="flat" cmpd="sng" algn="ctr">
              <a:solidFill>
                <a:srgbClr val="0070C0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6" name="TextBox 35">
            <a:extLst>
              <a:ext uri="{FF2B5EF4-FFF2-40B4-BE49-F238E27FC236}">
                <a16:creationId xmlns:a16="http://schemas.microsoft.com/office/drawing/2014/main" id="{C4A39234-9A51-D479-A227-E84686F28A44}"/>
              </a:ext>
            </a:extLst>
          </p:cNvPr>
          <p:cNvSpPr txBox="1"/>
          <p:nvPr/>
        </p:nvSpPr>
        <p:spPr>
          <a:xfrm>
            <a:off x="6365629" y="4243922"/>
            <a:ext cx="498817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>
                <a:latin typeface="Consolas" panose="020B0609020204030204" pitchFamily="49" charset="0"/>
              </a:rPr>
              <a:t>SQL.select(</a:t>
            </a:r>
            <a:r>
              <a:rPr lang="en-GB">
                <a:solidFill>
                  <a:srgbClr val="129204"/>
                </a:solidFill>
                <a:latin typeface="Consolas" panose="020B0609020204030204" pitchFamily="49" charset="0"/>
              </a:rPr>
              <a:t>"name, birth_year"</a:t>
            </a:r>
            <a:r>
              <a:rPr lang="en-GB">
                <a:latin typeface="Consolas" panose="020B0609020204030204" pitchFamily="49" charset="0"/>
              </a:rPr>
              <a:t>)</a:t>
            </a:r>
          </a:p>
          <a:p>
            <a:r>
              <a:rPr lang="en-GB">
                <a:latin typeface="Consolas" panose="020B0609020204030204" pitchFamily="49" charset="0"/>
              </a:rPr>
              <a:t>   .from(</a:t>
            </a:r>
            <a:r>
              <a:rPr lang="en-GB">
                <a:solidFill>
                  <a:srgbClr val="129204"/>
                </a:solidFill>
                <a:latin typeface="Consolas" panose="020B0609020204030204" pitchFamily="49" charset="0"/>
              </a:rPr>
              <a:t>"Students"</a:t>
            </a:r>
            <a:r>
              <a:rPr lang="en-GB">
                <a:latin typeface="Consolas" panose="020B0609020204030204" pitchFamily="49" charset="0"/>
              </a:rPr>
              <a:t>)</a:t>
            </a:r>
          </a:p>
          <a:p>
            <a:r>
              <a:rPr lang="en-GB">
                <a:latin typeface="Consolas" panose="020B0609020204030204" pitchFamily="49" charset="0"/>
              </a:rPr>
              <a:t>   .</a:t>
            </a:r>
            <a:r>
              <a:rPr lang="en-GB" u="wavyHeavy">
                <a:uFill>
                  <a:solidFill>
                    <a:srgbClr val="FF0000"/>
                  </a:solidFill>
                </a:uFill>
                <a:latin typeface="Consolas" panose="020B0609020204030204" pitchFamily="49" charset="0"/>
              </a:rPr>
              <a:t>from</a:t>
            </a:r>
            <a:r>
              <a:rPr lang="en-GB">
                <a:latin typeface="Consolas" panose="020B0609020204030204" pitchFamily="49" charset="0"/>
              </a:rPr>
              <a:t>(</a:t>
            </a:r>
            <a:r>
              <a:rPr lang="en-GB">
                <a:solidFill>
                  <a:srgbClr val="129204"/>
                </a:solidFill>
                <a:latin typeface="Consolas" panose="020B0609020204030204" pitchFamily="49" charset="0"/>
              </a:rPr>
              <a:t>"Teachers"</a:t>
            </a:r>
            <a:r>
              <a:rPr lang="en-GB"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3C36C946-87D5-61E5-811C-9B77DA26C2EB}"/>
              </a:ext>
            </a:extLst>
          </p:cNvPr>
          <p:cNvSpPr/>
          <p:nvPr/>
        </p:nvSpPr>
        <p:spPr>
          <a:xfrm>
            <a:off x="7142011" y="5187462"/>
            <a:ext cx="533674" cy="474784"/>
          </a:xfrm>
          <a:custGeom>
            <a:avLst/>
            <a:gdLst>
              <a:gd name="csX0" fmla="*/ 533674 w 533674"/>
              <a:gd name="csY0" fmla="*/ 474784 h 474784"/>
              <a:gd name="csX1" fmla="*/ 58889 w 533674"/>
              <a:gd name="csY1" fmla="*/ 369276 h 474784"/>
              <a:gd name="csX2" fmla="*/ 23720 w 533674"/>
              <a:gd name="csY2" fmla="*/ 0 h 47478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533674" h="474784">
                <a:moveTo>
                  <a:pt x="533674" y="474784"/>
                </a:moveTo>
                <a:cubicBezTo>
                  <a:pt x="338777" y="461595"/>
                  <a:pt x="143881" y="448407"/>
                  <a:pt x="58889" y="369276"/>
                </a:cubicBezTo>
                <a:cubicBezTo>
                  <a:pt x="-26103" y="290145"/>
                  <a:pt x="-1192" y="145072"/>
                  <a:pt x="23720" y="0"/>
                </a:cubicBezTo>
              </a:path>
            </a:pathLst>
          </a:custGeom>
          <a:noFill/>
          <a:ln w="19050" cap="flat" cmpd="sng" algn="ctr">
            <a:solidFill>
              <a:srgbClr val="0070C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E4CC440-3875-68C2-72EC-559A801840E2}"/>
              </a:ext>
            </a:extLst>
          </p:cNvPr>
          <p:cNvSpPr txBox="1"/>
          <p:nvPr/>
        </p:nvSpPr>
        <p:spPr>
          <a:xfrm>
            <a:off x="7321513" y="5527020"/>
            <a:ext cx="219322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600">
                <a:solidFill>
                  <a:srgbClr val="0070C0"/>
                </a:solidFill>
                <a:latin typeface="Comic Sans MS" panose="030F0702030302020204" pitchFamily="66" charset="0"/>
              </a:rPr>
              <a:t>illegal syntax</a:t>
            </a:r>
          </a:p>
          <a:p>
            <a:pPr algn="ctr"/>
            <a:r>
              <a:rPr lang="en-GB" sz="1600">
                <a:solidFill>
                  <a:srgbClr val="0070C0"/>
                </a:solidFill>
                <a:latin typeface="Comic Sans MS" panose="030F0702030302020204" pitchFamily="66" charset="0"/>
              </a:rPr>
              <a:t>causes </a:t>
            </a:r>
            <a:r>
              <a:rPr lang="en-GB" sz="1600">
                <a:solidFill>
                  <a:srgbClr val="FF0000"/>
                </a:solidFill>
                <a:latin typeface="Comic Sans MS" panose="030F0702030302020204" pitchFamily="66" charset="0"/>
              </a:rPr>
              <a:t>runtime error</a:t>
            </a:r>
            <a:endParaRPr lang="en-US" sz="1600">
              <a:solidFill>
                <a:srgbClr val="FF0000"/>
              </a:solidFill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99705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25" grpId="0"/>
      <p:bldP spid="27" grpId="0"/>
      <p:bldP spid="29" grpId="0"/>
      <p:bldP spid="36" grpId="0"/>
      <p:bldP spid="39" grpId="0" animBg="1"/>
      <p:bldP spid="4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9BEDA11-D991-D431-9485-271C2107A47D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/>
              <a:t>Goal: Disallow bad method chains at compile time</a:t>
            </a:r>
          </a:p>
          <a:p>
            <a:pPr marL="514350" indent="-514350">
              <a:buAutoNum type="arabicPeriod"/>
            </a:pPr>
            <a:r>
              <a:rPr lang="en-GB"/>
              <a:t>Encode allowed chains as a CFG</a:t>
            </a:r>
          </a:p>
          <a:p>
            <a:pPr marL="514350" indent="-514350">
              <a:buAutoNum type="arabicPeriod"/>
            </a:pPr>
            <a:endParaRPr lang="en-GB"/>
          </a:p>
          <a:p>
            <a:pPr marL="514350" indent="-514350">
              <a:buAutoNum type="arabicPeriod"/>
            </a:pPr>
            <a:endParaRPr lang="en-GB"/>
          </a:p>
          <a:p>
            <a:pPr marL="514350" indent="-514350">
              <a:buAutoNum type="arabicPeriod"/>
            </a:pPr>
            <a:endParaRPr lang="en-GB"/>
          </a:p>
          <a:p>
            <a:pPr marL="514350" indent="-514350">
              <a:buAutoNum type="arabicPeriod"/>
            </a:pPr>
            <a:endParaRPr lang="en-GB"/>
          </a:p>
          <a:p>
            <a:pPr marL="514350" indent="-514350">
              <a:buAutoNum type="arabicPeriod"/>
            </a:pPr>
            <a:r>
              <a:rPr lang="en-GB"/>
              <a:t>Generate a fluent API where this syntax is encoded in the type system (Enums + Generics)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2B81C78-6A13-E3C1-FA0D-4A34E58A3F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39114"/>
            <a:ext cx="10697308" cy="751574"/>
          </a:xfrm>
        </p:spPr>
        <p:txBody>
          <a:bodyPr/>
          <a:lstStyle/>
          <a:p>
            <a:r>
              <a:rPr lang="en-GB"/>
              <a:t>Safe Fluent APIs</a:t>
            </a:r>
            <a:endParaRPr lang="en-US" sz="28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A3B6186-E59B-6E80-77B0-34E11EB75ED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277815" y="2826177"/>
                <a:ext cx="6512169" cy="1937483"/>
              </a:xfrm>
            </p:spPr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𝑄𝑢𝑒𝑟</m:t>
                      </m:r>
                      <m:r>
                        <m:rPr>
                          <m:sty m:val="p"/>
                        </m:rPr>
                        <a:rPr lang="en-GB" sz="2400" b="0" i="1" smtClean="0">
                          <a:latin typeface="Cambria Math" panose="02040503050406030204" pitchFamily="18" charset="0"/>
                        </a:rPr>
                        <m:t>y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 : := </m:t>
                      </m:r>
                      <m:r>
                        <m:rPr>
                          <m:nor/>
                        </m:rPr>
                        <a:rPr lang="en-GB" sz="2400" b="0" i="0" smtClean="0">
                          <a:latin typeface="Consolas" panose="020B0609020204030204" pitchFamily="49" charset="0"/>
                        </a:rPr>
                        <m:t>SQL</m:t>
                      </m:r>
                      <m:r>
                        <m:rPr>
                          <m:nor/>
                        </m:rPr>
                        <a:rPr lang="en-GB" sz="2400" b="0" i="0" smtClean="0">
                          <a:latin typeface="Consolas" panose="020B0609020204030204" pitchFamily="49" charset="0"/>
                        </a:rPr>
                        <m:t>.</m:t>
                      </m:r>
                      <m:r>
                        <m:rPr>
                          <m:nor/>
                        </m:rPr>
                        <a:rPr lang="en-GB" sz="2400" b="0" i="0" smtClean="0">
                          <a:latin typeface="Consolas" panose="020B0609020204030204" pitchFamily="49" charset="0"/>
                        </a:rPr>
                        <m:t>select</m:t>
                      </m:r>
                      <m:d>
                        <m:d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n-GB" sz="2400" b="0" i="0" smtClean="0">
                              <a:latin typeface="Consolas" panose="020B0609020204030204" pitchFamily="49" charset="0"/>
                            </a:rPr>
                            <m:t>String</m:t>
                          </m:r>
                          <m:r>
                            <m:rPr>
                              <m:nor/>
                            </m:rPr>
                            <a:rPr lang="en-GB" sz="2400" b="0" i="0" smtClean="0">
                              <a:latin typeface="Consolas" panose="020B0609020204030204" pitchFamily="49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GB" sz="2400" b="0" i="0" smtClean="0">
                              <a:latin typeface="Consolas" panose="020B0609020204030204" pitchFamily="49" charset="0"/>
                            </a:rPr>
                            <m:t>selections</m:t>
                          </m:r>
                        </m:e>
                      </m:d>
                    </m:oMath>
                    <m:oMath xmlns:m="http://schemas.openxmlformats.org/officeDocument/2006/math">
                      <m:r>
                        <m:rPr>
                          <m:nor/>
                        </m:rPr>
                        <a:rPr lang="en-GB" sz="2400" b="0" i="0" smtClean="0">
                          <a:latin typeface="Consolas" panose="020B0609020204030204" pitchFamily="49" charset="0"/>
                        </a:rPr>
                        <m:t>            .</m:t>
                      </m:r>
                      <m:r>
                        <m:rPr>
                          <m:nor/>
                        </m:rPr>
                        <a:rPr lang="en-GB" sz="2400" b="0" i="0" smtClean="0">
                          <a:latin typeface="Consolas" panose="020B0609020204030204" pitchFamily="49" charset="0"/>
                        </a:rPr>
                        <m:t>from</m:t>
                      </m:r>
                      <m:d>
                        <m:d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n-GB" sz="2400" b="0" i="0" smtClean="0">
                              <a:latin typeface="Consolas" panose="020B0609020204030204" pitchFamily="49" charset="0"/>
                            </a:rPr>
                            <m:t>String</m:t>
                          </m:r>
                          <m:r>
                            <m:rPr>
                              <m:nor/>
                            </m:rPr>
                            <a:rPr lang="en-GB" sz="2400" b="0" i="0" smtClean="0">
                              <a:latin typeface="Consolas" panose="020B0609020204030204" pitchFamily="49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GB" sz="2400" b="0" i="0" smtClean="0">
                              <a:latin typeface="Consolas" panose="020B0609020204030204" pitchFamily="49" charset="0"/>
                            </a:rPr>
                            <m:t>source</m:t>
                          </m:r>
                        </m:e>
                      </m:d>
                    </m:oMath>
                    <m:oMath xmlns:m="http://schemas.openxmlformats.org/officeDocument/2006/math">
                      <m:r>
                        <m:rPr>
                          <m:nor/>
                        </m:rPr>
                        <a:rPr lang="en-GB" sz="2400" b="0" i="0" smtClean="0">
                          <a:latin typeface="Cambria Math" panose="02040503050406030204" pitchFamily="18" charset="0"/>
                        </a:rPr>
                        <m:t>                       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        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𝑊h𝑒𝑟𝑒</m:t>
                      </m:r>
                    </m:oMath>
                  </m:oMathPara>
                </a14:m>
                <a:br>
                  <a:rPr lang="en-GB" sz="2400" b="0"/>
                </a:br>
                <a:br>
                  <a:rPr lang="en-GB" sz="2400" b="0"/>
                </a:b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𝑊h𝑒𝑟𝑒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 : :=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𝜖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  |</m:t>
                      </m:r>
                      <m:r>
                        <m:rPr>
                          <m:nor/>
                        </m:rPr>
                        <a:rPr lang="en-GB" sz="2400" b="0" i="0" smtClean="0">
                          <a:latin typeface="Cambria Math" panose="02040503050406030204" pitchFamily="18" charset="0"/>
                        </a:rPr>
                        <m:t>  </m:t>
                      </m:r>
                      <m:r>
                        <m:rPr>
                          <m:nor/>
                        </m:rPr>
                        <a:rPr lang="en-GB" sz="2400" b="0" i="0" smtClean="0">
                          <a:latin typeface="Consolas" panose="020B0609020204030204" pitchFamily="49" charset="0"/>
                        </a:rPr>
                        <m:t>.</m:t>
                      </m:r>
                      <m:r>
                        <m:rPr>
                          <m:nor/>
                        </m:rPr>
                        <a:rPr lang="en-GB" sz="2400" b="0" i="0" smtClean="0">
                          <a:latin typeface="Consolas" panose="020B0609020204030204" pitchFamily="49" charset="0"/>
                        </a:rPr>
                        <m:t>where</m:t>
                      </m:r>
                      <m:r>
                        <m:rPr>
                          <m:nor/>
                        </m:rPr>
                        <a:rPr lang="en-GB" sz="2400" b="0" i="0" smtClean="0">
                          <a:latin typeface="Consolas" panose="020B0609020204030204" pitchFamily="49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n-GB" sz="2400" b="0" i="0" smtClean="0">
                          <a:latin typeface="Consolas" panose="020B0609020204030204" pitchFamily="49" charset="0"/>
                        </a:rPr>
                        <m:t>String</m:t>
                      </m:r>
                      <m:r>
                        <m:rPr>
                          <m:nor/>
                        </m:rPr>
                        <a:rPr lang="en-GB" sz="2400" b="0" i="0" smtClean="0">
                          <a:latin typeface="Consolas" panose="020B0609020204030204" pitchFamily="49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GB" sz="2400" b="0" i="0" smtClean="0">
                          <a:latin typeface="Consolas" panose="020B0609020204030204" pitchFamily="49" charset="0"/>
                        </a:rPr>
                        <m:t>clause</m:t>
                      </m:r>
                      <m:r>
                        <m:rPr>
                          <m:nor/>
                        </m:rPr>
                        <a:rPr lang="en-GB" sz="2400" b="0" i="0" smtClean="0">
                          <a:latin typeface="Consolas" panose="020B0609020204030204" pitchFamily="49" charset="0"/>
                        </a:rPr>
                        <m:t>)</m:t>
                      </m:r>
                    </m:oMath>
                  </m:oMathPara>
                </a14:m>
                <a:endParaRPr lang="en-GB" b="0"/>
              </a:p>
              <a:p>
                <a:pPr marL="0" indent="0">
                  <a:buNone/>
                </a:pPr>
                <a:endParaRPr lang="en-US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A3B6186-E59B-6E80-77B0-34E11EB75ED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277815" y="2826177"/>
                <a:ext cx="6512169" cy="1937483"/>
              </a:xfrm>
              <a:blipFill>
                <a:blip r:embed="rId2"/>
                <a:stretch>
                  <a:fillRect l="-749" b="-9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5E16D5-AB9D-7049-355B-409B9C122C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890E68-D690-4AC2-96FA-C0B5F80968DC}" type="slidenum">
              <a:rPr lang="en-US" smtClean="0"/>
              <a:t>6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273EAE5-A45C-46BA-4FA5-94366390C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GB"/>
              <a:t>Related Work</a:t>
            </a:r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574E8FE-08B5-5D13-90B7-75CA8A2D8312}"/>
              </a:ext>
            </a:extLst>
          </p:cNvPr>
          <p:cNvSpPr txBox="1"/>
          <p:nvPr/>
        </p:nvSpPr>
        <p:spPr>
          <a:xfrm>
            <a:off x="4533899" y="939114"/>
            <a:ext cx="6871112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600"/>
              <a:t>[EriLex, H. Xu, 2010][Fling, Gil &amp; Roth, 2019][...]</a:t>
            </a:r>
            <a:endParaRPr lang="en-US" sz="2600"/>
          </a:p>
        </p:txBody>
      </p:sp>
    </p:spTree>
    <p:extLst>
      <p:ext uri="{BB962C8B-B14F-4D97-AF65-F5344CB8AC3E}">
        <p14:creationId xmlns:p14="http://schemas.microsoft.com/office/powerpoint/2010/main" val="17419314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EB75E2-56D3-8D7B-9596-992FB45674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Limitations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581B4A-2E86-46E9-9381-F2B7EA9812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sz="3500"/>
              <a:t>Only ensures partial syntactic correctness</a:t>
            </a:r>
          </a:p>
          <a:p>
            <a:r>
              <a:rPr lang="en-GB" sz="3500"/>
              <a:t>Verbose error messages</a:t>
            </a:r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B262BE-2F04-E39F-BDB0-79EB9B7060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890E68-D690-4AC2-96FA-C0B5F80968DC}" type="slidenum">
              <a:rPr lang="en-US" smtClean="0"/>
              <a:t>7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F8EEA63-6EF5-0817-9B16-CF01C11D4FD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GB"/>
              <a:t>Related Work</a:t>
            </a:r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020E559-ACEB-1B69-FEC2-FE6886B70E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309" y="2332939"/>
            <a:ext cx="5298903" cy="4131348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19179D61-B7ED-DEB4-808C-3CB3E1C8279C}"/>
              </a:ext>
            </a:extLst>
          </p:cNvPr>
          <p:cNvGrpSpPr/>
          <p:nvPr/>
        </p:nvGrpSpPr>
        <p:grpSpPr>
          <a:xfrm>
            <a:off x="0" y="4868597"/>
            <a:ext cx="5826371" cy="1338596"/>
            <a:chOff x="0" y="4868597"/>
            <a:chExt cx="5826371" cy="1338596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EC47882F-4EA4-1702-2532-BCB7C2E480C8}"/>
                </a:ext>
              </a:extLst>
            </p:cNvPr>
            <p:cNvSpPr txBox="1"/>
            <p:nvPr/>
          </p:nvSpPr>
          <p:spPr>
            <a:xfrm>
              <a:off x="838200" y="4868597"/>
              <a:ext cx="498817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>
                  <a:latin typeface="Consolas" panose="020B0609020204030204" pitchFamily="49" charset="0"/>
                </a:rPr>
                <a:t>SQL.select(</a:t>
              </a:r>
              <a:r>
                <a:rPr lang="en-GB">
                  <a:solidFill>
                    <a:srgbClr val="129204"/>
                  </a:solidFill>
                  <a:latin typeface="Consolas" panose="020B0609020204030204" pitchFamily="49" charset="0"/>
                </a:rPr>
                <a:t>"</a:t>
              </a:r>
              <a:r>
                <a:rPr lang="en-GB" u="wavyHeavy">
                  <a:solidFill>
                    <a:srgbClr val="129204"/>
                  </a:solidFill>
                  <a:uFill>
                    <a:solidFill>
                      <a:srgbClr val="FF0000"/>
                    </a:solidFill>
                  </a:uFill>
                  <a:latin typeface="Consolas" panose="020B0609020204030204" pitchFamily="49" charset="0"/>
                </a:rPr>
                <a:t>1 + 6</a:t>
              </a:r>
              <a:r>
                <a:rPr lang="en-GB">
                  <a:solidFill>
                    <a:srgbClr val="129204"/>
                  </a:solidFill>
                  <a:latin typeface="Consolas" panose="020B0609020204030204" pitchFamily="49" charset="0"/>
                </a:rPr>
                <a:t>"</a:t>
              </a:r>
              <a:r>
                <a:rPr lang="en-GB">
                  <a:latin typeface="Consolas" panose="020B0609020204030204" pitchFamily="49" charset="0"/>
                </a:rPr>
                <a:t>).from(</a:t>
              </a:r>
              <a:r>
                <a:rPr lang="en-GB">
                  <a:solidFill>
                    <a:srgbClr val="129204"/>
                  </a:solidFill>
                  <a:latin typeface="Consolas" panose="020B0609020204030204" pitchFamily="49" charset="0"/>
                </a:rPr>
                <a:t>"Students"</a:t>
              </a:r>
              <a:r>
                <a:rPr lang="en-GB">
                  <a:latin typeface="Consolas" panose="020B0609020204030204" pitchFamily="49" charset="0"/>
                </a:rPr>
                <a:t>)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B9554BA5-58BF-91FD-2B13-F9BE898DD9FD}"/>
                </a:ext>
              </a:extLst>
            </p:cNvPr>
            <p:cNvSpPr txBox="1"/>
            <p:nvPr/>
          </p:nvSpPr>
          <p:spPr>
            <a:xfrm>
              <a:off x="0" y="5622418"/>
              <a:ext cx="3203121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1600">
                  <a:solidFill>
                    <a:srgbClr val="0070C0"/>
                  </a:solidFill>
                  <a:latin typeface="Comic Sans MS" panose="030F0702030302020204" pitchFamily="66" charset="0"/>
                </a:rPr>
                <a:t>syntax error which cannot</a:t>
              </a:r>
            </a:p>
            <a:p>
              <a:pPr algn="ctr"/>
              <a:r>
                <a:rPr lang="en-GB" sz="1600">
                  <a:solidFill>
                    <a:srgbClr val="0070C0"/>
                  </a:solidFill>
                  <a:latin typeface="Comic Sans MS" panose="030F0702030302020204" pitchFamily="66" charset="0"/>
                </a:rPr>
                <a:t>be detected by safe fluent API</a:t>
              </a:r>
              <a:endParaRPr lang="en-US" sz="1600">
                <a:solidFill>
                  <a:srgbClr val="0070C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E7B2E246-406E-D9EA-24FC-704F864A8C9D}"/>
                </a:ext>
              </a:extLst>
            </p:cNvPr>
            <p:cNvSpPr/>
            <p:nvPr/>
          </p:nvSpPr>
          <p:spPr>
            <a:xfrm>
              <a:off x="2875085" y="5240215"/>
              <a:ext cx="513154" cy="562708"/>
            </a:xfrm>
            <a:custGeom>
              <a:avLst/>
              <a:gdLst>
                <a:gd name="csX0" fmla="*/ 307730 w 513154"/>
                <a:gd name="csY0" fmla="*/ 562708 h 562708"/>
                <a:gd name="csX1" fmla="*/ 501161 w 513154"/>
                <a:gd name="csY1" fmla="*/ 369277 h 562708"/>
                <a:gd name="csX2" fmla="*/ 0 w 513154"/>
                <a:gd name="csY2" fmla="*/ 0 h 56270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513154" h="562708">
                  <a:moveTo>
                    <a:pt x="307730" y="562708"/>
                  </a:moveTo>
                  <a:cubicBezTo>
                    <a:pt x="430089" y="512885"/>
                    <a:pt x="552449" y="463062"/>
                    <a:pt x="501161" y="369277"/>
                  </a:cubicBezTo>
                  <a:cubicBezTo>
                    <a:pt x="449873" y="275492"/>
                    <a:pt x="224936" y="137746"/>
                    <a:pt x="0" y="0"/>
                  </a:cubicBezTo>
                </a:path>
              </a:pathLst>
            </a:custGeom>
            <a:noFill/>
            <a:ln w="19050" cap="flat" cmpd="sng" algn="ctr">
              <a:solidFill>
                <a:srgbClr val="0070C0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E29260A7-BA98-0293-B73A-E06BBD4C1FC5}"/>
              </a:ext>
            </a:extLst>
          </p:cNvPr>
          <p:cNvSpPr/>
          <p:nvPr/>
        </p:nvSpPr>
        <p:spPr>
          <a:xfrm>
            <a:off x="5164946" y="3965331"/>
            <a:ext cx="963292" cy="334107"/>
          </a:xfrm>
          <a:custGeom>
            <a:avLst/>
            <a:gdLst>
              <a:gd name="csX0" fmla="*/ 66477 w 963292"/>
              <a:gd name="csY0" fmla="*/ 0 h 334107"/>
              <a:gd name="csX1" fmla="*/ 92854 w 963292"/>
              <a:gd name="csY1" fmla="*/ 219807 h 334107"/>
              <a:gd name="csX2" fmla="*/ 963292 w 963292"/>
              <a:gd name="csY2" fmla="*/ 334107 h 33410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963292" h="334107">
                <a:moveTo>
                  <a:pt x="66477" y="0"/>
                </a:moveTo>
                <a:cubicBezTo>
                  <a:pt x="4931" y="82061"/>
                  <a:pt x="-56615" y="164123"/>
                  <a:pt x="92854" y="219807"/>
                </a:cubicBezTo>
                <a:cubicBezTo>
                  <a:pt x="242323" y="275491"/>
                  <a:pt x="602807" y="304799"/>
                  <a:pt x="963292" y="334107"/>
                </a:cubicBezTo>
              </a:path>
            </a:pathLst>
          </a:custGeom>
          <a:noFill/>
          <a:ln w="19050" cap="flat" cmpd="sng" algn="ctr">
            <a:solidFill>
              <a:srgbClr val="0070C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D145E35-84D0-1A4C-A7E4-16E86105FA72}"/>
              </a:ext>
            </a:extLst>
          </p:cNvPr>
          <p:cNvSpPr txBox="1"/>
          <p:nvPr/>
        </p:nvSpPr>
        <p:spPr>
          <a:xfrm>
            <a:off x="3842531" y="3644218"/>
            <a:ext cx="241123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600">
                <a:solidFill>
                  <a:srgbClr val="0070C0"/>
                </a:solidFill>
                <a:latin typeface="Comic Sans MS" panose="030F0702030302020204" pitchFamily="66" charset="0"/>
              </a:rPr>
              <a:t>realistic error message</a:t>
            </a:r>
            <a:endParaRPr lang="en-US" sz="1600">
              <a:solidFill>
                <a:srgbClr val="0070C0"/>
              </a:solidFill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93441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F7121A-C9B4-0168-8699-D3E3440F08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Static Analysis via Backtranslation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E6DADA-3465-8E1F-274E-F9602F476D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890E68-D690-4AC2-96FA-C0B5F80968DC}" type="slidenum">
              <a:rPr lang="en-US" smtClean="0"/>
              <a:t>8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79F47F8-9B67-7025-0E7F-1726066FA26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GB"/>
              <a:t>Proposal</a:t>
            </a:r>
            <a:endParaRPr lang="en-US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F679EFE5-CCF4-84FC-0D34-F544014A6A67}"/>
              </a:ext>
            </a:extLst>
          </p:cNvPr>
          <p:cNvSpPr/>
          <p:nvPr/>
        </p:nvSpPr>
        <p:spPr>
          <a:xfrm>
            <a:off x="838200" y="2718352"/>
            <a:ext cx="2196547" cy="2136913"/>
          </a:xfrm>
          <a:prstGeom prst="roundRect">
            <a:avLst/>
          </a:prstGeom>
          <a:solidFill>
            <a:schemeClr val="tx2">
              <a:lumMod val="90000"/>
              <a:lumOff val="10000"/>
            </a:schemeClr>
          </a:solidFill>
          <a:ln w="19050" cap="flat" cmpd="sng" algn="ctr">
            <a:solidFill>
              <a:srgbClr val="0070C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000">
                <a:solidFill>
                  <a:schemeClr val="bg1"/>
                </a:solidFill>
              </a:rPr>
              <a:t>1. Find embedded language code</a:t>
            </a:r>
            <a:endParaRPr lang="en-US" sz="2000">
              <a:solidFill>
                <a:schemeClr val="bg1"/>
              </a:solidFill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A39E0D09-783A-7470-5667-F97512493934}"/>
              </a:ext>
            </a:extLst>
          </p:cNvPr>
          <p:cNvSpPr/>
          <p:nvPr/>
        </p:nvSpPr>
        <p:spPr>
          <a:xfrm>
            <a:off x="3700758" y="2718351"/>
            <a:ext cx="2196547" cy="2136913"/>
          </a:xfrm>
          <a:prstGeom prst="roundRect">
            <a:avLst/>
          </a:prstGeom>
          <a:solidFill>
            <a:schemeClr val="tx2">
              <a:lumMod val="90000"/>
              <a:lumOff val="10000"/>
            </a:schemeClr>
          </a:solidFill>
          <a:ln w="19050" cap="flat" cmpd="sng" algn="ctr">
            <a:solidFill>
              <a:srgbClr val="0070C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000">
                <a:solidFill>
                  <a:schemeClr val="bg1"/>
                </a:solidFill>
              </a:rPr>
              <a:t>2. Translate to original DSL</a:t>
            </a:r>
            <a:endParaRPr lang="en-US" sz="2000">
              <a:solidFill>
                <a:schemeClr val="bg1"/>
              </a:solidFill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940FB80E-C740-E550-0AB3-57935B63015C}"/>
              </a:ext>
            </a:extLst>
          </p:cNvPr>
          <p:cNvSpPr/>
          <p:nvPr/>
        </p:nvSpPr>
        <p:spPr>
          <a:xfrm>
            <a:off x="6563316" y="2718350"/>
            <a:ext cx="2196547" cy="2136913"/>
          </a:xfrm>
          <a:prstGeom prst="roundRect">
            <a:avLst/>
          </a:prstGeom>
          <a:solidFill>
            <a:schemeClr val="tx2">
              <a:lumMod val="90000"/>
              <a:lumOff val="10000"/>
            </a:schemeClr>
          </a:solidFill>
          <a:ln w="19050" cap="flat" cmpd="sng" algn="ctr">
            <a:solidFill>
              <a:srgbClr val="0070C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000">
                <a:solidFill>
                  <a:schemeClr val="bg1"/>
                </a:solidFill>
              </a:rPr>
              <a:t>3. Analyze w/ existing tools</a:t>
            </a:r>
            <a:endParaRPr lang="en-US" sz="2000">
              <a:solidFill>
                <a:schemeClr val="bg1"/>
              </a:solidFill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983B758A-0C0C-38C4-4F5D-66B3C9471C6B}"/>
              </a:ext>
            </a:extLst>
          </p:cNvPr>
          <p:cNvSpPr/>
          <p:nvPr/>
        </p:nvSpPr>
        <p:spPr>
          <a:xfrm>
            <a:off x="9425874" y="2718350"/>
            <a:ext cx="2196547" cy="2136913"/>
          </a:xfrm>
          <a:prstGeom prst="roundRect">
            <a:avLst/>
          </a:prstGeom>
          <a:solidFill>
            <a:schemeClr val="tx2">
              <a:lumMod val="90000"/>
              <a:lumOff val="10000"/>
            </a:schemeClr>
          </a:solidFill>
          <a:ln w="19050" cap="flat" cmpd="sng" algn="ctr">
            <a:solidFill>
              <a:srgbClr val="0070C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000">
                <a:solidFill>
                  <a:schemeClr val="bg1"/>
                </a:solidFill>
              </a:rPr>
              <a:t>4. Project results onto input</a:t>
            </a:r>
            <a:endParaRPr lang="en-US" sz="20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7294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359CBB-0F3F-4EF7-B1E2-103E9B578A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1. Find EDSL Code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0AE98C-70BF-EE07-C032-DE48A606BD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890E68-D690-4AC2-96FA-C0B5F80968DC}" type="slidenum">
              <a:rPr lang="en-US" smtClean="0"/>
              <a:t>9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529068E-6EEA-2B22-BFD2-012C57203E7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GB"/>
              <a:t>Proposal</a:t>
            </a: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69B5C00-B383-ABAC-35DF-011C3FDDE325}"/>
              </a:ext>
            </a:extLst>
          </p:cNvPr>
          <p:cNvSpPr/>
          <p:nvPr/>
        </p:nvSpPr>
        <p:spPr>
          <a:xfrm>
            <a:off x="838200" y="2148651"/>
            <a:ext cx="5671930" cy="3059454"/>
          </a:xfrm>
          <a:prstGeom prst="rect">
            <a:avLst/>
          </a:prstGeom>
          <a:solidFill>
            <a:schemeClr val="bg1"/>
          </a:solidFill>
          <a:ln w="3810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>
                <a:solidFill>
                  <a:srgbClr val="CB0756"/>
                </a:solidFill>
                <a:latin typeface="Consolas" panose="020B0609020204030204" pitchFamily="49" charset="0"/>
              </a:rPr>
              <a:t>class</a:t>
            </a:r>
            <a:r>
              <a:rPr lang="en-US">
                <a:solidFill>
                  <a:schemeClr val="tx1"/>
                </a:solidFill>
                <a:latin typeface="Consolas" panose="020B0609020204030204" pitchFamily="49" charset="0"/>
              </a:rPr>
              <a:t> Bar {</a:t>
            </a:r>
          </a:p>
          <a:p>
            <a:r>
              <a:rPr lang="en-US">
                <a:solidFill>
                  <a:schemeClr val="tx1"/>
                </a:solidFill>
                <a:latin typeface="Consolas" panose="020B0609020204030204" pitchFamily="49" charset="0"/>
              </a:rPr>
              <a:t>  ...</a:t>
            </a:r>
          </a:p>
          <a:p>
            <a:r>
              <a:rPr lang="en-US">
                <a:solidFill>
                  <a:schemeClr val="tx1"/>
                </a:solidFill>
                <a:latin typeface="Consolas" panose="020B0609020204030204" pitchFamily="49" charset="0"/>
              </a:rPr>
              <a:t>  </a:t>
            </a:r>
            <a:r>
              <a:rPr lang="en-US">
                <a:solidFill>
                  <a:srgbClr val="CB0756"/>
                </a:solidFill>
                <a:latin typeface="Consolas" panose="020B0609020204030204" pitchFamily="49" charset="0"/>
              </a:rPr>
              <a:t>public</a:t>
            </a:r>
            <a:r>
              <a:rPr lang="en-US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>
                <a:solidFill>
                  <a:srgbClr val="CB0756"/>
                </a:solidFill>
                <a:latin typeface="Consolas" panose="020B0609020204030204" pitchFamily="49" charset="0"/>
              </a:rPr>
              <a:t>void</a:t>
            </a:r>
            <a:r>
              <a:rPr lang="en-US">
                <a:solidFill>
                  <a:schemeClr val="tx1"/>
                </a:solidFill>
                <a:latin typeface="Consolas" panose="020B0609020204030204" pitchFamily="49" charset="0"/>
              </a:rPr>
              <a:t> foo() {</a:t>
            </a:r>
          </a:p>
          <a:p>
            <a:r>
              <a:rPr lang="en-US">
                <a:solidFill>
                  <a:schemeClr val="tx1"/>
                </a:solidFill>
                <a:latin typeface="Consolas" panose="020B0609020204030204" pitchFamily="49" charset="0"/>
              </a:rPr>
              <a:t>    ...</a:t>
            </a:r>
          </a:p>
          <a:p>
            <a:r>
              <a:rPr lang="en-US">
                <a:solidFill>
                  <a:schemeClr val="tx1"/>
                </a:solidFill>
                <a:latin typeface="Consolas" panose="020B0609020204030204" pitchFamily="49" charset="0"/>
              </a:rPr>
              <a:t>    Query query = SQL.select(</a:t>
            </a:r>
            <a:r>
              <a:rPr lang="en-US">
                <a:solidFill>
                  <a:srgbClr val="129204"/>
                </a:solidFill>
                <a:latin typeface="Consolas" panose="020B0609020204030204" pitchFamily="49" charset="0"/>
              </a:rPr>
              <a:t>"name"</a:t>
            </a:r>
            <a:r>
              <a:rPr lang="en-US">
                <a:solidFill>
                  <a:schemeClr val="tx1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>
                <a:solidFill>
                  <a:schemeClr val="tx1"/>
                </a:solidFill>
                <a:latin typeface="Consolas" panose="020B0609020204030204" pitchFamily="49" charset="0"/>
              </a:rPr>
              <a:t>                     .from(</a:t>
            </a:r>
            <a:r>
              <a:rPr lang="en-US">
                <a:solidFill>
                  <a:srgbClr val="129204"/>
                </a:solidFill>
                <a:latin typeface="Consolas" panose="020B0609020204030204" pitchFamily="49" charset="0"/>
              </a:rPr>
              <a:t>"Students"</a:t>
            </a:r>
            <a:r>
              <a:rPr lang="en-US">
                <a:solidFill>
                  <a:schemeClr val="tx1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>
                <a:solidFill>
                  <a:schemeClr val="tx1"/>
                </a:solidFill>
                <a:latin typeface="Consolas" panose="020B0609020204030204" pitchFamily="49" charset="0"/>
              </a:rPr>
              <a:t>                     .where(</a:t>
            </a:r>
            <a:r>
              <a:rPr lang="en-US">
                <a:solidFill>
                  <a:srgbClr val="129204"/>
                </a:solidFill>
                <a:latin typeface="Consolas" panose="020B0609020204030204" pitchFamily="49" charset="0"/>
              </a:rPr>
              <a:t>"age == 18"</a:t>
            </a:r>
            <a:r>
              <a:rPr lang="en-US">
                <a:solidFill>
                  <a:schemeClr val="tx1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>
                <a:solidFill>
                  <a:schemeClr val="tx1"/>
                </a:solidFill>
                <a:latin typeface="Consolas" panose="020B0609020204030204" pitchFamily="49" charset="0"/>
              </a:rPr>
              <a:t>    ...</a:t>
            </a:r>
          </a:p>
          <a:p>
            <a:r>
              <a:rPr lang="en-US">
                <a:solidFill>
                  <a:schemeClr val="tx1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en-US">
                <a:solidFill>
                  <a:schemeClr val="tx1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DCABB08-79FD-5374-81A2-B0201AB4A0E4}"/>
              </a:ext>
            </a:extLst>
          </p:cNvPr>
          <p:cNvSpPr/>
          <p:nvPr/>
        </p:nvSpPr>
        <p:spPr>
          <a:xfrm>
            <a:off x="3140765" y="3220279"/>
            <a:ext cx="2832652" cy="1013791"/>
          </a:xfrm>
          <a:prstGeom prst="rect">
            <a:avLst/>
          </a:prstGeom>
          <a:ln w="38100" cap="flat" cmpd="sng" algn="ctr">
            <a:solidFill>
              <a:srgbClr val="FFFF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9765D000-AF14-B181-A609-2B6AEECC6842}"/>
              </a:ext>
            </a:extLst>
          </p:cNvPr>
          <p:cNvGrpSpPr/>
          <p:nvPr/>
        </p:nvGrpSpPr>
        <p:grpSpPr>
          <a:xfrm>
            <a:off x="6967633" y="2603683"/>
            <a:ext cx="4360820" cy="2416557"/>
            <a:chOff x="6967633" y="2603683"/>
            <a:chExt cx="4360820" cy="2416557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D4E46B6A-57A8-2CE0-CF67-0DF5653BDB8A}"/>
                </a:ext>
              </a:extLst>
            </p:cNvPr>
            <p:cNvGrpSpPr/>
            <p:nvPr/>
          </p:nvGrpSpPr>
          <p:grpSpPr>
            <a:xfrm>
              <a:off x="6967633" y="2603683"/>
              <a:ext cx="2660669" cy="2416557"/>
              <a:chOff x="1282450" y="3680886"/>
              <a:chExt cx="2660669" cy="2416557"/>
            </a:xfrm>
          </p:grpSpPr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DAC2651-C941-9480-4781-95B0CC60FBFA}"/>
                  </a:ext>
                </a:extLst>
              </p:cNvPr>
              <p:cNvSpPr txBox="1"/>
              <p:nvPr/>
            </p:nvSpPr>
            <p:spPr>
              <a:xfrm>
                <a:off x="2717755" y="3680886"/>
                <a:ext cx="855427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GB" sz="2000"/>
                  <a:t>Query</a:t>
                </a:r>
                <a:endParaRPr lang="en-US" sz="2000"/>
              </a:p>
            </p:txBody>
          </p:sp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821B26DA-F701-EC43-2CBD-AA1DA8286243}"/>
                  </a:ext>
                </a:extLst>
              </p:cNvPr>
              <p:cNvCxnSpPr>
                <a:cxnSpLocks/>
                <a:endCxn id="14" idx="0"/>
              </p:cNvCxnSpPr>
              <p:nvPr/>
            </p:nvCxnSpPr>
            <p:spPr>
              <a:xfrm flipH="1">
                <a:off x="1797976" y="4080996"/>
                <a:ext cx="996911" cy="585372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3578A638-AE3B-422A-C0CF-E866E5D8A640}"/>
                  </a:ext>
                </a:extLst>
              </p:cNvPr>
              <p:cNvCxnSpPr>
                <a:cxnSpLocks/>
                <a:stCxn id="11" idx="2"/>
                <a:endCxn id="15" idx="0"/>
              </p:cNvCxnSpPr>
              <p:nvPr/>
            </p:nvCxnSpPr>
            <p:spPr>
              <a:xfrm flipH="1">
                <a:off x="3145466" y="4080996"/>
                <a:ext cx="3" cy="571481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BC14254-F0F8-7B69-288D-645F137CA192}"/>
                  </a:ext>
                </a:extLst>
              </p:cNvPr>
              <p:cNvSpPr txBox="1"/>
              <p:nvPr/>
            </p:nvSpPr>
            <p:spPr>
              <a:xfrm>
                <a:off x="1282450" y="4666368"/>
                <a:ext cx="1031051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2000">
                    <a:latin typeface="Consolas" panose="020B0609020204030204" pitchFamily="49" charset="0"/>
                  </a:rPr>
                  <a:t>select</a:t>
                </a:r>
                <a:endParaRPr lang="en-US" sz="2000">
                  <a:latin typeface="Consolas" panose="020B0609020204030204" pitchFamily="49" charset="0"/>
                </a:endParaRP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D26256F1-0EF9-77BA-98E5-EA0B855BD97C}"/>
                  </a:ext>
                </a:extLst>
              </p:cNvPr>
              <p:cNvSpPr txBox="1"/>
              <p:nvPr/>
            </p:nvSpPr>
            <p:spPr>
              <a:xfrm>
                <a:off x="2771004" y="4652477"/>
                <a:ext cx="748923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2000">
                    <a:latin typeface="Consolas" panose="020B0609020204030204" pitchFamily="49" charset="0"/>
                  </a:rPr>
                  <a:t>from</a:t>
                </a:r>
                <a:endParaRPr lang="en-US" sz="2000">
                  <a:latin typeface="Consolas" panose="020B0609020204030204" pitchFamily="49" charset="0"/>
                </a:endParaRPr>
              </a:p>
            </p:txBody>
          </p:sp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48A5049F-4643-27F4-4319-8AD2CF3F4F5F}"/>
                  </a:ext>
                </a:extLst>
              </p:cNvPr>
              <p:cNvCxnSpPr>
                <a:cxnSpLocks/>
                <a:stCxn id="14" idx="2"/>
              </p:cNvCxnSpPr>
              <p:nvPr/>
            </p:nvCxnSpPr>
            <p:spPr>
              <a:xfrm flipH="1">
                <a:off x="1797975" y="5066478"/>
                <a:ext cx="1" cy="627412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F52C2777-1546-A8F1-7369-BD76F2F55F5F}"/>
                  </a:ext>
                </a:extLst>
              </p:cNvPr>
              <p:cNvCxnSpPr>
                <a:cxnSpLocks/>
                <a:stCxn id="15" idx="2"/>
                <a:endCxn id="19" idx="0"/>
              </p:cNvCxnSpPr>
              <p:nvPr/>
            </p:nvCxnSpPr>
            <p:spPr>
              <a:xfrm flipH="1">
                <a:off x="3145465" y="5052587"/>
                <a:ext cx="1" cy="644746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E5211F73-993E-11F8-EF47-D568C0757F9F}"/>
                  </a:ext>
                </a:extLst>
              </p:cNvPr>
              <p:cNvSpPr txBox="1"/>
              <p:nvPr/>
            </p:nvSpPr>
            <p:spPr>
              <a:xfrm>
                <a:off x="1326969" y="5689939"/>
                <a:ext cx="1031052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GB" sz="2000">
                    <a:solidFill>
                      <a:srgbClr val="129204"/>
                    </a:solidFill>
                    <a:latin typeface="Consolas" panose="020B0609020204030204" pitchFamily="49" charset="0"/>
                  </a:rPr>
                  <a:t>"name"</a:t>
                </a:r>
                <a:endParaRPr lang="en-US" sz="2000">
                  <a:solidFill>
                    <a:srgbClr val="129204"/>
                  </a:solidFill>
                  <a:latin typeface="Consolas" panose="020B0609020204030204" pitchFamily="49" charset="0"/>
                </a:endParaRPr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287F0E34-F440-96D3-A15A-5C6F2AE6E0BE}"/>
                  </a:ext>
                </a:extLst>
              </p:cNvPr>
              <p:cNvSpPr txBox="1"/>
              <p:nvPr/>
            </p:nvSpPr>
            <p:spPr>
              <a:xfrm>
                <a:off x="2347810" y="5697333"/>
                <a:ext cx="1595309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GB" sz="2000">
                    <a:solidFill>
                      <a:srgbClr val="129204"/>
                    </a:solidFill>
                    <a:latin typeface="Consolas" panose="020B0609020204030204" pitchFamily="49" charset="0"/>
                  </a:rPr>
                  <a:t>"Students"</a:t>
                </a:r>
                <a:endParaRPr lang="en-US" sz="2000">
                  <a:solidFill>
                    <a:srgbClr val="129204"/>
                  </a:solidFill>
                  <a:latin typeface="Consolas" panose="020B0609020204030204" pitchFamily="49" charset="0"/>
                </a:endParaRPr>
              </a:p>
            </p:txBody>
          </p:sp>
        </p:grp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E0D59AD4-B276-3931-25F9-583366D75A34}"/>
                </a:ext>
              </a:extLst>
            </p:cNvPr>
            <p:cNvSpPr txBox="1"/>
            <p:nvPr/>
          </p:nvSpPr>
          <p:spPr>
            <a:xfrm>
              <a:off x="9592079" y="4620130"/>
              <a:ext cx="173637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2000">
                  <a:solidFill>
                    <a:srgbClr val="129204"/>
                  </a:solidFill>
                  <a:latin typeface="Consolas" panose="020B0609020204030204" pitchFamily="49" charset="0"/>
                </a:rPr>
                <a:t>"age == 18"</a:t>
              </a:r>
              <a:endParaRPr lang="en-US" sz="2000">
                <a:solidFill>
                  <a:srgbClr val="129204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3C8E9F0E-FD90-F8E9-80E1-DF5EB9E4E63D}"/>
                </a:ext>
              </a:extLst>
            </p:cNvPr>
            <p:cNvSpPr txBox="1"/>
            <p:nvPr/>
          </p:nvSpPr>
          <p:spPr>
            <a:xfrm>
              <a:off x="10015272" y="3582400"/>
              <a:ext cx="88998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2000">
                  <a:latin typeface="Consolas" panose="020B0609020204030204" pitchFamily="49" charset="0"/>
                </a:rPr>
                <a:t>where</a:t>
              </a:r>
              <a:endParaRPr lang="en-US" sz="2000">
                <a:latin typeface="Consolas" panose="020B0609020204030204" pitchFamily="49" charset="0"/>
              </a:endParaRPr>
            </a:p>
          </p:txBody>
        </p: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D91A72EC-DDC6-1B48-A9C1-2FE463D94167}"/>
                </a:ext>
              </a:extLst>
            </p:cNvPr>
            <p:cNvCxnSpPr>
              <a:cxnSpLocks/>
              <a:endCxn id="34" idx="0"/>
            </p:cNvCxnSpPr>
            <p:nvPr/>
          </p:nvCxnSpPr>
          <p:spPr>
            <a:xfrm>
              <a:off x="9153815" y="2990745"/>
              <a:ext cx="1306451" cy="591655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B244F371-1417-416C-D1AB-6D4E4F9B1C2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460264" y="3967990"/>
              <a:ext cx="1" cy="644746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0" name="Arrow: Right 39">
            <a:extLst>
              <a:ext uri="{FF2B5EF4-FFF2-40B4-BE49-F238E27FC236}">
                <a16:creationId xmlns:a16="http://schemas.microsoft.com/office/drawing/2014/main" id="{7A83C853-B8C8-9A56-780D-265098CC6CDE}"/>
              </a:ext>
            </a:extLst>
          </p:cNvPr>
          <p:cNvSpPr/>
          <p:nvPr/>
        </p:nvSpPr>
        <p:spPr>
          <a:xfrm>
            <a:off x="6140024" y="3429000"/>
            <a:ext cx="800195" cy="538990"/>
          </a:xfrm>
          <a:prstGeom prst="rightArrow">
            <a:avLst/>
          </a:prstGeom>
          <a:ln>
            <a:headEnd type="none" w="med" len="med"/>
            <a:tailEnd type="arrow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52734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40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04EDF8-73B0-8568-6944-8657562B9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2. Backtranslation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2B778D-C52D-3E31-8728-F3F8916898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890E68-D690-4AC2-96FA-C0B5F80968DC}" type="slidenum">
              <a:rPr lang="en-US" smtClean="0"/>
              <a:t>10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9D55EBF-8263-EAF7-2D58-620423A2BAA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GB"/>
              <a:t>Proposal</a:t>
            </a:r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4CB7214E-5DE6-13AC-8BE0-D3F514D29685}"/>
              </a:ext>
            </a:extLst>
          </p:cNvPr>
          <p:cNvGrpSpPr/>
          <p:nvPr/>
        </p:nvGrpSpPr>
        <p:grpSpPr>
          <a:xfrm>
            <a:off x="1451415" y="2653379"/>
            <a:ext cx="4360820" cy="2416557"/>
            <a:chOff x="6967633" y="2603683"/>
            <a:chExt cx="4360820" cy="2416557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B3F6F419-3B5D-EAAB-2F11-3C5C8B19AFD6}"/>
                </a:ext>
              </a:extLst>
            </p:cNvPr>
            <p:cNvGrpSpPr/>
            <p:nvPr/>
          </p:nvGrpSpPr>
          <p:grpSpPr>
            <a:xfrm>
              <a:off x="6967633" y="2603683"/>
              <a:ext cx="2660669" cy="2416557"/>
              <a:chOff x="1282450" y="3680886"/>
              <a:chExt cx="2660669" cy="2416557"/>
            </a:xfrm>
          </p:grpSpPr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3B9EDCA-B93E-4CF8-4247-0B7322B88BA6}"/>
                  </a:ext>
                </a:extLst>
              </p:cNvPr>
              <p:cNvSpPr txBox="1"/>
              <p:nvPr/>
            </p:nvSpPr>
            <p:spPr>
              <a:xfrm>
                <a:off x="2717755" y="3680886"/>
                <a:ext cx="855427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GB" sz="2000"/>
                  <a:t>Query</a:t>
                </a:r>
                <a:endParaRPr lang="en-US" sz="2000"/>
              </a:p>
            </p:txBody>
          </p:sp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0B5FDA1B-3FC5-49FC-4ADC-87A175D59223}"/>
                  </a:ext>
                </a:extLst>
              </p:cNvPr>
              <p:cNvCxnSpPr>
                <a:cxnSpLocks/>
                <a:endCxn id="15" idx="0"/>
              </p:cNvCxnSpPr>
              <p:nvPr/>
            </p:nvCxnSpPr>
            <p:spPr>
              <a:xfrm flipH="1">
                <a:off x="1797976" y="4080996"/>
                <a:ext cx="996911" cy="585372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471B34AB-912D-9655-B801-B9AAC6524DF5}"/>
                  </a:ext>
                </a:extLst>
              </p:cNvPr>
              <p:cNvCxnSpPr>
                <a:cxnSpLocks/>
                <a:stCxn id="12" idx="2"/>
                <a:endCxn id="16" idx="0"/>
              </p:cNvCxnSpPr>
              <p:nvPr/>
            </p:nvCxnSpPr>
            <p:spPr>
              <a:xfrm flipH="1">
                <a:off x="3145466" y="4080996"/>
                <a:ext cx="3" cy="571481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0C97597-AE35-6C96-6B51-BFF49A8820A9}"/>
                  </a:ext>
                </a:extLst>
              </p:cNvPr>
              <p:cNvSpPr txBox="1"/>
              <p:nvPr/>
            </p:nvSpPr>
            <p:spPr>
              <a:xfrm>
                <a:off x="1282450" y="4666368"/>
                <a:ext cx="1031051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2000">
                    <a:latin typeface="Consolas" panose="020B0609020204030204" pitchFamily="49" charset="0"/>
                  </a:rPr>
                  <a:t>select</a:t>
                </a:r>
                <a:endParaRPr lang="en-US" sz="2000">
                  <a:latin typeface="Consolas" panose="020B0609020204030204" pitchFamily="49" charset="0"/>
                </a:endParaRP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0602D16C-6170-CFEF-6B36-8F4181BB487E}"/>
                  </a:ext>
                </a:extLst>
              </p:cNvPr>
              <p:cNvSpPr txBox="1"/>
              <p:nvPr/>
            </p:nvSpPr>
            <p:spPr>
              <a:xfrm>
                <a:off x="2771004" y="4652477"/>
                <a:ext cx="748923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2000">
                    <a:latin typeface="Consolas" panose="020B0609020204030204" pitchFamily="49" charset="0"/>
                  </a:rPr>
                  <a:t>from</a:t>
                </a:r>
                <a:endParaRPr lang="en-US" sz="2000">
                  <a:latin typeface="Consolas" panose="020B0609020204030204" pitchFamily="49" charset="0"/>
                </a:endParaRPr>
              </a:p>
            </p:txBody>
          </p:sp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9D1FA65F-F0CB-F3D6-A05E-72F6C0EDD18D}"/>
                  </a:ext>
                </a:extLst>
              </p:cNvPr>
              <p:cNvCxnSpPr>
                <a:cxnSpLocks/>
                <a:stCxn id="15" idx="2"/>
              </p:cNvCxnSpPr>
              <p:nvPr/>
            </p:nvCxnSpPr>
            <p:spPr>
              <a:xfrm flipH="1">
                <a:off x="1797975" y="5066478"/>
                <a:ext cx="1" cy="627412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3798F598-FECD-879E-BC75-2156738EDA3A}"/>
                  </a:ext>
                </a:extLst>
              </p:cNvPr>
              <p:cNvCxnSpPr>
                <a:cxnSpLocks/>
                <a:stCxn id="16" idx="2"/>
                <a:endCxn id="20" idx="0"/>
              </p:cNvCxnSpPr>
              <p:nvPr/>
            </p:nvCxnSpPr>
            <p:spPr>
              <a:xfrm flipH="1">
                <a:off x="3145465" y="5052587"/>
                <a:ext cx="1" cy="644746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7D677AEA-ED96-6DEE-779A-2DD4AE2C99B1}"/>
                  </a:ext>
                </a:extLst>
              </p:cNvPr>
              <p:cNvSpPr txBox="1"/>
              <p:nvPr/>
            </p:nvSpPr>
            <p:spPr>
              <a:xfrm>
                <a:off x="1326969" y="5689939"/>
                <a:ext cx="1031052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GB" sz="2000">
                    <a:solidFill>
                      <a:srgbClr val="129204"/>
                    </a:solidFill>
                    <a:latin typeface="Consolas" panose="020B0609020204030204" pitchFamily="49" charset="0"/>
                  </a:rPr>
                  <a:t>"name"</a:t>
                </a:r>
                <a:endParaRPr lang="en-US" sz="2000">
                  <a:solidFill>
                    <a:srgbClr val="129204"/>
                  </a:solidFill>
                  <a:latin typeface="Consolas" panose="020B0609020204030204" pitchFamily="49" charset="0"/>
                </a:endParaRPr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476427CB-C438-ACA3-EE31-340F96B7A680}"/>
                  </a:ext>
                </a:extLst>
              </p:cNvPr>
              <p:cNvSpPr txBox="1"/>
              <p:nvPr/>
            </p:nvSpPr>
            <p:spPr>
              <a:xfrm>
                <a:off x="2347810" y="5697333"/>
                <a:ext cx="1595309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GB" sz="2000">
                    <a:solidFill>
                      <a:srgbClr val="129204"/>
                    </a:solidFill>
                    <a:latin typeface="Consolas" panose="020B0609020204030204" pitchFamily="49" charset="0"/>
                  </a:rPr>
                  <a:t>"Students"</a:t>
                </a:r>
                <a:endParaRPr lang="en-US" sz="2000">
                  <a:solidFill>
                    <a:srgbClr val="129204"/>
                  </a:solidFill>
                  <a:latin typeface="Consolas" panose="020B0609020204030204" pitchFamily="49" charset="0"/>
                </a:endParaRPr>
              </a:p>
            </p:txBody>
          </p:sp>
        </p:grp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BBC69D66-4B94-91B8-2AC6-DEDA733B1671}"/>
                </a:ext>
              </a:extLst>
            </p:cNvPr>
            <p:cNvSpPr txBox="1"/>
            <p:nvPr/>
          </p:nvSpPr>
          <p:spPr>
            <a:xfrm>
              <a:off x="9592079" y="4620130"/>
              <a:ext cx="173637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2000">
                  <a:solidFill>
                    <a:srgbClr val="129204"/>
                  </a:solidFill>
                  <a:latin typeface="Consolas" panose="020B0609020204030204" pitchFamily="49" charset="0"/>
                </a:rPr>
                <a:t>"age == 18"</a:t>
              </a:r>
              <a:endParaRPr lang="en-US" sz="2000">
                <a:solidFill>
                  <a:srgbClr val="129204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EAB4EA71-8DAB-60DA-6D1E-540E441C0F17}"/>
                </a:ext>
              </a:extLst>
            </p:cNvPr>
            <p:cNvSpPr txBox="1"/>
            <p:nvPr/>
          </p:nvSpPr>
          <p:spPr>
            <a:xfrm>
              <a:off x="10015272" y="3582400"/>
              <a:ext cx="88998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2000">
                  <a:latin typeface="Consolas" panose="020B0609020204030204" pitchFamily="49" charset="0"/>
                </a:rPr>
                <a:t>where</a:t>
              </a:r>
              <a:endParaRPr lang="en-US" sz="2000">
                <a:latin typeface="Consolas" panose="020B0609020204030204" pitchFamily="49" charset="0"/>
              </a:endParaRPr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69EA51C2-05D2-1ED1-2C4F-D384A15095E3}"/>
                </a:ext>
              </a:extLst>
            </p:cNvPr>
            <p:cNvCxnSpPr>
              <a:cxnSpLocks/>
              <a:endCxn id="9" idx="0"/>
            </p:cNvCxnSpPr>
            <p:nvPr/>
          </p:nvCxnSpPr>
          <p:spPr>
            <a:xfrm>
              <a:off x="9153815" y="2990745"/>
              <a:ext cx="1306451" cy="591655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50928315-9C82-0FC9-5C47-CC0C306B2E4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460264" y="3967990"/>
              <a:ext cx="1" cy="644746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8043576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DE8E13-FAD2-68E2-C2F1-5501E951D7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F91242-2A37-98A2-64DE-ACD3D29395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2. Backtranslation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C56942-5212-76F6-600F-559F68BB73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890E68-D690-4AC2-96FA-C0B5F80968DC}" type="slidenum">
              <a:rPr lang="en-US" smtClean="0"/>
              <a:t>11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885802C-DD9E-A882-2868-B4F85A5E376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GB"/>
              <a:t>Proposal</a:t>
            </a:r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0936DB8C-8DC8-6B59-045D-3EDAE9477495}"/>
              </a:ext>
            </a:extLst>
          </p:cNvPr>
          <p:cNvGrpSpPr/>
          <p:nvPr/>
        </p:nvGrpSpPr>
        <p:grpSpPr>
          <a:xfrm>
            <a:off x="1451415" y="2653379"/>
            <a:ext cx="4360820" cy="2416557"/>
            <a:chOff x="6967633" y="2603683"/>
            <a:chExt cx="4360820" cy="2416557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91584DD4-0BF8-85DF-1A1F-3B139E1D276E}"/>
                </a:ext>
              </a:extLst>
            </p:cNvPr>
            <p:cNvGrpSpPr/>
            <p:nvPr/>
          </p:nvGrpSpPr>
          <p:grpSpPr>
            <a:xfrm>
              <a:off x="6967633" y="2603683"/>
              <a:ext cx="2660669" cy="2416557"/>
              <a:chOff x="1282450" y="3680886"/>
              <a:chExt cx="2660669" cy="2416557"/>
            </a:xfrm>
          </p:grpSpPr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7E407AC-59E6-2B99-5179-35D1819BC549}"/>
                  </a:ext>
                </a:extLst>
              </p:cNvPr>
              <p:cNvSpPr txBox="1"/>
              <p:nvPr/>
            </p:nvSpPr>
            <p:spPr>
              <a:xfrm>
                <a:off x="2717755" y="3680886"/>
                <a:ext cx="855427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GB" sz="2000"/>
                  <a:t>Query</a:t>
                </a:r>
                <a:endParaRPr lang="en-US" sz="2000"/>
              </a:p>
            </p:txBody>
          </p:sp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1322080A-D7D9-B5C4-AFAB-52DF890A42C1}"/>
                  </a:ext>
                </a:extLst>
              </p:cNvPr>
              <p:cNvCxnSpPr>
                <a:cxnSpLocks/>
                <a:endCxn id="15" idx="0"/>
              </p:cNvCxnSpPr>
              <p:nvPr/>
            </p:nvCxnSpPr>
            <p:spPr>
              <a:xfrm flipH="1">
                <a:off x="1797976" y="4080996"/>
                <a:ext cx="996911" cy="585372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443FC35D-9F19-DA02-6BFA-718C0E708083}"/>
                  </a:ext>
                </a:extLst>
              </p:cNvPr>
              <p:cNvCxnSpPr>
                <a:cxnSpLocks/>
                <a:stCxn id="12" idx="2"/>
                <a:endCxn id="16" idx="0"/>
              </p:cNvCxnSpPr>
              <p:nvPr/>
            </p:nvCxnSpPr>
            <p:spPr>
              <a:xfrm flipH="1">
                <a:off x="3145466" y="4080996"/>
                <a:ext cx="3" cy="571481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6343E4FF-8DA6-09EE-6DDC-EF53AD6C8B5E}"/>
                  </a:ext>
                </a:extLst>
              </p:cNvPr>
              <p:cNvSpPr txBox="1"/>
              <p:nvPr/>
            </p:nvSpPr>
            <p:spPr>
              <a:xfrm>
                <a:off x="1282450" y="4666368"/>
                <a:ext cx="1031051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2000">
                    <a:latin typeface="Consolas" panose="020B0609020204030204" pitchFamily="49" charset="0"/>
                  </a:rPr>
                  <a:t>select</a:t>
                </a:r>
                <a:endParaRPr lang="en-US" sz="2000">
                  <a:latin typeface="Consolas" panose="020B0609020204030204" pitchFamily="49" charset="0"/>
                </a:endParaRP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1E2132AB-522A-CC33-CE82-8164BD4ED5BA}"/>
                  </a:ext>
                </a:extLst>
              </p:cNvPr>
              <p:cNvSpPr txBox="1"/>
              <p:nvPr/>
            </p:nvSpPr>
            <p:spPr>
              <a:xfrm>
                <a:off x="2771004" y="4652477"/>
                <a:ext cx="748923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2000">
                    <a:latin typeface="Consolas" panose="020B0609020204030204" pitchFamily="49" charset="0"/>
                  </a:rPr>
                  <a:t>from</a:t>
                </a:r>
                <a:endParaRPr lang="en-US" sz="2000">
                  <a:latin typeface="Consolas" panose="020B0609020204030204" pitchFamily="49" charset="0"/>
                </a:endParaRPr>
              </a:p>
            </p:txBody>
          </p:sp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3E3FCF09-874A-B4D1-F326-BC0E06342A68}"/>
                  </a:ext>
                </a:extLst>
              </p:cNvPr>
              <p:cNvCxnSpPr>
                <a:cxnSpLocks/>
                <a:stCxn id="15" idx="2"/>
              </p:cNvCxnSpPr>
              <p:nvPr/>
            </p:nvCxnSpPr>
            <p:spPr>
              <a:xfrm flipH="1">
                <a:off x="1797975" y="5066478"/>
                <a:ext cx="1" cy="627412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55F6324A-5F06-AA28-BA57-96ACFD198882}"/>
                  </a:ext>
                </a:extLst>
              </p:cNvPr>
              <p:cNvCxnSpPr>
                <a:cxnSpLocks/>
                <a:stCxn id="16" idx="2"/>
                <a:endCxn id="20" idx="0"/>
              </p:cNvCxnSpPr>
              <p:nvPr/>
            </p:nvCxnSpPr>
            <p:spPr>
              <a:xfrm flipH="1">
                <a:off x="3145465" y="5052587"/>
                <a:ext cx="1" cy="644746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C2405D37-B729-02E2-C949-369542B4C5A5}"/>
                  </a:ext>
                </a:extLst>
              </p:cNvPr>
              <p:cNvSpPr txBox="1"/>
              <p:nvPr/>
            </p:nvSpPr>
            <p:spPr>
              <a:xfrm>
                <a:off x="1326969" y="5689939"/>
                <a:ext cx="1031052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GB" sz="2000">
                    <a:solidFill>
                      <a:srgbClr val="129204"/>
                    </a:solidFill>
                    <a:latin typeface="Consolas" panose="020B0609020204030204" pitchFamily="49" charset="0"/>
                  </a:rPr>
                  <a:t>"name"</a:t>
                </a:r>
                <a:endParaRPr lang="en-US" sz="2000">
                  <a:solidFill>
                    <a:srgbClr val="129204"/>
                  </a:solidFill>
                  <a:latin typeface="Consolas" panose="020B0609020204030204" pitchFamily="49" charset="0"/>
                </a:endParaRPr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00BC289D-04B0-2C25-7C42-8575AE9D82A8}"/>
                  </a:ext>
                </a:extLst>
              </p:cNvPr>
              <p:cNvSpPr txBox="1"/>
              <p:nvPr/>
            </p:nvSpPr>
            <p:spPr>
              <a:xfrm>
                <a:off x="2347810" y="5697333"/>
                <a:ext cx="1595309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GB" sz="2000">
                    <a:solidFill>
                      <a:srgbClr val="129204"/>
                    </a:solidFill>
                    <a:latin typeface="Consolas" panose="020B0609020204030204" pitchFamily="49" charset="0"/>
                  </a:rPr>
                  <a:t>"Students"</a:t>
                </a:r>
                <a:endParaRPr lang="en-US" sz="2000">
                  <a:solidFill>
                    <a:srgbClr val="129204"/>
                  </a:solidFill>
                  <a:latin typeface="Consolas" panose="020B0609020204030204" pitchFamily="49" charset="0"/>
                </a:endParaRPr>
              </a:p>
            </p:txBody>
          </p:sp>
        </p:grp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C0350789-ED34-6A9C-0AB1-CE86695B57C3}"/>
                </a:ext>
              </a:extLst>
            </p:cNvPr>
            <p:cNvSpPr txBox="1"/>
            <p:nvPr/>
          </p:nvSpPr>
          <p:spPr>
            <a:xfrm>
              <a:off x="9592079" y="4620130"/>
              <a:ext cx="173637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2000">
                  <a:solidFill>
                    <a:srgbClr val="129204"/>
                  </a:solidFill>
                  <a:latin typeface="Consolas" panose="020B0609020204030204" pitchFamily="49" charset="0"/>
                </a:rPr>
                <a:t>"age == 18"</a:t>
              </a:r>
              <a:endParaRPr lang="en-US" sz="2000">
                <a:solidFill>
                  <a:srgbClr val="129204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6B7D5033-EA26-1DD5-3EBA-A7BECACA644E}"/>
                </a:ext>
              </a:extLst>
            </p:cNvPr>
            <p:cNvSpPr txBox="1"/>
            <p:nvPr/>
          </p:nvSpPr>
          <p:spPr>
            <a:xfrm>
              <a:off x="10015272" y="3582400"/>
              <a:ext cx="88998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2000">
                  <a:latin typeface="Consolas" panose="020B0609020204030204" pitchFamily="49" charset="0"/>
                </a:rPr>
                <a:t>where</a:t>
              </a:r>
              <a:endParaRPr lang="en-US" sz="2000">
                <a:latin typeface="Consolas" panose="020B0609020204030204" pitchFamily="49" charset="0"/>
              </a:endParaRPr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58CAE09F-FF0C-2CFD-E6C4-3BC9033E7E75}"/>
                </a:ext>
              </a:extLst>
            </p:cNvPr>
            <p:cNvCxnSpPr>
              <a:cxnSpLocks/>
              <a:endCxn id="9" idx="0"/>
            </p:cNvCxnSpPr>
            <p:nvPr/>
          </p:nvCxnSpPr>
          <p:spPr>
            <a:xfrm>
              <a:off x="9153815" y="2990745"/>
              <a:ext cx="1306451" cy="591655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8BAAD849-6FD6-CC6B-DD9C-E925EB5F9F6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460264" y="3967990"/>
              <a:ext cx="1" cy="644746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2" name="Arrow: Right 21">
            <a:extLst>
              <a:ext uri="{FF2B5EF4-FFF2-40B4-BE49-F238E27FC236}">
                <a16:creationId xmlns:a16="http://schemas.microsoft.com/office/drawing/2014/main" id="{B7F9EBCF-6408-3940-0372-05D571A5E2F6}"/>
              </a:ext>
            </a:extLst>
          </p:cNvPr>
          <p:cNvSpPr/>
          <p:nvPr/>
        </p:nvSpPr>
        <p:spPr>
          <a:xfrm>
            <a:off x="5799105" y="3429000"/>
            <a:ext cx="800195" cy="538990"/>
          </a:xfrm>
          <a:prstGeom prst="rightArrow">
            <a:avLst/>
          </a:prstGeom>
          <a:ln>
            <a:headEnd type="none" w="med" len="med"/>
            <a:tailEnd type="arrow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E8BAEB0-EB74-FFEB-1B92-5D6F40F59247}"/>
              </a:ext>
            </a:extLst>
          </p:cNvPr>
          <p:cNvSpPr/>
          <p:nvPr/>
        </p:nvSpPr>
        <p:spPr>
          <a:xfrm>
            <a:off x="2963852" y="2653379"/>
            <a:ext cx="725037" cy="400110"/>
          </a:xfrm>
          <a:prstGeom prst="rect">
            <a:avLst/>
          </a:prstGeom>
          <a:ln w="38100" cap="flat" cmpd="sng" algn="ctr">
            <a:solidFill>
              <a:srgbClr val="FFFF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04525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E7E8E3-5971-C875-CA65-EBC99DB212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91E18C-03A5-E46C-C0F7-AFD3AF8EB0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2. Backtranslation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37A578-706C-42F5-907B-CD6BFC19FD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890E68-D690-4AC2-96FA-C0B5F80968DC}" type="slidenum">
              <a:rPr lang="en-US" smtClean="0"/>
              <a:t>12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E981272-DB6D-D3F5-31C7-782DC9FF1FD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GB"/>
              <a:t>Proposal</a:t>
            </a:r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136DF541-79D3-B6E5-5EB2-94018AF254C4}"/>
              </a:ext>
            </a:extLst>
          </p:cNvPr>
          <p:cNvGrpSpPr/>
          <p:nvPr/>
        </p:nvGrpSpPr>
        <p:grpSpPr>
          <a:xfrm>
            <a:off x="1451415" y="2653379"/>
            <a:ext cx="4360820" cy="2416557"/>
            <a:chOff x="6967633" y="2603683"/>
            <a:chExt cx="4360820" cy="2416557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1D64FFE1-45A7-3D20-0C66-5691646A8ADF}"/>
                </a:ext>
              </a:extLst>
            </p:cNvPr>
            <p:cNvGrpSpPr/>
            <p:nvPr/>
          </p:nvGrpSpPr>
          <p:grpSpPr>
            <a:xfrm>
              <a:off x="6967633" y="2603683"/>
              <a:ext cx="2660669" cy="2416557"/>
              <a:chOff x="1282450" y="3680886"/>
              <a:chExt cx="2660669" cy="2416557"/>
            </a:xfrm>
          </p:grpSpPr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A2E7AE2-8824-4D3F-10B0-E2D54516DA85}"/>
                  </a:ext>
                </a:extLst>
              </p:cNvPr>
              <p:cNvSpPr txBox="1"/>
              <p:nvPr/>
            </p:nvSpPr>
            <p:spPr>
              <a:xfrm>
                <a:off x="2717755" y="3680886"/>
                <a:ext cx="855427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GB" sz="2000"/>
                  <a:t>Query</a:t>
                </a:r>
                <a:endParaRPr lang="en-US" sz="2000"/>
              </a:p>
            </p:txBody>
          </p:sp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C11BB090-F347-1657-FEFB-6D083F278D28}"/>
                  </a:ext>
                </a:extLst>
              </p:cNvPr>
              <p:cNvCxnSpPr>
                <a:cxnSpLocks/>
                <a:endCxn id="15" idx="0"/>
              </p:cNvCxnSpPr>
              <p:nvPr/>
            </p:nvCxnSpPr>
            <p:spPr>
              <a:xfrm flipH="1">
                <a:off x="1797976" y="4080996"/>
                <a:ext cx="996911" cy="585372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383D6DD8-F9FE-7360-541B-0445EB4F4F49}"/>
                  </a:ext>
                </a:extLst>
              </p:cNvPr>
              <p:cNvCxnSpPr>
                <a:cxnSpLocks/>
                <a:stCxn id="12" idx="2"/>
                <a:endCxn id="16" idx="0"/>
              </p:cNvCxnSpPr>
              <p:nvPr/>
            </p:nvCxnSpPr>
            <p:spPr>
              <a:xfrm flipH="1">
                <a:off x="3145466" y="4080996"/>
                <a:ext cx="3" cy="571481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72CD55C4-AA51-DC5F-BF6F-D27E3605E38B}"/>
                  </a:ext>
                </a:extLst>
              </p:cNvPr>
              <p:cNvSpPr txBox="1"/>
              <p:nvPr/>
            </p:nvSpPr>
            <p:spPr>
              <a:xfrm>
                <a:off x="1282450" y="4666368"/>
                <a:ext cx="1031051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2000">
                    <a:latin typeface="Consolas" panose="020B0609020204030204" pitchFamily="49" charset="0"/>
                  </a:rPr>
                  <a:t>select</a:t>
                </a:r>
                <a:endParaRPr lang="en-US" sz="2000">
                  <a:latin typeface="Consolas" panose="020B0609020204030204" pitchFamily="49" charset="0"/>
                </a:endParaRP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2D72595-EC8C-288A-BA8C-A040DADB0334}"/>
                  </a:ext>
                </a:extLst>
              </p:cNvPr>
              <p:cNvSpPr txBox="1"/>
              <p:nvPr/>
            </p:nvSpPr>
            <p:spPr>
              <a:xfrm>
                <a:off x="2771004" y="4652477"/>
                <a:ext cx="748923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2000">
                    <a:latin typeface="Consolas" panose="020B0609020204030204" pitchFamily="49" charset="0"/>
                  </a:rPr>
                  <a:t>from</a:t>
                </a:r>
                <a:endParaRPr lang="en-US" sz="2000">
                  <a:latin typeface="Consolas" panose="020B0609020204030204" pitchFamily="49" charset="0"/>
                </a:endParaRPr>
              </a:p>
            </p:txBody>
          </p:sp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83FAC0DA-AF8F-5EE8-B833-A96B1C2E26A3}"/>
                  </a:ext>
                </a:extLst>
              </p:cNvPr>
              <p:cNvCxnSpPr>
                <a:cxnSpLocks/>
                <a:stCxn id="15" idx="2"/>
              </p:cNvCxnSpPr>
              <p:nvPr/>
            </p:nvCxnSpPr>
            <p:spPr>
              <a:xfrm flipH="1">
                <a:off x="1797975" y="5066478"/>
                <a:ext cx="1" cy="627412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4A92E166-04EC-9BDE-DBB4-01598D8DE9E5}"/>
                  </a:ext>
                </a:extLst>
              </p:cNvPr>
              <p:cNvCxnSpPr>
                <a:cxnSpLocks/>
                <a:stCxn id="16" idx="2"/>
                <a:endCxn id="20" idx="0"/>
              </p:cNvCxnSpPr>
              <p:nvPr/>
            </p:nvCxnSpPr>
            <p:spPr>
              <a:xfrm flipH="1">
                <a:off x="3145465" y="5052587"/>
                <a:ext cx="1" cy="644746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F9A2E0FB-1A57-4722-3700-EC095BF209FE}"/>
                  </a:ext>
                </a:extLst>
              </p:cNvPr>
              <p:cNvSpPr txBox="1"/>
              <p:nvPr/>
            </p:nvSpPr>
            <p:spPr>
              <a:xfrm>
                <a:off x="1326969" y="5689939"/>
                <a:ext cx="1031052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GB" sz="2000">
                    <a:solidFill>
                      <a:srgbClr val="129204"/>
                    </a:solidFill>
                    <a:latin typeface="Consolas" panose="020B0609020204030204" pitchFamily="49" charset="0"/>
                  </a:rPr>
                  <a:t>"name"</a:t>
                </a:r>
                <a:endParaRPr lang="en-US" sz="2000">
                  <a:solidFill>
                    <a:srgbClr val="129204"/>
                  </a:solidFill>
                  <a:latin typeface="Consolas" panose="020B0609020204030204" pitchFamily="49" charset="0"/>
                </a:endParaRPr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475A045F-00E4-2432-30F2-8CF230CED2F4}"/>
                  </a:ext>
                </a:extLst>
              </p:cNvPr>
              <p:cNvSpPr txBox="1"/>
              <p:nvPr/>
            </p:nvSpPr>
            <p:spPr>
              <a:xfrm>
                <a:off x="2347810" y="5697333"/>
                <a:ext cx="1595309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GB" sz="2000">
                    <a:solidFill>
                      <a:srgbClr val="129204"/>
                    </a:solidFill>
                    <a:latin typeface="Consolas" panose="020B0609020204030204" pitchFamily="49" charset="0"/>
                  </a:rPr>
                  <a:t>"Students"</a:t>
                </a:r>
                <a:endParaRPr lang="en-US" sz="2000">
                  <a:solidFill>
                    <a:srgbClr val="129204"/>
                  </a:solidFill>
                  <a:latin typeface="Consolas" panose="020B0609020204030204" pitchFamily="49" charset="0"/>
                </a:endParaRPr>
              </a:p>
            </p:txBody>
          </p:sp>
        </p:grp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85CFD662-58BB-6469-BE87-5A7BD808B259}"/>
                </a:ext>
              </a:extLst>
            </p:cNvPr>
            <p:cNvSpPr txBox="1"/>
            <p:nvPr/>
          </p:nvSpPr>
          <p:spPr>
            <a:xfrm>
              <a:off x="9592079" y="4620130"/>
              <a:ext cx="173637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2000">
                  <a:solidFill>
                    <a:srgbClr val="129204"/>
                  </a:solidFill>
                  <a:latin typeface="Consolas" panose="020B0609020204030204" pitchFamily="49" charset="0"/>
                </a:rPr>
                <a:t>"age == 18"</a:t>
              </a:r>
              <a:endParaRPr lang="en-US" sz="2000">
                <a:solidFill>
                  <a:srgbClr val="129204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FAD32F92-D5BB-6DC2-71D1-3E0F09180EA3}"/>
                </a:ext>
              </a:extLst>
            </p:cNvPr>
            <p:cNvSpPr txBox="1"/>
            <p:nvPr/>
          </p:nvSpPr>
          <p:spPr>
            <a:xfrm>
              <a:off x="10015272" y="3582400"/>
              <a:ext cx="88998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2000">
                  <a:latin typeface="Consolas" panose="020B0609020204030204" pitchFamily="49" charset="0"/>
                </a:rPr>
                <a:t>where</a:t>
              </a:r>
              <a:endParaRPr lang="en-US" sz="2000">
                <a:latin typeface="Consolas" panose="020B0609020204030204" pitchFamily="49" charset="0"/>
              </a:endParaRPr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D3EEAA1F-B73F-1131-733A-59AC8D459D17}"/>
                </a:ext>
              </a:extLst>
            </p:cNvPr>
            <p:cNvCxnSpPr>
              <a:cxnSpLocks/>
              <a:endCxn id="9" idx="0"/>
            </p:cNvCxnSpPr>
            <p:nvPr/>
          </p:nvCxnSpPr>
          <p:spPr>
            <a:xfrm>
              <a:off x="9153815" y="2990745"/>
              <a:ext cx="1306451" cy="591655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9ECF1EB6-276D-0F55-3E9A-CE40407CC8D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460264" y="3967990"/>
              <a:ext cx="1" cy="644746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2" name="Arrow: Right 21">
            <a:extLst>
              <a:ext uri="{FF2B5EF4-FFF2-40B4-BE49-F238E27FC236}">
                <a16:creationId xmlns:a16="http://schemas.microsoft.com/office/drawing/2014/main" id="{588C498E-80EC-D82E-C904-13A45A11E1B5}"/>
              </a:ext>
            </a:extLst>
          </p:cNvPr>
          <p:cNvSpPr/>
          <p:nvPr/>
        </p:nvSpPr>
        <p:spPr>
          <a:xfrm>
            <a:off x="5799105" y="3429000"/>
            <a:ext cx="800195" cy="538990"/>
          </a:xfrm>
          <a:prstGeom prst="rightArrow">
            <a:avLst/>
          </a:prstGeom>
          <a:ln>
            <a:headEnd type="none" w="med" len="med"/>
            <a:tailEnd type="arrow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24B956C-B5A9-8149-D137-44114EF31898}"/>
              </a:ext>
            </a:extLst>
          </p:cNvPr>
          <p:cNvSpPr/>
          <p:nvPr/>
        </p:nvSpPr>
        <p:spPr>
          <a:xfrm>
            <a:off x="1489892" y="3638861"/>
            <a:ext cx="992573" cy="400110"/>
          </a:xfrm>
          <a:prstGeom prst="rect">
            <a:avLst/>
          </a:prstGeom>
          <a:ln w="38100" cap="flat" cmpd="sng" algn="ctr">
            <a:solidFill>
              <a:srgbClr val="FFFF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AA5EAFD-6EE4-3013-8E21-000EFA573BE0}"/>
              </a:ext>
            </a:extLst>
          </p:cNvPr>
          <p:cNvSpPr txBox="1"/>
          <p:nvPr/>
        </p:nvSpPr>
        <p:spPr>
          <a:xfrm>
            <a:off x="7335309" y="3151602"/>
            <a:ext cx="4260041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500">
                <a:latin typeface="Consolas" panose="020B0609020204030204" pitchFamily="49" charset="0"/>
              </a:rPr>
              <a:t>SELECT</a:t>
            </a:r>
          </a:p>
        </p:txBody>
      </p:sp>
    </p:spTree>
    <p:extLst>
      <p:ext uri="{BB962C8B-B14F-4D97-AF65-F5344CB8AC3E}">
        <p14:creationId xmlns:p14="http://schemas.microsoft.com/office/powerpoint/2010/main" val="8006801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A5F674-FB5F-C825-142A-E15CB9ED9C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DC6874-C0E1-27D3-A107-E701F62E9C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2. Backtranslation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98BA2D-2B10-0D4A-92A8-8D098B1C26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890E68-D690-4AC2-96FA-C0B5F80968DC}" type="slidenum">
              <a:rPr lang="en-US" smtClean="0"/>
              <a:t>13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17B7562-C294-DFAB-7A81-9495DF508A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GB"/>
              <a:t>Proposal</a:t>
            </a:r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5C9DDDF6-C8AC-5EEE-DB1E-2FEEF52E2847}"/>
              </a:ext>
            </a:extLst>
          </p:cNvPr>
          <p:cNvGrpSpPr/>
          <p:nvPr/>
        </p:nvGrpSpPr>
        <p:grpSpPr>
          <a:xfrm>
            <a:off x="1451415" y="2653379"/>
            <a:ext cx="4360820" cy="2416557"/>
            <a:chOff x="6967633" y="2603683"/>
            <a:chExt cx="4360820" cy="2416557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B88F516F-5434-4BD5-08D1-98D64590B02A}"/>
                </a:ext>
              </a:extLst>
            </p:cNvPr>
            <p:cNvGrpSpPr/>
            <p:nvPr/>
          </p:nvGrpSpPr>
          <p:grpSpPr>
            <a:xfrm>
              <a:off x="6967633" y="2603683"/>
              <a:ext cx="2660669" cy="2416557"/>
              <a:chOff x="1282450" y="3680886"/>
              <a:chExt cx="2660669" cy="2416557"/>
            </a:xfrm>
          </p:grpSpPr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67CE9BB-F5AC-E26B-4614-945CBEC04714}"/>
                  </a:ext>
                </a:extLst>
              </p:cNvPr>
              <p:cNvSpPr txBox="1"/>
              <p:nvPr/>
            </p:nvSpPr>
            <p:spPr>
              <a:xfrm>
                <a:off x="2717755" y="3680886"/>
                <a:ext cx="855427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GB" sz="2000"/>
                  <a:t>Query</a:t>
                </a:r>
                <a:endParaRPr lang="en-US" sz="2000"/>
              </a:p>
            </p:txBody>
          </p:sp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97433166-0613-895F-4B3A-FCF704962AF0}"/>
                  </a:ext>
                </a:extLst>
              </p:cNvPr>
              <p:cNvCxnSpPr>
                <a:cxnSpLocks/>
                <a:endCxn id="15" idx="0"/>
              </p:cNvCxnSpPr>
              <p:nvPr/>
            </p:nvCxnSpPr>
            <p:spPr>
              <a:xfrm flipH="1">
                <a:off x="1797976" y="4080996"/>
                <a:ext cx="996911" cy="585372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F2E67D22-D0E6-4E42-47BA-C69DAC6D4598}"/>
                  </a:ext>
                </a:extLst>
              </p:cNvPr>
              <p:cNvCxnSpPr>
                <a:cxnSpLocks/>
                <a:stCxn id="12" idx="2"/>
                <a:endCxn id="16" idx="0"/>
              </p:cNvCxnSpPr>
              <p:nvPr/>
            </p:nvCxnSpPr>
            <p:spPr>
              <a:xfrm flipH="1">
                <a:off x="3145466" y="4080996"/>
                <a:ext cx="3" cy="571481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DE9A60F-0375-16E1-00D1-2E4EBEF40CCB}"/>
                  </a:ext>
                </a:extLst>
              </p:cNvPr>
              <p:cNvSpPr txBox="1"/>
              <p:nvPr/>
            </p:nvSpPr>
            <p:spPr>
              <a:xfrm>
                <a:off x="1282450" y="4666368"/>
                <a:ext cx="1031051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2000">
                    <a:latin typeface="Consolas" panose="020B0609020204030204" pitchFamily="49" charset="0"/>
                  </a:rPr>
                  <a:t>select</a:t>
                </a:r>
                <a:endParaRPr lang="en-US" sz="2000">
                  <a:latin typeface="Consolas" panose="020B0609020204030204" pitchFamily="49" charset="0"/>
                </a:endParaRP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98AC2ECC-E4E8-C3A4-8BA0-A6B7767C3D27}"/>
                  </a:ext>
                </a:extLst>
              </p:cNvPr>
              <p:cNvSpPr txBox="1"/>
              <p:nvPr/>
            </p:nvSpPr>
            <p:spPr>
              <a:xfrm>
                <a:off x="2771004" y="4652477"/>
                <a:ext cx="748923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2000">
                    <a:latin typeface="Consolas" panose="020B0609020204030204" pitchFamily="49" charset="0"/>
                  </a:rPr>
                  <a:t>from</a:t>
                </a:r>
                <a:endParaRPr lang="en-US" sz="2000">
                  <a:latin typeface="Consolas" panose="020B0609020204030204" pitchFamily="49" charset="0"/>
                </a:endParaRPr>
              </a:p>
            </p:txBody>
          </p:sp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F1B475C4-5C6F-385F-3397-C902BCB7661B}"/>
                  </a:ext>
                </a:extLst>
              </p:cNvPr>
              <p:cNvCxnSpPr>
                <a:cxnSpLocks/>
                <a:stCxn id="15" idx="2"/>
              </p:cNvCxnSpPr>
              <p:nvPr/>
            </p:nvCxnSpPr>
            <p:spPr>
              <a:xfrm flipH="1">
                <a:off x="1797975" y="5066478"/>
                <a:ext cx="1" cy="627412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95125A37-D3E8-B8F4-9F3C-2543C05B8623}"/>
                  </a:ext>
                </a:extLst>
              </p:cNvPr>
              <p:cNvCxnSpPr>
                <a:cxnSpLocks/>
                <a:stCxn id="16" idx="2"/>
                <a:endCxn id="20" idx="0"/>
              </p:cNvCxnSpPr>
              <p:nvPr/>
            </p:nvCxnSpPr>
            <p:spPr>
              <a:xfrm flipH="1">
                <a:off x="3145465" y="5052587"/>
                <a:ext cx="1" cy="644746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6078EF36-7784-20DC-A544-DD1E33DCAAD4}"/>
                  </a:ext>
                </a:extLst>
              </p:cNvPr>
              <p:cNvSpPr txBox="1"/>
              <p:nvPr/>
            </p:nvSpPr>
            <p:spPr>
              <a:xfrm>
                <a:off x="1326969" y="5689939"/>
                <a:ext cx="1031052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GB" sz="2000">
                    <a:solidFill>
                      <a:srgbClr val="129204"/>
                    </a:solidFill>
                    <a:latin typeface="Consolas" panose="020B0609020204030204" pitchFamily="49" charset="0"/>
                  </a:rPr>
                  <a:t>"name"</a:t>
                </a:r>
                <a:endParaRPr lang="en-US" sz="2000">
                  <a:solidFill>
                    <a:srgbClr val="129204"/>
                  </a:solidFill>
                  <a:latin typeface="Consolas" panose="020B0609020204030204" pitchFamily="49" charset="0"/>
                </a:endParaRPr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B77B8C12-C6AB-343B-1A61-6B20DED2FB59}"/>
                  </a:ext>
                </a:extLst>
              </p:cNvPr>
              <p:cNvSpPr txBox="1"/>
              <p:nvPr/>
            </p:nvSpPr>
            <p:spPr>
              <a:xfrm>
                <a:off x="2347810" y="5697333"/>
                <a:ext cx="1595309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GB" sz="2000">
                    <a:solidFill>
                      <a:srgbClr val="129204"/>
                    </a:solidFill>
                    <a:latin typeface="Consolas" panose="020B0609020204030204" pitchFamily="49" charset="0"/>
                  </a:rPr>
                  <a:t>"Students"</a:t>
                </a:r>
                <a:endParaRPr lang="en-US" sz="2000">
                  <a:solidFill>
                    <a:srgbClr val="129204"/>
                  </a:solidFill>
                  <a:latin typeface="Consolas" panose="020B0609020204030204" pitchFamily="49" charset="0"/>
                </a:endParaRPr>
              </a:p>
            </p:txBody>
          </p:sp>
        </p:grp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457854C2-84B9-7F4D-4A33-3AADDFDCA3EC}"/>
                </a:ext>
              </a:extLst>
            </p:cNvPr>
            <p:cNvSpPr txBox="1"/>
            <p:nvPr/>
          </p:nvSpPr>
          <p:spPr>
            <a:xfrm>
              <a:off x="9592079" y="4620130"/>
              <a:ext cx="173637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2000">
                  <a:solidFill>
                    <a:srgbClr val="129204"/>
                  </a:solidFill>
                  <a:latin typeface="Consolas" panose="020B0609020204030204" pitchFamily="49" charset="0"/>
                </a:rPr>
                <a:t>"age == 18"</a:t>
              </a:r>
              <a:endParaRPr lang="en-US" sz="2000">
                <a:solidFill>
                  <a:srgbClr val="129204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2C1896D2-8054-E8E7-D7D9-B61316CC4B3B}"/>
                </a:ext>
              </a:extLst>
            </p:cNvPr>
            <p:cNvSpPr txBox="1"/>
            <p:nvPr/>
          </p:nvSpPr>
          <p:spPr>
            <a:xfrm>
              <a:off x="10015272" y="3582400"/>
              <a:ext cx="88998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2000">
                  <a:latin typeface="Consolas" panose="020B0609020204030204" pitchFamily="49" charset="0"/>
                </a:rPr>
                <a:t>where</a:t>
              </a:r>
              <a:endParaRPr lang="en-US" sz="2000">
                <a:latin typeface="Consolas" panose="020B0609020204030204" pitchFamily="49" charset="0"/>
              </a:endParaRPr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ACC58867-B230-A8EF-F715-11F073F142F6}"/>
                </a:ext>
              </a:extLst>
            </p:cNvPr>
            <p:cNvCxnSpPr>
              <a:cxnSpLocks/>
              <a:endCxn id="9" idx="0"/>
            </p:cNvCxnSpPr>
            <p:nvPr/>
          </p:nvCxnSpPr>
          <p:spPr>
            <a:xfrm>
              <a:off x="9153815" y="2990745"/>
              <a:ext cx="1306451" cy="591655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698AA058-DAEA-36BF-6799-E870152FDCA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460264" y="3967990"/>
              <a:ext cx="1" cy="644746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2" name="Arrow: Right 21">
            <a:extLst>
              <a:ext uri="{FF2B5EF4-FFF2-40B4-BE49-F238E27FC236}">
                <a16:creationId xmlns:a16="http://schemas.microsoft.com/office/drawing/2014/main" id="{083A971A-4228-A27D-3B0C-C92B812B617A}"/>
              </a:ext>
            </a:extLst>
          </p:cNvPr>
          <p:cNvSpPr/>
          <p:nvPr/>
        </p:nvSpPr>
        <p:spPr>
          <a:xfrm>
            <a:off x="5799105" y="3429000"/>
            <a:ext cx="800195" cy="538990"/>
          </a:xfrm>
          <a:prstGeom prst="rightArrow">
            <a:avLst/>
          </a:prstGeom>
          <a:ln>
            <a:headEnd type="none" w="med" len="med"/>
            <a:tailEnd type="arrow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2175436-F811-A7B8-AD3D-E883843462BC}"/>
              </a:ext>
            </a:extLst>
          </p:cNvPr>
          <p:cNvSpPr/>
          <p:nvPr/>
        </p:nvSpPr>
        <p:spPr>
          <a:xfrm>
            <a:off x="1495934" y="4662432"/>
            <a:ext cx="992573" cy="400110"/>
          </a:xfrm>
          <a:prstGeom prst="rect">
            <a:avLst/>
          </a:prstGeom>
          <a:ln w="38100" cap="flat" cmpd="sng" algn="ctr">
            <a:solidFill>
              <a:srgbClr val="FFFF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C0AE64D-6CBF-3806-D064-0867C564EE67}"/>
              </a:ext>
            </a:extLst>
          </p:cNvPr>
          <p:cNvSpPr txBox="1"/>
          <p:nvPr/>
        </p:nvSpPr>
        <p:spPr>
          <a:xfrm>
            <a:off x="7335309" y="3151602"/>
            <a:ext cx="4260041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500">
                <a:latin typeface="Consolas" panose="020B0609020204030204" pitchFamily="49" charset="0"/>
              </a:rPr>
              <a:t>SELECT name</a:t>
            </a:r>
          </a:p>
        </p:txBody>
      </p:sp>
    </p:spTree>
    <p:extLst>
      <p:ext uri="{BB962C8B-B14F-4D97-AF65-F5344CB8AC3E}">
        <p14:creationId xmlns:p14="http://schemas.microsoft.com/office/powerpoint/2010/main" val="35057593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BF0B1D-3A55-BEC6-5D0E-C2A9468093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8013BC-DE0C-F3B3-95A3-5E92CD8C64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2. Backtranslation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AED69F-6C3F-84E6-724E-DAEC63F2D0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890E68-D690-4AC2-96FA-C0B5F80968DC}" type="slidenum">
              <a:rPr lang="en-US" smtClean="0"/>
              <a:t>14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2957DB0-907E-FAE0-0D26-99BF0B5B5DF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GB"/>
              <a:t>Proposal</a:t>
            </a:r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CD452C80-4569-5EE5-C3C5-B5AFD65A0E31}"/>
              </a:ext>
            </a:extLst>
          </p:cNvPr>
          <p:cNvGrpSpPr/>
          <p:nvPr/>
        </p:nvGrpSpPr>
        <p:grpSpPr>
          <a:xfrm>
            <a:off x="1451415" y="2653379"/>
            <a:ext cx="4360820" cy="2416557"/>
            <a:chOff x="6967633" y="2603683"/>
            <a:chExt cx="4360820" cy="2416557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5EAFFEC2-2FEC-F298-2733-4F4AC43932C6}"/>
                </a:ext>
              </a:extLst>
            </p:cNvPr>
            <p:cNvGrpSpPr/>
            <p:nvPr/>
          </p:nvGrpSpPr>
          <p:grpSpPr>
            <a:xfrm>
              <a:off x="6967633" y="2603683"/>
              <a:ext cx="2660669" cy="2416557"/>
              <a:chOff x="1282450" y="3680886"/>
              <a:chExt cx="2660669" cy="2416557"/>
            </a:xfrm>
          </p:grpSpPr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BFDFFFC-C617-4209-7813-B5533658F7BD}"/>
                  </a:ext>
                </a:extLst>
              </p:cNvPr>
              <p:cNvSpPr txBox="1"/>
              <p:nvPr/>
            </p:nvSpPr>
            <p:spPr>
              <a:xfrm>
                <a:off x="2717755" y="3680886"/>
                <a:ext cx="855427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GB" sz="2000"/>
                  <a:t>Query</a:t>
                </a:r>
                <a:endParaRPr lang="en-US" sz="2000"/>
              </a:p>
            </p:txBody>
          </p:sp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26C778A7-4AA7-BBA0-9F60-0FCFFDF02E7B}"/>
                  </a:ext>
                </a:extLst>
              </p:cNvPr>
              <p:cNvCxnSpPr>
                <a:cxnSpLocks/>
                <a:endCxn id="15" idx="0"/>
              </p:cNvCxnSpPr>
              <p:nvPr/>
            </p:nvCxnSpPr>
            <p:spPr>
              <a:xfrm flipH="1">
                <a:off x="1797976" y="4080996"/>
                <a:ext cx="996911" cy="585372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5FB7B525-A599-E41C-BE23-B801A3DCC603}"/>
                  </a:ext>
                </a:extLst>
              </p:cNvPr>
              <p:cNvCxnSpPr>
                <a:cxnSpLocks/>
                <a:stCxn id="12" idx="2"/>
                <a:endCxn id="16" idx="0"/>
              </p:cNvCxnSpPr>
              <p:nvPr/>
            </p:nvCxnSpPr>
            <p:spPr>
              <a:xfrm flipH="1">
                <a:off x="3145466" y="4080996"/>
                <a:ext cx="3" cy="571481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C3ED0168-D106-33C2-63E4-3121743E6416}"/>
                  </a:ext>
                </a:extLst>
              </p:cNvPr>
              <p:cNvSpPr txBox="1"/>
              <p:nvPr/>
            </p:nvSpPr>
            <p:spPr>
              <a:xfrm>
                <a:off x="1282450" y="4666368"/>
                <a:ext cx="1031051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2000">
                    <a:latin typeface="Consolas" panose="020B0609020204030204" pitchFamily="49" charset="0"/>
                  </a:rPr>
                  <a:t>select</a:t>
                </a:r>
                <a:endParaRPr lang="en-US" sz="2000">
                  <a:latin typeface="Consolas" panose="020B0609020204030204" pitchFamily="49" charset="0"/>
                </a:endParaRP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06443074-A725-69D7-0D57-FC9610D375AB}"/>
                  </a:ext>
                </a:extLst>
              </p:cNvPr>
              <p:cNvSpPr txBox="1"/>
              <p:nvPr/>
            </p:nvSpPr>
            <p:spPr>
              <a:xfrm>
                <a:off x="2771004" y="4652477"/>
                <a:ext cx="748923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2000">
                    <a:latin typeface="Consolas" panose="020B0609020204030204" pitchFamily="49" charset="0"/>
                  </a:rPr>
                  <a:t>from</a:t>
                </a:r>
                <a:endParaRPr lang="en-US" sz="2000">
                  <a:latin typeface="Consolas" panose="020B0609020204030204" pitchFamily="49" charset="0"/>
                </a:endParaRPr>
              </a:p>
            </p:txBody>
          </p:sp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0D0058BC-9B05-67DD-7E66-F02A4959B0E1}"/>
                  </a:ext>
                </a:extLst>
              </p:cNvPr>
              <p:cNvCxnSpPr>
                <a:cxnSpLocks/>
                <a:stCxn id="15" idx="2"/>
              </p:cNvCxnSpPr>
              <p:nvPr/>
            </p:nvCxnSpPr>
            <p:spPr>
              <a:xfrm flipH="1">
                <a:off x="1797975" y="5066478"/>
                <a:ext cx="1" cy="627412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9D90DFDF-6EDB-B03A-61E7-D6EB17834CFE}"/>
                  </a:ext>
                </a:extLst>
              </p:cNvPr>
              <p:cNvCxnSpPr>
                <a:cxnSpLocks/>
                <a:stCxn id="16" idx="2"/>
                <a:endCxn id="20" idx="0"/>
              </p:cNvCxnSpPr>
              <p:nvPr/>
            </p:nvCxnSpPr>
            <p:spPr>
              <a:xfrm flipH="1">
                <a:off x="3145465" y="5052587"/>
                <a:ext cx="1" cy="644746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7D2E15D6-B83F-DFD1-66F8-188CC24D83DE}"/>
                  </a:ext>
                </a:extLst>
              </p:cNvPr>
              <p:cNvSpPr txBox="1"/>
              <p:nvPr/>
            </p:nvSpPr>
            <p:spPr>
              <a:xfrm>
                <a:off x="1326969" y="5689939"/>
                <a:ext cx="1031052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GB" sz="2000">
                    <a:solidFill>
                      <a:srgbClr val="129204"/>
                    </a:solidFill>
                    <a:latin typeface="Consolas" panose="020B0609020204030204" pitchFamily="49" charset="0"/>
                  </a:rPr>
                  <a:t>"name"</a:t>
                </a:r>
                <a:endParaRPr lang="en-US" sz="2000">
                  <a:solidFill>
                    <a:srgbClr val="129204"/>
                  </a:solidFill>
                  <a:latin typeface="Consolas" panose="020B0609020204030204" pitchFamily="49" charset="0"/>
                </a:endParaRPr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F0B3EEC8-8F39-1C43-D27C-679D3EB9D685}"/>
                  </a:ext>
                </a:extLst>
              </p:cNvPr>
              <p:cNvSpPr txBox="1"/>
              <p:nvPr/>
            </p:nvSpPr>
            <p:spPr>
              <a:xfrm>
                <a:off x="2347810" y="5697333"/>
                <a:ext cx="1595309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GB" sz="2000">
                    <a:solidFill>
                      <a:srgbClr val="129204"/>
                    </a:solidFill>
                    <a:latin typeface="Consolas" panose="020B0609020204030204" pitchFamily="49" charset="0"/>
                  </a:rPr>
                  <a:t>"Students"</a:t>
                </a:r>
                <a:endParaRPr lang="en-US" sz="2000">
                  <a:solidFill>
                    <a:srgbClr val="129204"/>
                  </a:solidFill>
                  <a:latin typeface="Consolas" panose="020B0609020204030204" pitchFamily="49" charset="0"/>
                </a:endParaRPr>
              </a:p>
            </p:txBody>
          </p:sp>
        </p:grp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21DFBEF1-DC43-4AFF-C97C-5BD9BF841308}"/>
                </a:ext>
              </a:extLst>
            </p:cNvPr>
            <p:cNvSpPr txBox="1"/>
            <p:nvPr/>
          </p:nvSpPr>
          <p:spPr>
            <a:xfrm>
              <a:off x="9592079" y="4620130"/>
              <a:ext cx="173637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2000">
                  <a:solidFill>
                    <a:srgbClr val="129204"/>
                  </a:solidFill>
                  <a:latin typeface="Consolas" panose="020B0609020204030204" pitchFamily="49" charset="0"/>
                </a:rPr>
                <a:t>"age == 18"</a:t>
              </a:r>
              <a:endParaRPr lang="en-US" sz="2000">
                <a:solidFill>
                  <a:srgbClr val="129204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82FE983B-CA07-19FB-4E27-28CC278F9549}"/>
                </a:ext>
              </a:extLst>
            </p:cNvPr>
            <p:cNvSpPr txBox="1"/>
            <p:nvPr/>
          </p:nvSpPr>
          <p:spPr>
            <a:xfrm>
              <a:off x="10015272" y="3582400"/>
              <a:ext cx="88998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2000">
                  <a:latin typeface="Consolas" panose="020B0609020204030204" pitchFamily="49" charset="0"/>
                </a:rPr>
                <a:t>where</a:t>
              </a:r>
              <a:endParaRPr lang="en-US" sz="2000">
                <a:latin typeface="Consolas" panose="020B0609020204030204" pitchFamily="49" charset="0"/>
              </a:endParaRPr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C042BA3F-EB37-2A03-B932-04403328E427}"/>
                </a:ext>
              </a:extLst>
            </p:cNvPr>
            <p:cNvCxnSpPr>
              <a:cxnSpLocks/>
              <a:endCxn id="9" idx="0"/>
            </p:cNvCxnSpPr>
            <p:nvPr/>
          </p:nvCxnSpPr>
          <p:spPr>
            <a:xfrm>
              <a:off x="9153815" y="2990745"/>
              <a:ext cx="1306451" cy="591655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AD32CE66-E37D-60FD-BAC2-DB93A1D6092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460264" y="3967990"/>
              <a:ext cx="1" cy="644746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2" name="Arrow: Right 21">
            <a:extLst>
              <a:ext uri="{FF2B5EF4-FFF2-40B4-BE49-F238E27FC236}">
                <a16:creationId xmlns:a16="http://schemas.microsoft.com/office/drawing/2014/main" id="{FCCB7324-4D98-38BF-4A80-DC5D4B5A1C9D}"/>
              </a:ext>
            </a:extLst>
          </p:cNvPr>
          <p:cNvSpPr/>
          <p:nvPr/>
        </p:nvSpPr>
        <p:spPr>
          <a:xfrm>
            <a:off x="5799105" y="3429000"/>
            <a:ext cx="800195" cy="538990"/>
          </a:xfrm>
          <a:prstGeom prst="rightArrow">
            <a:avLst/>
          </a:prstGeom>
          <a:ln>
            <a:headEnd type="none" w="med" len="med"/>
            <a:tailEnd type="arrow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2AEC020-E506-DD68-4985-43A64CE3E988}"/>
              </a:ext>
            </a:extLst>
          </p:cNvPr>
          <p:cNvSpPr/>
          <p:nvPr/>
        </p:nvSpPr>
        <p:spPr>
          <a:xfrm>
            <a:off x="1470653" y="3638861"/>
            <a:ext cx="992573" cy="400110"/>
          </a:xfrm>
          <a:prstGeom prst="rect">
            <a:avLst/>
          </a:prstGeom>
          <a:ln w="38100" cap="flat" cmpd="sng" algn="ctr">
            <a:solidFill>
              <a:srgbClr val="FFFF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AE461BF-7121-42CA-A0E9-4976364708AF}"/>
              </a:ext>
            </a:extLst>
          </p:cNvPr>
          <p:cNvSpPr txBox="1"/>
          <p:nvPr/>
        </p:nvSpPr>
        <p:spPr>
          <a:xfrm>
            <a:off x="7335309" y="3151602"/>
            <a:ext cx="4260041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500">
                <a:latin typeface="Consolas" panose="020B0609020204030204" pitchFamily="49" charset="0"/>
              </a:rPr>
              <a:t>SELECT name</a:t>
            </a:r>
          </a:p>
        </p:txBody>
      </p:sp>
    </p:spTree>
    <p:extLst>
      <p:ext uri="{BB962C8B-B14F-4D97-AF65-F5344CB8AC3E}">
        <p14:creationId xmlns:p14="http://schemas.microsoft.com/office/powerpoint/2010/main" val="42482056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ABAC1B-0256-F40E-EC5A-1CEF9E720D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00C3EB-8EC3-90C9-FD78-FE8808CBC3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2. Backtranslation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D1BCAF-39CB-C475-D0F6-1C16AEB990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890E68-D690-4AC2-96FA-C0B5F80968DC}" type="slidenum">
              <a:rPr lang="en-US" smtClean="0"/>
              <a:t>15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BFAA11-3D7E-A43C-2F66-D079F9EC69F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GB"/>
              <a:t>Proposal</a:t>
            </a:r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F0BFF921-1AC5-3F4F-F7AB-0ABBC002ECF0}"/>
              </a:ext>
            </a:extLst>
          </p:cNvPr>
          <p:cNvGrpSpPr/>
          <p:nvPr/>
        </p:nvGrpSpPr>
        <p:grpSpPr>
          <a:xfrm>
            <a:off x="1451415" y="2653379"/>
            <a:ext cx="4360820" cy="2416557"/>
            <a:chOff x="6967633" y="2603683"/>
            <a:chExt cx="4360820" cy="2416557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92AEFD28-BB2D-3C9F-8644-BF6697EB8ABB}"/>
                </a:ext>
              </a:extLst>
            </p:cNvPr>
            <p:cNvGrpSpPr/>
            <p:nvPr/>
          </p:nvGrpSpPr>
          <p:grpSpPr>
            <a:xfrm>
              <a:off x="6967633" y="2603683"/>
              <a:ext cx="2660669" cy="2416557"/>
              <a:chOff x="1282450" y="3680886"/>
              <a:chExt cx="2660669" cy="2416557"/>
            </a:xfrm>
          </p:grpSpPr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BC81174-B525-9F3D-9C2B-15B6DA4A2004}"/>
                  </a:ext>
                </a:extLst>
              </p:cNvPr>
              <p:cNvSpPr txBox="1"/>
              <p:nvPr/>
            </p:nvSpPr>
            <p:spPr>
              <a:xfrm>
                <a:off x="2717755" y="3680886"/>
                <a:ext cx="855427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GB" sz="2000"/>
                  <a:t>Query</a:t>
                </a:r>
                <a:endParaRPr lang="en-US" sz="2000"/>
              </a:p>
            </p:txBody>
          </p:sp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83B0FD93-9B26-E0F7-95AC-3535CD90E0FA}"/>
                  </a:ext>
                </a:extLst>
              </p:cNvPr>
              <p:cNvCxnSpPr>
                <a:cxnSpLocks/>
                <a:endCxn id="15" idx="0"/>
              </p:cNvCxnSpPr>
              <p:nvPr/>
            </p:nvCxnSpPr>
            <p:spPr>
              <a:xfrm flipH="1">
                <a:off x="1797976" y="4080996"/>
                <a:ext cx="996911" cy="585372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551A75C5-1CBC-54E1-E0CF-9E6EB0D98C65}"/>
                  </a:ext>
                </a:extLst>
              </p:cNvPr>
              <p:cNvCxnSpPr>
                <a:cxnSpLocks/>
                <a:stCxn id="12" idx="2"/>
                <a:endCxn id="16" idx="0"/>
              </p:cNvCxnSpPr>
              <p:nvPr/>
            </p:nvCxnSpPr>
            <p:spPr>
              <a:xfrm flipH="1">
                <a:off x="3145466" y="4080996"/>
                <a:ext cx="3" cy="571481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D25076C5-4581-F70D-7836-3E76528F12FE}"/>
                  </a:ext>
                </a:extLst>
              </p:cNvPr>
              <p:cNvSpPr txBox="1"/>
              <p:nvPr/>
            </p:nvSpPr>
            <p:spPr>
              <a:xfrm>
                <a:off x="1282450" y="4666368"/>
                <a:ext cx="1031051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2000">
                    <a:latin typeface="Consolas" panose="020B0609020204030204" pitchFamily="49" charset="0"/>
                  </a:rPr>
                  <a:t>select</a:t>
                </a:r>
                <a:endParaRPr lang="en-US" sz="2000">
                  <a:latin typeface="Consolas" panose="020B0609020204030204" pitchFamily="49" charset="0"/>
                </a:endParaRP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62D62F53-0499-3140-F67D-5AB6DE917734}"/>
                  </a:ext>
                </a:extLst>
              </p:cNvPr>
              <p:cNvSpPr txBox="1"/>
              <p:nvPr/>
            </p:nvSpPr>
            <p:spPr>
              <a:xfrm>
                <a:off x="2771004" y="4652477"/>
                <a:ext cx="748923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2000">
                    <a:latin typeface="Consolas" panose="020B0609020204030204" pitchFamily="49" charset="0"/>
                  </a:rPr>
                  <a:t>from</a:t>
                </a:r>
                <a:endParaRPr lang="en-US" sz="2000">
                  <a:latin typeface="Consolas" panose="020B0609020204030204" pitchFamily="49" charset="0"/>
                </a:endParaRPr>
              </a:p>
            </p:txBody>
          </p:sp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D72F7FDE-4794-48AB-D78A-130A92050879}"/>
                  </a:ext>
                </a:extLst>
              </p:cNvPr>
              <p:cNvCxnSpPr>
                <a:cxnSpLocks/>
                <a:stCxn id="15" idx="2"/>
              </p:cNvCxnSpPr>
              <p:nvPr/>
            </p:nvCxnSpPr>
            <p:spPr>
              <a:xfrm flipH="1">
                <a:off x="1797975" y="5066478"/>
                <a:ext cx="1" cy="627412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B176CAA5-828C-F758-3BCE-575425EAEF84}"/>
                  </a:ext>
                </a:extLst>
              </p:cNvPr>
              <p:cNvCxnSpPr>
                <a:cxnSpLocks/>
                <a:stCxn id="16" idx="2"/>
                <a:endCxn id="20" idx="0"/>
              </p:cNvCxnSpPr>
              <p:nvPr/>
            </p:nvCxnSpPr>
            <p:spPr>
              <a:xfrm flipH="1">
                <a:off x="3145465" y="5052587"/>
                <a:ext cx="1" cy="644746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64148542-38A3-9F8C-AC40-942694E80D67}"/>
                  </a:ext>
                </a:extLst>
              </p:cNvPr>
              <p:cNvSpPr txBox="1"/>
              <p:nvPr/>
            </p:nvSpPr>
            <p:spPr>
              <a:xfrm>
                <a:off x="1326969" y="5689939"/>
                <a:ext cx="1031052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GB" sz="2000">
                    <a:solidFill>
                      <a:srgbClr val="129204"/>
                    </a:solidFill>
                    <a:latin typeface="Consolas" panose="020B0609020204030204" pitchFamily="49" charset="0"/>
                  </a:rPr>
                  <a:t>"name"</a:t>
                </a:r>
                <a:endParaRPr lang="en-US" sz="2000">
                  <a:solidFill>
                    <a:srgbClr val="129204"/>
                  </a:solidFill>
                  <a:latin typeface="Consolas" panose="020B0609020204030204" pitchFamily="49" charset="0"/>
                </a:endParaRPr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49F18C5E-654D-12A7-191E-E9CF168A171E}"/>
                  </a:ext>
                </a:extLst>
              </p:cNvPr>
              <p:cNvSpPr txBox="1"/>
              <p:nvPr/>
            </p:nvSpPr>
            <p:spPr>
              <a:xfrm>
                <a:off x="2347810" y="5697333"/>
                <a:ext cx="1595309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GB" sz="2000">
                    <a:solidFill>
                      <a:srgbClr val="129204"/>
                    </a:solidFill>
                    <a:latin typeface="Consolas" panose="020B0609020204030204" pitchFamily="49" charset="0"/>
                  </a:rPr>
                  <a:t>"Students"</a:t>
                </a:r>
                <a:endParaRPr lang="en-US" sz="2000">
                  <a:solidFill>
                    <a:srgbClr val="129204"/>
                  </a:solidFill>
                  <a:latin typeface="Consolas" panose="020B0609020204030204" pitchFamily="49" charset="0"/>
                </a:endParaRPr>
              </a:p>
            </p:txBody>
          </p:sp>
        </p:grp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10CDC6D4-BB06-65A3-A07F-9824E75A1C96}"/>
                </a:ext>
              </a:extLst>
            </p:cNvPr>
            <p:cNvSpPr txBox="1"/>
            <p:nvPr/>
          </p:nvSpPr>
          <p:spPr>
            <a:xfrm>
              <a:off x="9592079" y="4620130"/>
              <a:ext cx="173637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2000">
                  <a:solidFill>
                    <a:srgbClr val="129204"/>
                  </a:solidFill>
                  <a:latin typeface="Consolas" panose="020B0609020204030204" pitchFamily="49" charset="0"/>
                </a:rPr>
                <a:t>"age == 18"</a:t>
              </a:r>
              <a:endParaRPr lang="en-US" sz="2000">
                <a:solidFill>
                  <a:srgbClr val="129204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9D899D0B-371E-E041-7D26-482A527F88FC}"/>
                </a:ext>
              </a:extLst>
            </p:cNvPr>
            <p:cNvSpPr txBox="1"/>
            <p:nvPr/>
          </p:nvSpPr>
          <p:spPr>
            <a:xfrm>
              <a:off x="10015272" y="3582400"/>
              <a:ext cx="88998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2000">
                  <a:latin typeface="Consolas" panose="020B0609020204030204" pitchFamily="49" charset="0"/>
                </a:rPr>
                <a:t>where</a:t>
              </a:r>
              <a:endParaRPr lang="en-US" sz="2000">
                <a:latin typeface="Consolas" panose="020B0609020204030204" pitchFamily="49" charset="0"/>
              </a:endParaRPr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94CD5AAE-96D3-7B4E-5F9E-FDEA6C0E8997}"/>
                </a:ext>
              </a:extLst>
            </p:cNvPr>
            <p:cNvCxnSpPr>
              <a:cxnSpLocks/>
              <a:endCxn id="9" idx="0"/>
            </p:cNvCxnSpPr>
            <p:nvPr/>
          </p:nvCxnSpPr>
          <p:spPr>
            <a:xfrm>
              <a:off x="9153815" y="2990745"/>
              <a:ext cx="1306451" cy="591655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1E3D4950-7BAC-09BC-A10C-6C09D10D012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460264" y="3967990"/>
              <a:ext cx="1" cy="644746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2" name="Arrow: Right 21">
            <a:extLst>
              <a:ext uri="{FF2B5EF4-FFF2-40B4-BE49-F238E27FC236}">
                <a16:creationId xmlns:a16="http://schemas.microsoft.com/office/drawing/2014/main" id="{F1DBB645-48E3-F6A6-AF35-51CE13645EA1}"/>
              </a:ext>
            </a:extLst>
          </p:cNvPr>
          <p:cNvSpPr/>
          <p:nvPr/>
        </p:nvSpPr>
        <p:spPr>
          <a:xfrm>
            <a:off x="5799105" y="3429000"/>
            <a:ext cx="800195" cy="538990"/>
          </a:xfrm>
          <a:prstGeom prst="rightArrow">
            <a:avLst/>
          </a:prstGeom>
          <a:ln>
            <a:headEnd type="none" w="med" len="med"/>
            <a:tailEnd type="arrow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C305528-BF2C-1D63-09A5-C1289E7FF4FC}"/>
              </a:ext>
            </a:extLst>
          </p:cNvPr>
          <p:cNvSpPr/>
          <p:nvPr/>
        </p:nvSpPr>
        <p:spPr>
          <a:xfrm>
            <a:off x="2818142" y="2654518"/>
            <a:ext cx="992573" cy="400110"/>
          </a:xfrm>
          <a:prstGeom prst="rect">
            <a:avLst/>
          </a:prstGeom>
          <a:ln w="38100" cap="flat" cmpd="sng" algn="ctr">
            <a:solidFill>
              <a:srgbClr val="FFFF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8ADFE90-8322-1D66-B85A-65FD663FD6F1}"/>
              </a:ext>
            </a:extLst>
          </p:cNvPr>
          <p:cNvSpPr txBox="1"/>
          <p:nvPr/>
        </p:nvSpPr>
        <p:spPr>
          <a:xfrm>
            <a:off x="7335309" y="3151602"/>
            <a:ext cx="4260041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500">
                <a:latin typeface="Consolas" panose="020B0609020204030204" pitchFamily="49" charset="0"/>
              </a:rPr>
              <a:t>SELECT name</a:t>
            </a:r>
          </a:p>
        </p:txBody>
      </p:sp>
    </p:spTree>
    <p:extLst>
      <p:ext uri="{BB962C8B-B14F-4D97-AF65-F5344CB8AC3E}">
        <p14:creationId xmlns:p14="http://schemas.microsoft.com/office/powerpoint/2010/main" val="4926536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C971CB-95A9-68CC-C08E-5B2DD53883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ABCB82-1F25-B680-992E-CE89091C6E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2. Backtranslation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085D10-E89E-3A9F-5507-A54E89CC21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890E68-D690-4AC2-96FA-C0B5F80968DC}" type="slidenum">
              <a:rPr lang="en-US" smtClean="0"/>
              <a:t>16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F4163D3-F016-5328-D35E-F45FD7CAA39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GB"/>
              <a:t>Proposal</a:t>
            </a:r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2EEADC8E-3E64-6257-4131-31F0D4773CAE}"/>
              </a:ext>
            </a:extLst>
          </p:cNvPr>
          <p:cNvGrpSpPr/>
          <p:nvPr/>
        </p:nvGrpSpPr>
        <p:grpSpPr>
          <a:xfrm>
            <a:off x="1451415" y="2653379"/>
            <a:ext cx="4360820" cy="2416557"/>
            <a:chOff x="6967633" y="2603683"/>
            <a:chExt cx="4360820" cy="2416557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68CCB948-8FB1-0B9D-39BB-67F868637642}"/>
                </a:ext>
              </a:extLst>
            </p:cNvPr>
            <p:cNvGrpSpPr/>
            <p:nvPr/>
          </p:nvGrpSpPr>
          <p:grpSpPr>
            <a:xfrm>
              <a:off x="6967633" y="2603683"/>
              <a:ext cx="2660669" cy="2416557"/>
              <a:chOff x="1282450" y="3680886"/>
              <a:chExt cx="2660669" cy="2416557"/>
            </a:xfrm>
          </p:grpSpPr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826BACB-2402-330E-596C-23F54C5DD564}"/>
                  </a:ext>
                </a:extLst>
              </p:cNvPr>
              <p:cNvSpPr txBox="1"/>
              <p:nvPr/>
            </p:nvSpPr>
            <p:spPr>
              <a:xfrm>
                <a:off x="2717755" y="3680886"/>
                <a:ext cx="855427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GB" sz="2000"/>
                  <a:t>Query</a:t>
                </a:r>
                <a:endParaRPr lang="en-US" sz="2000"/>
              </a:p>
            </p:txBody>
          </p:sp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99EC7F1C-74C3-166C-8B5A-A61BB19C4599}"/>
                  </a:ext>
                </a:extLst>
              </p:cNvPr>
              <p:cNvCxnSpPr>
                <a:cxnSpLocks/>
                <a:endCxn id="15" idx="0"/>
              </p:cNvCxnSpPr>
              <p:nvPr/>
            </p:nvCxnSpPr>
            <p:spPr>
              <a:xfrm flipH="1">
                <a:off x="1797976" y="4080996"/>
                <a:ext cx="996911" cy="585372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904D72D9-DF2C-F136-89EC-FD6A00934C74}"/>
                  </a:ext>
                </a:extLst>
              </p:cNvPr>
              <p:cNvCxnSpPr>
                <a:cxnSpLocks/>
                <a:stCxn id="12" idx="2"/>
                <a:endCxn id="16" idx="0"/>
              </p:cNvCxnSpPr>
              <p:nvPr/>
            </p:nvCxnSpPr>
            <p:spPr>
              <a:xfrm flipH="1">
                <a:off x="3145466" y="4080996"/>
                <a:ext cx="3" cy="571481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BA85ABAB-F071-356C-5299-9209A56AECDF}"/>
                  </a:ext>
                </a:extLst>
              </p:cNvPr>
              <p:cNvSpPr txBox="1"/>
              <p:nvPr/>
            </p:nvSpPr>
            <p:spPr>
              <a:xfrm>
                <a:off x="1282450" y="4666368"/>
                <a:ext cx="1031051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2000">
                    <a:latin typeface="Consolas" panose="020B0609020204030204" pitchFamily="49" charset="0"/>
                  </a:rPr>
                  <a:t>select</a:t>
                </a:r>
                <a:endParaRPr lang="en-US" sz="2000">
                  <a:latin typeface="Consolas" panose="020B0609020204030204" pitchFamily="49" charset="0"/>
                </a:endParaRP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42D89955-6E21-25FC-5581-6817D085E2EA}"/>
                  </a:ext>
                </a:extLst>
              </p:cNvPr>
              <p:cNvSpPr txBox="1"/>
              <p:nvPr/>
            </p:nvSpPr>
            <p:spPr>
              <a:xfrm>
                <a:off x="2771004" y="4652477"/>
                <a:ext cx="748923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2000">
                    <a:latin typeface="Consolas" panose="020B0609020204030204" pitchFamily="49" charset="0"/>
                  </a:rPr>
                  <a:t>from</a:t>
                </a:r>
                <a:endParaRPr lang="en-US" sz="2000">
                  <a:latin typeface="Consolas" panose="020B0609020204030204" pitchFamily="49" charset="0"/>
                </a:endParaRPr>
              </a:p>
            </p:txBody>
          </p:sp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6D5736E7-6E67-000A-47C4-2270C259F09A}"/>
                  </a:ext>
                </a:extLst>
              </p:cNvPr>
              <p:cNvCxnSpPr>
                <a:cxnSpLocks/>
                <a:stCxn id="15" idx="2"/>
              </p:cNvCxnSpPr>
              <p:nvPr/>
            </p:nvCxnSpPr>
            <p:spPr>
              <a:xfrm flipH="1">
                <a:off x="1797975" y="5066478"/>
                <a:ext cx="1" cy="627412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88379D44-0A63-2AAC-9A7C-79F0BE7989EB}"/>
                  </a:ext>
                </a:extLst>
              </p:cNvPr>
              <p:cNvCxnSpPr>
                <a:cxnSpLocks/>
                <a:stCxn id="16" idx="2"/>
                <a:endCxn id="20" idx="0"/>
              </p:cNvCxnSpPr>
              <p:nvPr/>
            </p:nvCxnSpPr>
            <p:spPr>
              <a:xfrm flipH="1">
                <a:off x="3145465" y="5052587"/>
                <a:ext cx="1" cy="644746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E470E614-73DA-70CF-D7FD-8C7B861D16FA}"/>
                  </a:ext>
                </a:extLst>
              </p:cNvPr>
              <p:cNvSpPr txBox="1"/>
              <p:nvPr/>
            </p:nvSpPr>
            <p:spPr>
              <a:xfrm>
                <a:off x="1326969" y="5689939"/>
                <a:ext cx="1031052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GB" sz="2000">
                    <a:solidFill>
                      <a:srgbClr val="129204"/>
                    </a:solidFill>
                    <a:latin typeface="Consolas" panose="020B0609020204030204" pitchFamily="49" charset="0"/>
                  </a:rPr>
                  <a:t>"name"</a:t>
                </a:r>
                <a:endParaRPr lang="en-US" sz="2000">
                  <a:solidFill>
                    <a:srgbClr val="129204"/>
                  </a:solidFill>
                  <a:latin typeface="Consolas" panose="020B0609020204030204" pitchFamily="49" charset="0"/>
                </a:endParaRPr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309982ED-A388-BB01-A424-0A8077114B25}"/>
                  </a:ext>
                </a:extLst>
              </p:cNvPr>
              <p:cNvSpPr txBox="1"/>
              <p:nvPr/>
            </p:nvSpPr>
            <p:spPr>
              <a:xfrm>
                <a:off x="2347810" y="5697333"/>
                <a:ext cx="1595309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GB" sz="2000">
                    <a:solidFill>
                      <a:srgbClr val="129204"/>
                    </a:solidFill>
                    <a:latin typeface="Consolas" panose="020B0609020204030204" pitchFamily="49" charset="0"/>
                  </a:rPr>
                  <a:t>"Students"</a:t>
                </a:r>
                <a:endParaRPr lang="en-US" sz="2000">
                  <a:solidFill>
                    <a:srgbClr val="129204"/>
                  </a:solidFill>
                  <a:latin typeface="Consolas" panose="020B0609020204030204" pitchFamily="49" charset="0"/>
                </a:endParaRPr>
              </a:p>
            </p:txBody>
          </p:sp>
        </p:grp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C90646A2-F091-DEB6-AD29-7429FCC688D9}"/>
                </a:ext>
              </a:extLst>
            </p:cNvPr>
            <p:cNvSpPr txBox="1"/>
            <p:nvPr/>
          </p:nvSpPr>
          <p:spPr>
            <a:xfrm>
              <a:off x="9592079" y="4620130"/>
              <a:ext cx="173637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2000">
                  <a:solidFill>
                    <a:srgbClr val="129204"/>
                  </a:solidFill>
                  <a:latin typeface="Consolas" panose="020B0609020204030204" pitchFamily="49" charset="0"/>
                </a:rPr>
                <a:t>"age == 18"</a:t>
              </a:r>
              <a:endParaRPr lang="en-US" sz="2000">
                <a:solidFill>
                  <a:srgbClr val="129204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C7DD1000-DAF4-F154-93C8-07B6D6CA1203}"/>
                </a:ext>
              </a:extLst>
            </p:cNvPr>
            <p:cNvSpPr txBox="1"/>
            <p:nvPr/>
          </p:nvSpPr>
          <p:spPr>
            <a:xfrm>
              <a:off x="10015272" y="3582400"/>
              <a:ext cx="88998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2000">
                  <a:latin typeface="Consolas" panose="020B0609020204030204" pitchFamily="49" charset="0"/>
                </a:rPr>
                <a:t>where</a:t>
              </a:r>
              <a:endParaRPr lang="en-US" sz="2000">
                <a:latin typeface="Consolas" panose="020B0609020204030204" pitchFamily="49" charset="0"/>
              </a:endParaRPr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B16B3387-3313-122B-FC1A-0EB8445DE4A6}"/>
                </a:ext>
              </a:extLst>
            </p:cNvPr>
            <p:cNvCxnSpPr>
              <a:cxnSpLocks/>
              <a:endCxn id="9" idx="0"/>
            </p:cNvCxnSpPr>
            <p:nvPr/>
          </p:nvCxnSpPr>
          <p:spPr>
            <a:xfrm>
              <a:off x="9153815" y="2990745"/>
              <a:ext cx="1306451" cy="591655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E5700B5F-C992-2700-69F9-B2A26B5D9FA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460264" y="3967990"/>
              <a:ext cx="1" cy="644746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2" name="Arrow: Right 21">
            <a:extLst>
              <a:ext uri="{FF2B5EF4-FFF2-40B4-BE49-F238E27FC236}">
                <a16:creationId xmlns:a16="http://schemas.microsoft.com/office/drawing/2014/main" id="{0F2A4754-0E6B-4087-047E-4E4B5849642B}"/>
              </a:ext>
            </a:extLst>
          </p:cNvPr>
          <p:cNvSpPr/>
          <p:nvPr/>
        </p:nvSpPr>
        <p:spPr>
          <a:xfrm>
            <a:off x="5799105" y="3429000"/>
            <a:ext cx="800195" cy="538990"/>
          </a:xfrm>
          <a:prstGeom prst="rightArrow">
            <a:avLst/>
          </a:prstGeom>
          <a:ln>
            <a:headEnd type="none" w="med" len="med"/>
            <a:tailEnd type="arrow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A1AE06C-7528-5A64-4927-69BC82DE05E6}"/>
              </a:ext>
            </a:extLst>
          </p:cNvPr>
          <p:cNvSpPr/>
          <p:nvPr/>
        </p:nvSpPr>
        <p:spPr>
          <a:xfrm>
            <a:off x="2818142" y="3604457"/>
            <a:ext cx="992573" cy="400110"/>
          </a:xfrm>
          <a:prstGeom prst="rect">
            <a:avLst/>
          </a:prstGeom>
          <a:ln w="38100" cap="flat" cmpd="sng" algn="ctr">
            <a:solidFill>
              <a:srgbClr val="FFFF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33E3DA6-D9F4-5437-5499-F1FDC4483E39}"/>
              </a:ext>
            </a:extLst>
          </p:cNvPr>
          <p:cNvSpPr txBox="1"/>
          <p:nvPr/>
        </p:nvSpPr>
        <p:spPr>
          <a:xfrm>
            <a:off x="7335309" y="3151602"/>
            <a:ext cx="4260041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500">
                <a:latin typeface="Consolas" panose="020B0609020204030204" pitchFamily="49" charset="0"/>
              </a:rPr>
              <a:t>SELECT name</a:t>
            </a:r>
          </a:p>
          <a:p>
            <a:r>
              <a:rPr lang="en-GB" sz="2500">
                <a:latin typeface="Consolas" panose="020B0609020204030204" pitchFamily="49" charset="0"/>
              </a:rPr>
              <a:t>FROM</a:t>
            </a:r>
          </a:p>
        </p:txBody>
      </p:sp>
    </p:spTree>
    <p:extLst>
      <p:ext uri="{BB962C8B-B14F-4D97-AF65-F5344CB8AC3E}">
        <p14:creationId xmlns:p14="http://schemas.microsoft.com/office/powerpoint/2010/main" val="38242293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F5D5B2-E59D-33CF-0282-D4E43B7ED7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BF3406-80F4-FEB9-958B-9AD5EAC2BE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2. Backtranslation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C8B34F-F88A-B837-4F52-675D05A16D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890E68-D690-4AC2-96FA-C0B5F80968DC}" type="slidenum">
              <a:rPr lang="en-US" smtClean="0"/>
              <a:t>17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5E63B37-6113-2362-FAF8-15EC5F984B1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GB"/>
              <a:t>Proposal</a:t>
            </a:r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FC61C1CB-C6A8-6FD7-63A4-AA059597C05E}"/>
              </a:ext>
            </a:extLst>
          </p:cNvPr>
          <p:cNvGrpSpPr/>
          <p:nvPr/>
        </p:nvGrpSpPr>
        <p:grpSpPr>
          <a:xfrm>
            <a:off x="1451415" y="2653379"/>
            <a:ext cx="4360820" cy="2416557"/>
            <a:chOff x="6967633" y="2603683"/>
            <a:chExt cx="4360820" cy="2416557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CE923C74-BC39-5FA7-83EA-E4A8558E29FC}"/>
                </a:ext>
              </a:extLst>
            </p:cNvPr>
            <p:cNvGrpSpPr/>
            <p:nvPr/>
          </p:nvGrpSpPr>
          <p:grpSpPr>
            <a:xfrm>
              <a:off x="6967633" y="2603683"/>
              <a:ext cx="2660669" cy="2416557"/>
              <a:chOff x="1282450" y="3680886"/>
              <a:chExt cx="2660669" cy="2416557"/>
            </a:xfrm>
          </p:grpSpPr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7DCC21C-EE48-E747-FFC3-6993C8B445A0}"/>
                  </a:ext>
                </a:extLst>
              </p:cNvPr>
              <p:cNvSpPr txBox="1"/>
              <p:nvPr/>
            </p:nvSpPr>
            <p:spPr>
              <a:xfrm>
                <a:off x="2717755" y="3680886"/>
                <a:ext cx="855427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GB" sz="2000"/>
                  <a:t>Query</a:t>
                </a:r>
                <a:endParaRPr lang="en-US" sz="2000"/>
              </a:p>
            </p:txBody>
          </p:sp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5E475553-AFC2-48D0-4629-BC2356096397}"/>
                  </a:ext>
                </a:extLst>
              </p:cNvPr>
              <p:cNvCxnSpPr>
                <a:cxnSpLocks/>
                <a:endCxn id="15" idx="0"/>
              </p:cNvCxnSpPr>
              <p:nvPr/>
            </p:nvCxnSpPr>
            <p:spPr>
              <a:xfrm flipH="1">
                <a:off x="1797976" y="4080996"/>
                <a:ext cx="996911" cy="585372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D699353E-E0F9-30FC-D68B-485234F98BCF}"/>
                  </a:ext>
                </a:extLst>
              </p:cNvPr>
              <p:cNvCxnSpPr>
                <a:cxnSpLocks/>
                <a:stCxn id="12" idx="2"/>
                <a:endCxn id="16" idx="0"/>
              </p:cNvCxnSpPr>
              <p:nvPr/>
            </p:nvCxnSpPr>
            <p:spPr>
              <a:xfrm flipH="1">
                <a:off x="3145466" y="4080996"/>
                <a:ext cx="3" cy="571481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740C5BAF-842E-88FA-718D-17CD69DC8257}"/>
                  </a:ext>
                </a:extLst>
              </p:cNvPr>
              <p:cNvSpPr txBox="1"/>
              <p:nvPr/>
            </p:nvSpPr>
            <p:spPr>
              <a:xfrm>
                <a:off x="1282450" y="4666368"/>
                <a:ext cx="1031051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2000">
                    <a:latin typeface="Consolas" panose="020B0609020204030204" pitchFamily="49" charset="0"/>
                  </a:rPr>
                  <a:t>select</a:t>
                </a:r>
                <a:endParaRPr lang="en-US" sz="2000">
                  <a:latin typeface="Consolas" panose="020B0609020204030204" pitchFamily="49" charset="0"/>
                </a:endParaRP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98A83AC2-F887-EA14-AC33-9372799AD0B5}"/>
                  </a:ext>
                </a:extLst>
              </p:cNvPr>
              <p:cNvSpPr txBox="1"/>
              <p:nvPr/>
            </p:nvSpPr>
            <p:spPr>
              <a:xfrm>
                <a:off x="2771004" y="4652477"/>
                <a:ext cx="748923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2000">
                    <a:latin typeface="Consolas" panose="020B0609020204030204" pitchFamily="49" charset="0"/>
                  </a:rPr>
                  <a:t>from</a:t>
                </a:r>
                <a:endParaRPr lang="en-US" sz="2000">
                  <a:latin typeface="Consolas" panose="020B0609020204030204" pitchFamily="49" charset="0"/>
                </a:endParaRPr>
              </a:p>
            </p:txBody>
          </p:sp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0420D957-B12B-1F4A-526C-2F70717F8831}"/>
                  </a:ext>
                </a:extLst>
              </p:cNvPr>
              <p:cNvCxnSpPr>
                <a:cxnSpLocks/>
                <a:stCxn id="15" idx="2"/>
              </p:cNvCxnSpPr>
              <p:nvPr/>
            </p:nvCxnSpPr>
            <p:spPr>
              <a:xfrm flipH="1">
                <a:off x="1797975" y="5066478"/>
                <a:ext cx="1" cy="627412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828DF2C0-5653-1090-AB0F-3D7633A14889}"/>
                  </a:ext>
                </a:extLst>
              </p:cNvPr>
              <p:cNvCxnSpPr>
                <a:cxnSpLocks/>
                <a:stCxn id="16" idx="2"/>
                <a:endCxn id="20" idx="0"/>
              </p:cNvCxnSpPr>
              <p:nvPr/>
            </p:nvCxnSpPr>
            <p:spPr>
              <a:xfrm flipH="1">
                <a:off x="3145465" y="5052587"/>
                <a:ext cx="1" cy="644746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723C573A-CC46-2303-250E-67F3EEFEFC2D}"/>
                  </a:ext>
                </a:extLst>
              </p:cNvPr>
              <p:cNvSpPr txBox="1"/>
              <p:nvPr/>
            </p:nvSpPr>
            <p:spPr>
              <a:xfrm>
                <a:off x="1326969" y="5689939"/>
                <a:ext cx="1031052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GB" sz="2000">
                    <a:solidFill>
                      <a:srgbClr val="129204"/>
                    </a:solidFill>
                    <a:latin typeface="Consolas" panose="020B0609020204030204" pitchFamily="49" charset="0"/>
                  </a:rPr>
                  <a:t>"name"</a:t>
                </a:r>
                <a:endParaRPr lang="en-US" sz="2000">
                  <a:solidFill>
                    <a:srgbClr val="129204"/>
                  </a:solidFill>
                  <a:latin typeface="Consolas" panose="020B0609020204030204" pitchFamily="49" charset="0"/>
                </a:endParaRPr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C10920C0-CA32-AF71-410F-C5D1009CA2D3}"/>
                  </a:ext>
                </a:extLst>
              </p:cNvPr>
              <p:cNvSpPr txBox="1"/>
              <p:nvPr/>
            </p:nvSpPr>
            <p:spPr>
              <a:xfrm>
                <a:off x="2347810" y="5697333"/>
                <a:ext cx="1595309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GB" sz="2000">
                    <a:solidFill>
                      <a:srgbClr val="129204"/>
                    </a:solidFill>
                    <a:latin typeface="Consolas" panose="020B0609020204030204" pitchFamily="49" charset="0"/>
                  </a:rPr>
                  <a:t>"Students"</a:t>
                </a:r>
                <a:endParaRPr lang="en-US" sz="2000">
                  <a:solidFill>
                    <a:srgbClr val="129204"/>
                  </a:solidFill>
                  <a:latin typeface="Consolas" panose="020B0609020204030204" pitchFamily="49" charset="0"/>
                </a:endParaRPr>
              </a:p>
            </p:txBody>
          </p:sp>
        </p:grp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FF6CE7D0-92C4-FD1E-068E-7A5C2618B464}"/>
                </a:ext>
              </a:extLst>
            </p:cNvPr>
            <p:cNvSpPr txBox="1"/>
            <p:nvPr/>
          </p:nvSpPr>
          <p:spPr>
            <a:xfrm>
              <a:off x="9592079" y="4620130"/>
              <a:ext cx="173637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2000">
                  <a:solidFill>
                    <a:srgbClr val="129204"/>
                  </a:solidFill>
                  <a:latin typeface="Consolas" panose="020B0609020204030204" pitchFamily="49" charset="0"/>
                </a:rPr>
                <a:t>"age == 18"</a:t>
              </a:r>
              <a:endParaRPr lang="en-US" sz="2000">
                <a:solidFill>
                  <a:srgbClr val="129204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14A695BD-58A4-9E83-59B7-279773E5F72B}"/>
                </a:ext>
              </a:extLst>
            </p:cNvPr>
            <p:cNvSpPr txBox="1"/>
            <p:nvPr/>
          </p:nvSpPr>
          <p:spPr>
            <a:xfrm>
              <a:off x="10015272" y="3582400"/>
              <a:ext cx="88998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2000">
                  <a:latin typeface="Consolas" panose="020B0609020204030204" pitchFamily="49" charset="0"/>
                </a:rPr>
                <a:t>where</a:t>
              </a:r>
              <a:endParaRPr lang="en-US" sz="2000">
                <a:latin typeface="Consolas" panose="020B0609020204030204" pitchFamily="49" charset="0"/>
              </a:endParaRPr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B7CDDD5C-0AD8-AFF8-1D32-8DCAC90EBDCD}"/>
                </a:ext>
              </a:extLst>
            </p:cNvPr>
            <p:cNvCxnSpPr>
              <a:cxnSpLocks/>
              <a:endCxn id="9" idx="0"/>
            </p:cNvCxnSpPr>
            <p:nvPr/>
          </p:nvCxnSpPr>
          <p:spPr>
            <a:xfrm>
              <a:off x="9153815" y="2990745"/>
              <a:ext cx="1306451" cy="591655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63973540-D17D-5DAA-E76A-A237CC60095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460264" y="3967990"/>
              <a:ext cx="1" cy="644746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2" name="Arrow: Right 21">
            <a:extLst>
              <a:ext uri="{FF2B5EF4-FFF2-40B4-BE49-F238E27FC236}">
                <a16:creationId xmlns:a16="http://schemas.microsoft.com/office/drawing/2014/main" id="{76DEEC1D-313A-585C-C0DF-DD129E7A6E5E}"/>
              </a:ext>
            </a:extLst>
          </p:cNvPr>
          <p:cNvSpPr/>
          <p:nvPr/>
        </p:nvSpPr>
        <p:spPr>
          <a:xfrm>
            <a:off x="5799105" y="3429000"/>
            <a:ext cx="800195" cy="538990"/>
          </a:xfrm>
          <a:prstGeom prst="rightArrow">
            <a:avLst/>
          </a:prstGeom>
          <a:ln>
            <a:headEnd type="none" w="med" len="med"/>
            <a:tailEnd type="arrow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E425BC3-7E32-31AE-40DA-1C31BCA40749}"/>
              </a:ext>
            </a:extLst>
          </p:cNvPr>
          <p:cNvSpPr txBox="1"/>
          <p:nvPr/>
        </p:nvSpPr>
        <p:spPr>
          <a:xfrm>
            <a:off x="7335309" y="3151602"/>
            <a:ext cx="4260041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500">
                <a:latin typeface="Consolas" panose="020B0609020204030204" pitchFamily="49" charset="0"/>
              </a:rPr>
              <a:t>SELECT name</a:t>
            </a:r>
          </a:p>
          <a:p>
            <a:r>
              <a:rPr lang="en-GB" sz="2500">
                <a:latin typeface="Consolas" panose="020B0609020204030204" pitchFamily="49" charset="0"/>
              </a:rPr>
              <a:t>FROM Students</a:t>
            </a:r>
          </a:p>
          <a:p>
            <a:r>
              <a:rPr lang="en-GB" sz="2500">
                <a:latin typeface="Consolas" panose="020B0609020204030204" pitchFamily="49" charset="0"/>
              </a:rPr>
              <a:t>WHERE age == 18</a:t>
            </a:r>
          </a:p>
        </p:txBody>
      </p:sp>
    </p:spTree>
    <p:extLst>
      <p:ext uri="{BB962C8B-B14F-4D97-AF65-F5344CB8AC3E}">
        <p14:creationId xmlns:p14="http://schemas.microsoft.com/office/powerpoint/2010/main" val="322460591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4690FC-F495-8F56-31EB-D7710E1611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19E961-A4E2-0B13-2F00-70B5903D91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3. Analysis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A7FDA4-50B8-B3E1-694D-2332EDB019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890E68-D690-4AC2-96FA-C0B5F80968DC}" type="slidenum">
              <a:rPr lang="en-US" smtClean="0"/>
              <a:t>18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1E1383E-BBDF-8D1B-4298-E7FBCB663C3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GB"/>
              <a:t>Proposal</a:t>
            </a:r>
            <a:endParaRPr lang="en-US"/>
          </a:p>
        </p:txBody>
      </p:sp>
      <p:sp>
        <p:nvSpPr>
          <p:cNvPr id="22" name="Arrow: Right 21">
            <a:extLst>
              <a:ext uri="{FF2B5EF4-FFF2-40B4-BE49-F238E27FC236}">
                <a16:creationId xmlns:a16="http://schemas.microsoft.com/office/drawing/2014/main" id="{3887C2CF-24D4-D614-77F4-AEFC978E0AC6}"/>
              </a:ext>
            </a:extLst>
          </p:cNvPr>
          <p:cNvSpPr/>
          <p:nvPr/>
        </p:nvSpPr>
        <p:spPr>
          <a:xfrm>
            <a:off x="5799105" y="3429000"/>
            <a:ext cx="800195" cy="538990"/>
          </a:xfrm>
          <a:prstGeom prst="rightArrow">
            <a:avLst/>
          </a:prstGeom>
          <a:ln>
            <a:headEnd type="none" w="med" len="med"/>
            <a:tailEnd type="arrow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BDDD366-DCE2-4E6F-6010-1ACBF7ECF698}"/>
              </a:ext>
            </a:extLst>
          </p:cNvPr>
          <p:cNvSpPr txBox="1"/>
          <p:nvPr/>
        </p:nvSpPr>
        <p:spPr>
          <a:xfrm>
            <a:off x="1835959" y="3075247"/>
            <a:ext cx="2964641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500">
                <a:latin typeface="Consolas" panose="020B0609020204030204" pitchFamily="49" charset="0"/>
              </a:rPr>
              <a:t>SELECT name</a:t>
            </a:r>
          </a:p>
          <a:p>
            <a:r>
              <a:rPr lang="en-GB" sz="2500">
                <a:latin typeface="Consolas" panose="020B0609020204030204" pitchFamily="49" charset="0"/>
              </a:rPr>
              <a:t>FROM Students</a:t>
            </a:r>
          </a:p>
          <a:p>
            <a:r>
              <a:rPr lang="en-GB" sz="2500">
                <a:latin typeface="Consolas" panose="020B0609020204030204" pitchFamily="49" charset="0"/>
              </a:rPr>
              <a:t>WHERE age == 18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A6724DA-EF76-5B85-DF9E-FF249C060FCA}"/>
              </a:ext>
            </a:extLst>
          </p:cNvPr>
          <p:cNvSpPr txBox="1"/>
          <p:nvPr/>
        </p:nvSpPr>
        <p:spPr>
          <a:xfrm>
            <a:off x="7852178" y="3075247"/>
            <a:ext cx="2832387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500">
                <a:solidFill>
                  <a:srgbClr val="CB0756"/>
                </a:solidFill>
                <a:latin typeface="Consolas" panose="020B0609020204030204" pitchFamily="49" charset="0"/>
              </a:rPr>
              <a:t>SELECT</a:t>
            </a:r>
            <a:r>
              <a:rPr lang="en-GB" sz="2500">
                <a:latin typeface="Consolas" panose="020B0609020204030204" pitchFamily="49" charset="0"/>
              </a:rPr>
              <a:t> name</a:t>
            </a:r>
          </a:p>
          <a:p>
            <a:r>
              <a:rPr lang="en-GB" sz="2500">
                <a:solidFill>
                  <a:srgbClr val="CB0756"/>
                </a:solidFill>
                <a:latin typeface="Consolas" panose="020B0609020204030204" pitchFamily="49" charset="0"/>
              </a:rPr>
              <a:t>FROM</a:t>
            </a:r>
            <a:r>
              <a:rPr lang="en-GB" sz="2500">
                <a:latin typeface="Consolas" panose="020B0609020204030204" pitchFamily="49" charset="0"/>
              </a:rPr>
              <a:t> Students</a:t>
            </a:r>
          </a:p>
          <a:p>
            <a:r>
              <a:rPr lang="en-GB" sz="2500">
                <a:solidFill>
                  <a:srgbClr val="CB0756"/>
                </a:solidFill>
                <a:latin typeface="Consolas" panose="020B0609020204030204" pitchFamily="49" charset="0"/>
              </a:rPr>
              <a:t>WHERE</a:t>
            </a:r>
            <a:r>
              <a:rPr lang="en-GB" sz="2500">
                <a:latin typeface="Consolas" panose="020B0609020204030204" pitchFamily="49" charset="0"/>
              </a:rPr>
              <a:t> </a:t>
            </a:r>
            <a:r>
              <a:rPr lang="en-GB" sz="2500">
                <a:uFill>
                  <a:solidFill>
                    <a:srgbClr val="FF0000"/>
                  </a:solidFill>
                </a:uFill>
                <a:latin typeface="Consolas" panose="020B0609020204030204" pitchFamily="49" charset="0"/>
              </a:rPr>
              <a:t>age</a:t>
            </a:r>
            <a:r>
              <a:rPr lang="en-GB" sz="2500">
                <a:latin typeface="Consolas" panose="020B0609020204030204" pitchFamily="49" charset="0"/>
              </a:rPr>
              <a:t> == </a:t>
            </a:r>
            <a:r>
              <a:rPr lang="en-GB" sz="2500">
                <a:solidFill>
                  <a:srgbClr val="447DE4"/>
                </a:solidFill>
                <a:latin typeface="Consolas" panose="020B0609020204030204" pitchFamily="49" charset="0"/>
              </a:rPr>
              <a:t>18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FFD9811-593B-0B76-5DFA-2C13BA46AF80}"/>
              </a:ext>
            </a:extLst>
          </p:cNvPr>
          <p:cNvSpPr txBox="1"/>
          <p:nvPr/>
        </p:nvSpPr>
        <p:spPr>
          <a:xfrm>
            <a:off x="7457843" y="4589799"/>
            <a:ext cx="362105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000"/>
              <a:t>Parse Successful✅</a:t>
            </a:r>
          </a:p>
          <a:p>
            <a:r>
              <a:rPr lang="en-GB" sz="3000"/>
              <a:t>1 Semantic Error ❌</a:t>
            </a:r>
            <a:endParaRPr lang="en-US" sz="300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B1AE273-CC50-B3A5-B7E2-51DDF87F6E48}"/>
              </a:ext>
            </a:extLst>
          </p:cNvPr>
          <p:cNvSpPr txBox="1"/>
          <p:nvPr/>
        </p:nvSpPr>
        <p:spPr>
          <a:xfrm>
            <a:off x="8902412" y="3838911"/>
            <a:ext cx="731918" cy="477054"/>
          </a:xfrm>
          <a:prstGeom prst="rect">
            <a:avLst/>
          </a:prstGeom>
          <a:noFill/>
        </p:spPr>
        <p:txBody>
          <a:bodyPr wrap="square" lIns="90000" tIns="43200" rtlCol="0">
            <a:spAutoFit/>
          </a:bodyPr>
          <a:lstStyle/>
          <a:p>
            <a:r>
              <a:rPr lang="en-GB" sz="2500" u="wavyHeavy">
                <a:uFill>
                  <a:solidFill>
                    <a:srgbClr val="FF0000"/>
                  </a:solidFill>
                </a:uFill>
                <a:latin typeface="Consolas" panose="020B0609020204030204" pitchFamily="49" charset="0"/>
              </a:rPr>
              <a:t>age</a:t>
            </a:r>
            <a:endParaRPr lang="en-GB" sz="2500">
              <a:solidFill>
                <a:srgbClr val="447DE4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07750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/>
      <p:bldP spid="26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2C81DC-D30E-7AB1-3F85-1AEED17A68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87A4DC-FB8A-CC51-3D31-BCF791A429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4. Projection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7F0468-F422-5078-5688-122D181737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890E68-D690-4AC2-96FA-C0B5F80968DC}" type="slidenum">
              <a:rPr lang="en-US" smtClean="0"/>
              <a:t>19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195F0D5-6D59-BBFC-F649-828C891D1E6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GB"/>
              <a:t>Proposal</a:t>
            </a:r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67B0438-C999-AE01-0371-86B60EE8C09D}"/>
              </a:ext>
            </a:extLst>
          </p:cNvPr>
          <p:cNvSpPr txBox="1"/>
          <p:nvPr/>
        </p:nvSpPr>
        <p:spPr>
          <a:xfrm>
            <a:off x="1351987" y="2758411"/>
            <a:ext cx="2832387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500">
                <a:solidFill>
                  <a:srgbClr val="CB0756"/>
                </a:solidFill>
                <a:latin typeface="Consolas" panose="020B0609020204030204" pitchFamily="49" charset="0"/>
              </a:rPr>
              <a:t>SELECT</a:t>
            </a:r>
            <a:r>
              <a:rPr lang="en-GB" sz="2500">
                <a:latin typeface="Consolas" panose="020B0609020204030204" pitchFamily="49" charset="0"/>
              </a:rPr>
              <a:t> name</a:t>
            </a:r>
          </a:p>
          <a:p>
            <a:r>
              <a:rPr lang="en-GB" sz="2500">
                <a:solidFill>
                  <a:srgbClr val="CB0756"/>
                </a:solidFill>
                <a:latin typeface="Consolas" panose="020B0609020204030204" pitchFamily="49" charset="0"/>
              </a:rPr>
              <a:t>FROM</a:t>
            </a:r>
            <a:r>
              <a:rPr lang="en-GB" sz="2500">
                <a:latin typeface="Consolas" panose="020B0609020204030204" pitchFamily="49" charset="0"/>
              </a:rPr>
              <a:t> Students</a:t>
            </a:r>
          </a:p>
          <a:p>
            <a:r>
              <a:rPr lang="en-GB" sz="2500">
                <a:solidFill>
                  <a:srgbClr val="CB0756"/>
                </a:solidFill>
                <a:latin typeface="Consolas" panose="020B0609020204030204" pitchFamily="49" charset="0"/>
              </a:rPr>
              <a:t>WHERE</a:t>
            </a:r>
            <a:r>
              <a:rPr lang="en-GB" sz="2500">
                <a:latin typeface="Consolas" panose="020B0609020204030204" pitchFamily="49" charset="0"/>
              </a:rPr>
              <a:t> </a:t>
            </a:r>
            <a:r>
              <a:rPr lang="en-GB" sz="2500">
                <a:uFill>
                  <a:solidFill>
                    <a:srgbClr val="FF0000"/>
                  </a:solidFill>
                </a:uFill>
                <a:latin typeface="Consolas" panose="020B0609020204030204" pitchFamily="49" charset="0"/>
              </a:rPr>
              <a:t>age</a:t>
            </a:r>
            <a:r>
              <a:rPr lang="en-GB" sz="2500">
                <a:latin typeface="Consolas" panose="020B0609020204030204" pitchFamily="49" charset="0"/>
              </a:rPr>
              <a:t> == </a:t>
            </a:r>
            <a:r>
              <a:rPr lang="en-GB" sz="2500">
                <a:solidFill>
                  <a:srgbClr val="447DE4"/>
                </a:solidFill>
                <a:latin typeface="Consolas" panose="020B0609020204030204" pitchFamily="49" charset="0"/>
              </a:rPr>
              <a:t>18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1BF3731-16B6-076D-3207-F5C4FDC35BDA}"/>
              </a:ext>
            </a:extLst>
          </p:cNvPr>
          <p:cNvSpPr txBox="1"/>
          <p:nvPr/>
        </p:nvSpPr>
        <p:spPr>
          <a:xfrm>
            <a:off x="957652" y="4272963"/>
            <a:ext cx="362105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000"/>
              <a:t>Parse Successful✅</a:t>
            </a:r>
          </a:p>
          <a:p>
            <a:r>
              <a:rPr lang="en-GB" sz="3000"/>
              <a:t>1 Semantic Error ❌</a:t>
            </a:r>
            <a:endParaRPr lang="en-US" sz="300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4C91094-DBB4-4657-EAC2-B02E0D2E5B23}"/>
              </a:ext>
            </a:extLst>
          </p:cNvPr>
          <p:cNvSpPr txBox="1"/>
          <p:nvPr/>
        </p:nvSpPr>
        <p:spPr>
          <a:xfrm>
            <a:off x="2402221" y="3522075"/>
            <a:ext cx="731918" cy="477054"/>
          </a:xfrm>
          <a:prstGeom prst="rect">
            <a:avLst/>
          </a:prstGeom>
          <a:noFill/>
        </p:spPr>
        <p:txBody>
          <a:bodyPr wrap="square" lIns="90000" tIns="43200" rtlCol="0">
            <a:spAutoFit/>
          </a:bodyPr>
          <a:lstStyle/>
          <a:p>
            <a:r>
              <a:rPr lang="en-GB" sz="2500" u="wavyHeavy">
                <a:uFill>
                  <a:solidFill>
                    <a:srgbClr val="FF0000"/>
                  </a:solidFill>
                </a:uFill>
                <a:latin typeface="Consolas" panose="020B0609020204030204" pitchFamily="49" charset="0"/>
              </a:rPr>
              <a:t>age</a:t>
            </a:r>
            <a:endParaRPr lang="en-GB" sz="2500">
              <a:solidFill>
                <a:srgbClr val="447DE4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94B8E104-D46F-12F5-055F-4ECF2E13AF4F}"/>
              </a:ext>
            </a:extLst>
          </p:cNvPr>
          <p:cNvSpPr/>
          <p:nvPr/>
        </p:nvSpPr>
        <p:spPr>
          <a:xfrm>
            <a:off x="5799105" y="3429000"/>
            <a:ext cx="800195" cy="538990"/>
          </a:xfrm>
          <a:prstGeom prst="rightArrow">
            <a:avLst/>
          </a:prstGeom>
          <a:ln>
            <a:headEnd type="none" w="med" len="med"/>
            <a:tailEnd type="arrow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3B6C6E2-97C2-47DE-2E21-34B1DC5EF3DD}"/>
              </a:ext>
            </a:extLst>
          </p:cNvPr>
          <p:cNvSpPr/>
          <p:nvPr/>
        </p:nvSpPr>
        <p:spPr>
          <a:xfrm>
            <a:off x="6599300" y="2187747"/>
            <a:ext cx="5347535" cy="3021496"/>
          </a:xfrm>
          <a:prstGeom prst="rect">
            <a:avLst/>
          </a:prstGeom>
          <a:solidFill>
            <a:schemeClr val="bg1"/>
          </a:solidFill>
          <a:ln w="3810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>
                <a:solidFill>
                  <a:srgbClr val="CB0756"/>
                </a:solidFill>
                <a:latin typeface="Consolas" panose="020B0609020204030204" pitchFamily="49" charset="0"/>
              </a:rPr>
              <a:t>class</a:t>
            </a:r>
            <a:r>
              <a:rPr lang="en-US">
                <a:solidFill>
                  <a:schemeClr val="tx1"/>
                </a:solidFill>
                <a:latin typeface="Consolas" panose="020B0609020204030204" pitchFamily="49" charset="0"/>
              </a:rPr>
              <a:t> Bar {</a:t>
            </a:r>
          </a:p>
          <a:p>
            <a:r>
              <a:rPr lang="en-US">
                <a:solidFill>
                  <a:schemeClr val="tx1"/>
                </a:solidFill>
                <a:latin typeface="Consolas" panose="020B0609020204030204" pitchFamily="49" charset="0"/>
              </a:rPr>
              <a:t>  ...</a:t>
            </a:r>
          </a:p>
          <a:p>
            <a:r>
              <a:rPr lang="en-US">
                <a:solidFill>
                  <a:schemeClr val="tx1"/>
                </a:solidFill>
                <a:latin typeface="Consolas" panose="020B0609020204030204" pitchFamily="49" charset="0"/>
              </a:rPr>
              <a:t>  </a:t>
            </a:r>
            <a:r>
              <a:rPr lang="en-US">
                <a:solidFill>
                  <a:srgbClr val="CB0756"/>
                </a:solidFill>
                <a:latin typeface="Consolas" panose="020B0609020204030204" pitchFamily="49" charset="0"/>
              </a:rPr>
              <a:t>public</a:t>
            </a:r>
            <a:r>
              <a:rPr lang="en-US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>
                <a:solidFill>
                  <a:srgbClr val="CB0756"/>
                </a:solidFill>
                <a:latin typeface="Consolas" panose="020B0609020204030204" pitchFamily="49" charset="0"/>
              </a:rPr>
              <a:t>void</a:t>
            </a:r>
            <a:r>
              <a:rPr lang="en-US">
                <a:solidFill>
                  <a:schemeClr val="tx1"/>
                </a:solidFill>
                <a:latin typeface="Consolas" panose="020B0609020204030204" pitchFamily="49" charset="0"/>
              </a:rPr>
              <a:t> foo() {</a:t>
            </a:r>
          </a:p>
          <a:p>
            <a:r>
              <a:rPr lang="en-US">
                <a:solidFill>
                  <a:schemeClr val="tx1"/>
                </a:solidFill>
                <a:latin typeface="Consolas" panose="020B0609020204030204" pitchFamily="49" charset="0"/>
              </a:rPr>
              <a:t>    ...</a:t>
            </a:r>
          </a:p>
          <a:p>
            <a:r>
              <a:rPr lang="en-US">
                <a:solidFill>
                  <a:schemeClr val="tx1"/>
                </a:solidFill>
                <a:latin typeface="Consolas" panose="020B0609020204030204" pitchFamily="49" charset="0"/>
              </a:rPr>
              <a:t>    Query query = SQL.</a:t>
            </a:r>
            <a:r>
              <a:rPr lang="en-US">
                <a:solidFill>
                  <a:srgbClr val="CB0756"/>
                </a:solidFill>
                <a:latin typeface="Consolas" panose="020B0609020204030204" pitchFamily="49" charset="0"/>
              </a:rPr>
              <a:t>select</a:t>
            </a:r>
            <a:r>
              <a:rPr lang="en-US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>
                <a:solidFill>
                  <a:srgbClr val="129204"/>
                </a:solidFill>
                <a:latin typeface="Consolas" panose="020B0609020204030204" pitchFamily="49" charset="0"/>
              </a:rPr>
              <a:t>"</a:t>
            </a:r>
            <a:r>
              <a:rPr lang="en-US">
                <a:solidFill>
                  <a:schemeClr val="tx1"/>
                </a:solidFill>
                <a:latin typeface="Consolas" panose="020B0609020204030204" pitchFamily="49" charset="0"/>
              </a:rPr>
              <a:t>name</a:t>
            </a:r>
            <a:r>
              <a:rPr lang="en-US">
                <a:solidFill>
                  <a:srgbClr val="129204"/>
                </a:solidFill>
                <a:latin typeface="Consolas" panose="020B0609020204030204" pitchFamily="49" charset="0"/>
              </a:rPr>
              <a:t>"</a:t>
            </a:r>
            <a:r>
              <a:rPr lang="en-US">
                <a:solidFill>
                  <a:schemeClr val="tx1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>
                <a:solidFill>
                  <a:schemeClr val="tx1"/>
                </a:solidFill>
                <a:latin typeface="Consolas" panose="020B0609020204030204" pitchFamily="49" charset="0"/>
              </a:rPr>
              <a:t>                     .</a:t>
            </a:r>
            <a:r>
              <a:rPr lang="en-US">
                <a:solidFill>
                  <a:srgbClr val="CB0756"/>
                </a:solidFill>
                <a:latin typeface="Consolas" panose="020B0609020204030204" pitchFamily="49" charset="0"/>
              </a:rPr>
              <a:t>from</a:t>
            </a:r>
            <a:r>
              <a:rPr lang="en-US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>
                <a:solidFill>
                  <a:srgbClr val="129204"/>
                </a:solidFill>
                <a:latin typeface="Consolas" panose="020B0609020204030204" pitchFamily="49" charset="0"/>
              </a:rPr>
              <a:t>"</a:t>
            </a:r>
            <a:r>
              <a:rPr lang="en-US">
                <a:solidFill>
                  <a:schemeClr val="tx1"/>
                </a:solidFill>
                <a:latin typeface="Consolas" panose="020B0609020204030204" pitchFamily="49" charset="0"/>
              </a:rPr>
              <a:t>Students</a:t>
            </a:r>
            <a:r>
              <a:rPr lang="en-US">
                <a:solidFill>
                  <a:srgbClr val="129204"/>
                </a:solidFill>
                <a:latin typeface="Consolas" panose="020B0609020204030204" pitchFamily="49" charset="0"/>
              </a:rPr>
              <a:t>"</a:t>
            </a:r>
            <a:r>
              <a:rPr lang="en-US">
                <a:solidFill>
                  <a:schemeClr val="tx1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>
                <a:solidFill>
                  <a:schemeClr val="tx1"/>
                </a:solidFill>
                <a:latin typeface="Consolas" panose="020B0609020204030204" pitchFamily="49" charset="0"/>
              </a:rPr>
              <a:t>                     .</a:t>
            </a:r>
            <a:r>
              <a:rPr lang="en-US">
                <a:solidFill>
                  <a:srgbClr val="CB0756"/>
                </a:solidFill>
                <a:latin typeface="Consolas" panose="020B0609020204030204" pitchFamily="49" charset="0"/>
              </a:rPr>
              <a:t>where</a:t>
            </a:r>
            <a:r>
              <a:rPr lang="en-US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>
                <a:solidFill>
                  <a:srgbClr val="129204"/>
                </a:solidFill>
                <a:latin typeface="Consolas" panose="020B0609020204030204" pitchFamily="49" charset="0"/>
              </a:rPr>
              <a:t>"</a:t>
            </a:r>
            <a:r>
              <a:rPr lang="en-US" u="wavyHeavy">
                <a:solidFill>
                  <a:schemeClr val="tx1"/>
                </a:solidFill>
                <a:uFill>
                  <a:solidFill>
                    <a:srgbClr val="FF0000"/>
                  </a:solidFill>
                </a:uFill>
                <a:latin typeface="Consolas" panose="020B0609020204030204" pitchFamily="49" charset="0"/>
              </a:rPr>
              <a:t>age</a:t>
            </a:r>
            <a:r>
              <a:rPr lang="en-US">
                <a:solidFill>
                  <a:schemeClr val="tx1"/>
                </a:solidFill>
                <a:latin typeface="Consolas" panose="020B0609020204030204" pitchFamily="49" charset="0"/>
              </a:rPr>
              <a:t> == </a:t>
            </a:r>
            <a:r>
              <a:rPr lang="en-US">
                <a:solidFill>
                  <a:srgbClr val="447DE4"/>
                </a:solidFill>
                <a:latin typeface="Consolas" panose="020B0609020204030204" pitchFamily="49" charset="0"/>
              </a:rPr>
              <a:t>18</a:t>
            </a:r>
            <a:r>
              <a:rPr lang="en-US">
                <a:solidFill>
                  <a:srgbClr val="129204"/>
                </a:solidFill>
                <a:latin typeface="Consolas" panose="020B0609020204030204" pitchFamily="49" charset="0"/>
              </a:rPr>
              <a:t>"</a:t>
            </a:r>
            <a:r>
              <a:rPr lang="en-US">
                <a:solidFill>
                  <a:schemeClr val="tx1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>
                <a:solidFill>
                  <a:schemeClr val="tx1"/>
                </a:solidFill>
                <a:latin typeface="Consolas" panose="020B0609020204030204" pitchFamily="49" charset="0"/>
              </a:rPr>
              <a:t>    ...</a:t>
            </a:r>
          </a:p>
          <a:p>
            <a:r>
              <a:rPr lang="en-US">
                <a:solidFill>
                  <a:schemeClr val="tx1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en-US">
                <a:solidFill>
                  <a:schemeClr val="tx1"/>
                </a:solidFill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58287981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7812E4-BE95-0969-B5C0-B0C3FCAD9F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6B0115-2154-B082-1931-159BBB72BF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4. Projection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528019-26AC-82A8-F50E-3A1424123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890E68-D690-4AC2-96FA-C0B5F80968DC}" type="slidenum">
              <a:rPr lang="en-US" smtClean="0"/>
              <a:t>20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1D412F2-700C-B263-751C-10B73E6652A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GB"/>
              <a:t>Proposal</a:t>
            </a:r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132A372-530F-30AC-78FC-35E1148C4F9C}"/>
              </a:ext>
            </a:extLst>
          </p:cNvPr>
          <p:cNvSpPr txBox="1"/>
          <p:nvPr/>
        </p:nvSpPr>
        <p:spPr>
          <a:xfrm>
            <a:off x="1351987" y="2758411"/>
            <a:ext cx="2832387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500">
                <a:solidFill>
                  <a:srgbClr val="CB0756"/>
                </a:solidFill>
                <a:latin typeface="Consolas" panose="020B0609020204030204" pitchFamily="49" charset="0"/>
              </a:rPr>
              <a:t>SELECT</a:t>
            </a:r>
            <a:r>
              <a:rPr lang="en-GB" sz="2500">
                <a:latin typeface="Consolas" panose="020B0609020204030204" pitchFamily="49" charset="0"/>
              </a:rPr>
              <a:t> name</a:t>
            </a:r>
          </a:p>
          <a:p>
            <a:r>
              <a:rPr lang="en-GB" sz="2500">
                <a:solidFill>
                  <a:srgbClr val="CB0756"/>
                </a:solidFill>
                <a:latin typeface="Consolas" panose="020B0609020204030204" pitchFamily="49" charset="0"/>
              </a:rPr>
              <a:t>FROM</a:t>
            </a:r>
            <a:r>
              <a:rPr lang="en-GB" sz="2500">
                <a:latin typeface="Consolas" panose="020B0609020204030204" pitchFamily="49" charset="0"/>
              </a:rPr>
              <a:t> Students</a:t>
            </a:r>
          </a:p>
          <a:p>
            <a:r>
              <a:rPr lang="en-GB" sz="2500">
                <a:solidFill>
                  <a:srgbClr val="CB0756"/>
                </a:solidFill>
                <a:latin typeface="Consolas" panose="020B0609020204030204" pitchFamily="49" charset="0"/>
              </a:rPr>
              <a:t>WHERE</a:t>
            </a:r>
            <a:r>
              <a:rPr lang="en-GB" sz="2500">
                <a:latin typeface="Consolas" panose="020B0609020204030204" pitchFamily="49" charset="0"/>
              </a:rPr>
              <a:t> </a:t>
            </a:r>
            <a:r>
              <a:rPr lang="en-GB" sz="2500">
                <a:uFill>
                  <a:solidFill>
                    <a:srgbClr val="FF0000"/>
                  </a:solidFill>
                </a:uFill>
                <a:latin typeface="Consolas" panose="020B0609020204030204" pitchFamily="49" charset="0"/>
              </a:rPr>
              <a:t>age</a:t>
            </a:r>
            <a:r>
              <a:rPr lang="en-GB" sz="2500">
                <a:latin typeface="Consolas" panose="020B0609020204030204" pitchFamily="49" charset="0"/>
              </a:rPr>
              <a:t> == </a:t>
            </a:r>
            <a:r>
              <a:rPr lang="en-GB" sz="2500">
                <a:solidFill>
                  <a:srgbClr val="447DE4"/>
                </a:solidFill>
                <a:latin typeface="Consolas" panose="020B0609020204030204" pitchFamily="49" charset="0"/>
              </a:rPr>
              <a:t>18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5C97CCE-7919-9491-8E88-E69B6B1E2F47}"/>
              </a:ext>
            </a:extLst>
          </p:cNvPr>
          <p:cNvSpPr txBox="1"/>
          <p:nvPr/>
        </p:nvSpPr>
        <p:spPr>
          <a:xfrm>
            <a:off x="957652" y="4272963"/>
            <a:ext cx="362105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000"/>
              <a:t>Parse Successful✅</a:t>
            </a:r>
          </a:p>
          <a:p>
            <a:r>
              <a:rPr lang="en-GB" sz="3000"/>
              <a:t>1 Semantic Error ❌</a:t>
            </a:r>
            <a:endParaRPr lang="en-US" sz="300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B4926B2-376A-2BDE-33FB-B41CB0AD80C9}"/>
              </a:ext>
            </a:extLst>
          </p:cNvPr>
          <p:cNvSpPr txBox="1"/>
          <p:nvPr/>
        </p:nvSpPr>
        <p:spPr>
          <a:xfrm>
            <a:off x="2402221" y="3522075"/>
            <a:ext cx="731918" cy="477054"/>
          </a:xfrm>
          <a:prstGeom prst="rect">
            <a:avLst/>
          </a:prstGeom>
          <a:noFill/>
        </p:spPr>
        <p:txBody>
          <a:bodyPr wrap="square" lIns="90000" tIns="43200" rtlCol="0">
            <a:spAutoFit/>
          </a:bodyPr>
          <a:lstStyle/>
          <a:p>
            <a:r>
              <a:rPr lang="en-GB" sz="2500" u="wavyHeavy">
                <a:uFill>
                  <a:solidFill>
                    <a:srgbClr val="FF0000"/>
                  </a:solidFill>
                </a:uFill>
                <a:latin typeface="Consolas" panose="020B0609020204030204" pitchFamily="49" charset="0"/>
              </a:rPr>
              <a:t>age</a:t>
            </a:r>
            <a:endParaRPr lang="en-GB" sz="2500">
              <a:solidFill>
                <a:srgbClr val="447DE4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A2738F2F-FD1B-2659-F095-2097F0F9DC20}"/>
              </a:ext>
            </a:extLst>
          </p:cNvPr>
          <p:cNvSpPr/>
          <p:nvPr/>
        </p:nvSpPr>
        <p:spPr>
          <a:xfrm>
            <a:off x="5799105" y="3429000"/>
            <a:ext cx="800195" cy="538990"/>
          </a:xfrm>
          <a:prstGeom prst="rightArrow">
            <a:avLst/>
          </a:prstGeom>
          <a:ln>
            <a:headEnd type="none" w="med" len="med"/>
            <a:tailEnd type="arrow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1D2C977-31E7-1F1B-7785-939B5462B94B}"/>
              </a:ext>
            </a:extLst>
          </p:cNvPr>
          <p:cNvSpPr/>
          <p:nvPr/>
        </p:nvSpPr>
        <p:spPr>
          <a:xfrm>
            <a:off x="6599300" y="2187747"/>
            <a:ext cx="5347535" cy="3021496"/>
          </a:xfrm>
          <a:prstGeom prst="rect">
            <a:avLst/>
          </a:prstGeom>
          <a:solidFill>
            <a:schemeClr val="bg1"/>
          </a:solidFill>
          <a:ln w="3810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>
                <a:solidFill>
                  <a:srgbClr val="CB0756"/>
                </a:solidFill>
                <a:latin typeface="Consolas" panose="020B0609020204030204" pitchFamily="49" charset="0"/>
              </a:rPr>
              <a:t>class</a:t>
            </a:r>
            <a:r>
              <a:rPr lang="en-US">
                <a:solidFill>
                  <a:schemeClr val="tx1"/>
                </a:solidFill>
                <a:latin typeface="Consolas" panose="020B0609020204030204" pitchFamily="49" charset="0"/>
              </a:rPr>
              <a:t> Bar {</a:t>
            </a:r>
          </a:p>
          <a:p>
            <a:r>
              <a:rPr lang="en-US">
                <a:solidFill>
                  <a:schemeClr val="tx1"/>
                </a:solidFill>
                <a:latin typeface="Consolas" panose="020B0609020204030204" pitchFamily="49" charset="0"/>
              </a:rPr>
              <a:t>  ...</a:t>
            </a:r>
          </a:p>
          <a:p>
            <a:r>
              <a:rPr lang="en-US">
                <a:solidFill>
                  <a:schemeClr val="tx1"/>
                </a:solidFill>
                <a:latin typeface="Consolas" panose="020B0609020204030204" pitchFamily="49" charset="0"/>
              </a:rPr>
              <a:t>  </a:t>
            </a:r>
            <a:r>
              <a:rPr lang="en-US">
                <a:solidFill>
                  <a:srgbClr val="CB0756"/>
                </a:solidFill>
                <a:latin typeface="Consolas" panose="020B0609020204030204" pitchFamily="49" charset="0"/>
              </a:rPr>
              <a:t>public</a:t>
            </a:r>
            <a:r>
              <a:rPr lang="en-US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>
                <a:solidFill>
                  <a:srgbClr val="CB0756"/>
                </a:solidFill>
                <a:latin typeface="Consolas" panose="020B0609020204030204" pitchFamily="49" charset="0"/>
              </a:rPr>
              <a:t>void</a:t>
            </a:r>
            <a:r>
              <a:rPr lang="en-US">
                <a:solidFill>
                  <a:schemeClr val="tx1"/>
                </a:solidFill>
                <a:latin typeface="Consolas" panose="020B0609020204030204" pitchFamily="49" charset="0"/>
              </a:rPr>
              <a:t> foo() {</a:t>
            </a:r>
          </a:p>
          <a:p>
            <a:r>
              <a:rPr lang="en-US">
                <a:solidFill>
                  <a:schemeClr val="tx1"/>
                </a:solidFill>
                <a:latin typeface="Consolas" panose="020B0609020204030204" pitchFamily="49" charset="0"/>
              </a:rPr>
              <a:t>    ...</a:t>
            </a:r>
          </a:p>
          <a:p>
            <a:r>
              <a:rPr lang="en-US">
                <a:solidFill>
                  <a:schemeClr val="tx1"/>
                </a:solidFill>
                <a:latin typeface="Consolas" panose="020B0609020204030204" pitchFamily="49" charset="0"/>
              </a:rPr>
              <a:t>    Query query = SQL.</a:t>
            </a:r>
            <a:r>
              <a:rPr lang="en-US">
                <a:solidFill>
                  <a:srgbClr val="CB0756"/>
                </a:solidFill>
                <a:latin typeface="Consolas" panose="020B0609020204030204" pitchFamily="49" charset="0"/>
              </a:rPr>
              <a:t>select</a:t>
            </a:r>
            <a:r>
              <a:rPr lang="en-US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>
                <a:solidFill>
                  <a:srgbClr val="129204"/>
                </a:solidFill>
                <a:latin typeface="Consolas" panose="020B0609020204030204" pitchFamily="49" charset="0"/>
              </a:rPr>
              <a:t>"</a:t>
            </a:r>
            <a:r>
              <a:rPr lang="en-US">
                <a:solidFill>
                  <a:schemeClr val="tx1"/>
                </a:solidFill>
                <a:latin typeface="Consolas" panose="020B0609020204030204" pitchFamily="49" charset="0"/>
              </a:rPr>
              <a:t>name</a:t>
            </a:r>
            <a:r>
              <a:rPr lang="en-US">
                <a:solidFill>
                  <a:srgbClr val="129204"/>
                </a:solidFill>
                <a:latin typeface="Consolas" panose="020B0609020204030204" pitchFamily="49" charset="0"/>
              </a:rPr>
              <a:t>"</a:t>
            </a:r>
            <a:r>
              <a:rPr lang="en-US">
                <a:solidFill>
                  <a:schemeClr val="tx1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>
                <a:solidFill>
                  <a:schemeClr val="tx1"/>
                </a:solidFill>
                <a:latin typeface="Consolas" panose="020B0609020204030204" pitchFamily="49" charset="0"/>
              </a:rPr>
              <a:t>                     .</a:t>
            </a:r>
            <a:r>
              <a:rPr lang="en-US">
                <a:solidFill>
                  <a:srgbClr val="CB0756"/>
                </a:solidFill>
                <a:latin typeface="Consolas" panose="020B0609020204030204" pitchFamily="49" charset="0"/>
              </a:rPr>
              <a:t>from</a:t>
            </a:r>
            <a:r>
              <a:rPr lang="en-US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>
                <a:solidFill>
                  <a:srgbClr val="129204"/>
                </a:solidFill>
                <a:latin typeface="Consolas" panose="020B0609020204030204" pitchFamily="49" charset="0"/>
              </a:rPr>
              <a:t>"</a:t>
            </a:r>
            <a:r>
              <a:rPr lang="en-US">
                <a:solidFill>
                  <a:schemeClr val="tx1"/>
                </a:solidFill>
                <a:latin typeface="Consolas" panose="020B0609020204030204" pitchFamily="49" charset="0"/>
              </a:rPr>
              <a:t>Students</a:t>
            </a:r>
            <a:r>
              <a:rPr lang="en-US">
                <a:solidFill>
                  <a:srgbClr val="129204"/>
                </a:solidFill>
                <a:latin typeface="Consolas" panose="020B0609020204030204" pitchFamily="49" charset="0"/>
              </a:rPr>
              <a:t>"</a:t>
            </a:r>
            <a:r>
              <a:rPr lang="en-US">
                <a:solidFill>
                  <a:schemeClr val="tx1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>
                <a:solidFill>
                  <a:schemeClr val="tx1"/>
                </a:solidFill>
                <a:latin typeface="Consolas" panose="020B0609020204030204" pitchFamily="49" charset="0"/>
              </a:rPr>
              <a:t>                     .</a:t>
            </a:r>
            <a:r>
              <a:rPr lang="en-US">
                <a:solidFill>
                  <a:srgbClr val="CB0756"/>
                </a:solidFill>
                <a:latin typeface="Consolas" panose="020B0609020204030204" pitchFamily="49" charset="0"/>
              </a:rPr>
              <a:t>where</a:t>
            </a:r>
            <a:r>
              <a:rPr lang="en-US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>
                <a:solidFill>
                  <a:srgbClr val="129204"/>
                </a:solidFill>
                <a:latin typeface="Consolas" panose="020B0609020204030204" pitchFamily="49" charset="0"/>
              </a:rPr>
              <a:t>"</a:t>
            </a:r>
            <a:r>
              <a:rPr lang="en-US" u="wavyHeavy">
                <a:solidFill>
                  <a:schemeClr val="tx1"/>
                </a:solidFill>
                <a:uFill>
                  <a:solidFill>
                    <a:srgbClr val="FF0000"/>
                  </a:solidFill>
                </a:uFill>
                <a:latin typeface="Consolas" panose="020B0609020204030204" pitchFamily="49" charset="0"/>
              </a:rPr>
              <a:t>age</a:t>
            </a:r>
            <a:r>
              <a:rPr lang="en-US">
                <a:solidFill>
                  <a:schemeClr val="tx1"/>
                </a:solidFill>
                <a:latin typeface="Consolas" panose="020B0609020204030204" pitchFamily="49" charset="0"/>
              </a:rPr>
              <a:t> == </a:t>
            </a:r>
            <a:r>
              <a:rPr lang="en-US">
                <a:solidFill>
                  <a:srgbClr val="447DE4"/>
                </a:solidFill>
                <a:latin typeface="Consolas" panose="020B0609020204030204" pitchFamily="49" charset="0"/>
              </a:rPr>
              <a:t>18</a:t>
            </a:r>
            <a:r>
              <a:rPr lang="en-US">
                <a:solidFill>
                  <a:srgbClr val="129204"/>
                </a:solidFill>
                <a:latin typeface="Consolas" panose="020B0609020204030204" pitchFamily="49" charset="0"/>
              </a:rPr>
              <a:t>"</a:t>
            </a:r>
            <a:r>
              <a:rPr lang="en-US">
                <a:solidFill>
                  <a:schemeClr val="tx1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>
                <a:solidFill>
                  <a:schemeClr val="tx1"/>
                </a:solidFill>
                <a:latin typeface="Consolas" panose="020B0609020204030204" pitchFamily="49" charset="0"/>
              </a:rPr>
              <a:t>    ...</a:t>
            </a:r>
          </a:p>
          <a:p>
            <a:r>
              <a:rPr lang="en-US">
                <a:solidFill>
                  <a:schemeClr val="tx1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en-US">
                <a:solidFill>
                  <a:schemeClr val="tx1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B6771FF-A045-D57E-792F-975A64B38674}"/>
              </a:ext>
            </a:extLst>
          </p:cNvPr>
          <p:cNvSpPr/>
          <p:nvPr/>
        </p:nvSpPr>
        <p:spPr>
          <a:xfrm>
            <a:off x="8171672" y="4272963"/>
            <a:ext cx="3621056" cy="1088919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GB" sz="2200">
                <a:solidFill>
                  <a:schemeClr val="bg2">
                    <a:lumMod val="25000"/>
                  </a:schemeClr>
                </a:solidFill>
              </a:rPr>
              <a:t>Unselected column 'age'</a:t>
            </a:r>
          </a:p>
          <a:p>
            <a:pPr>
              <a:lnSpc>
                <a:spcPct val="200000"/>
              </a:lnSpc>
            </a:pPr>
            <a:r>
              <a:rPr lang="en-US" sz="2200" u="sng">
                <a:solidFill>
                  <a:schemeClr val="tx2">
                    <a:lumMod val="50000"/>
                    <a:lumOff val="50000"/>
                  </a:schemeClr>
                </a:solidFill>
              </a:rPr>
              <a:t>Select 'age' from 'Students'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12E3107-6F8A-B69C-3CBD-28ADF182CD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40173" y="3967990"/>
            <a:ext cx="203569" cy="304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041675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FC9938-621D-0022-6E96-69EE6496D3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F3F4D7-BD7D-D4CD-9A91-3263D36F10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Static Analysis via Backtranslation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4D86CA-3AD8-2205-C016-FC5D537868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890E68-D690-4AC2-96FA-C0B5F80968DC}" type="slidenum">
              <a:rPr lang="en-US" smtClean="0"/>
              <a:t>21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92C6EDE-6B55-2CE2-5CD1-1078859D2D9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GB"/>
              <a:t>Proposal</a:t>
            </a:r>
            <a:endParaRPr lang="en-US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1BACC8FB-61F6-F44F-2C24-0EEAEBECAEC5}"/>
              </a:ext>
            </a:extLst>
          </p:cNvPr>
          <p:cNvSpPr/>
          <p:nvPr/>
        </p:nvSpPr>
        <p:spPr>
          <a:xfrm>
            <a:off x="838200" y="2718352"/>
            <a:ext cx="2196547" cy="2136913"/>
          </a:xfrm>
          <a:prstGeom prst="roundRect">
            <a:avLst/>
          </a:prstGeom>
          <a:solidFill>
            <a:schemeClr val="tx2">
              <a:lumMod val="90000"/>
              <a:lumOff val="10000"/>
            </a:schemeClr>
          </a:solidFill>
          <a:ln w="19050" cap="flat" cmpd="sng" algn="ctr">
            <a:solidFill>
              <a:srgbClr val="0070C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000">
                <a:solidFill>
                  <a:schemeClr val="bg1"/>
                </a:solidFill>
              </a:rPr>
              <a:t>1. Find embedded language code</a:t>
            </a:r>
            <a:endParaRPr lang="en-US" sz="2000">
              <a:solidFill>
                <a:schemeClr val="bg1"/>
              </a:solidFill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FA1C7412-1CE0-9660-2C60-FD984DF65EC9}"/>
              </a:ext>
            </a:extLst>
          </p:cNvPr>
          <p:cNvSpPr/>
          <p:nvPr/>
        </p:nvSpPr>
        <p:spPr>
          <a:xfrm>
            <a:off x="3700758" y="2718351"/>
            <a:ext cx="2196547" cy="2136913"/>
          </a:xfrm>
          <a:prstGeom prst="roundRect">
            <a:avLst/>
          </a:prstGeom>
          <a:solidFill>
            <a:schemeClr val="tx2">
              <a:lumMod val="90000"/>
              <a:lumOff val="10000"/>
            </a:schemeClr>
          </a:solidFill>
          <a:ln w="19050" cap="flat" cmpd="sng" algn="ctr">
            <a:solidFill>
              <a:srgbClr val="0070C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000">
                <a:solidFill>
                  <a:schemeClr val="bg1"/>
                </a:solidFill>
              </a:rPr>
              <a:t>2. Translate to original DSL</a:t>
            </a:r>
            <a:endParaRPr lang="en-US" sz="2000">
              <a:solidFill>
                <a:schemeClr val="bg1"/>
              </a:solidFill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8D574B53-5E1D-3C33-F772-039DD308024B}"/>
              </a:ext>
            </a:extLst>
          </p:cNvPr>
          <p:cNvSpPr/>
          <p:nvPr/>
        </p:nvSpPr>
        <p:spPr>
          <a:xfrm>
            <a:off x="6563316" y="2718350"/>
            <a:ext cx="2196547" cy="2136913"/>
          </a:xfrm>
          <a:prstGeom prst="roundRect">
            <a:avLst/>
          </a:prstGeom>
          <a:solidFill>
            <a:schemeClr val="tx2">
              <a:lumMod val="90000"/>
              <a:lumOff val="10000"/>
            </a:schemeClr>
          </a:solidFill>
          <a:ln w="19050" cap="flat" cmpd="sng" algn="ctr">
            <a:solidFill>
              <a:srgbClr val="0070C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000">
                <a:solidFill>
                  <a:schemeClr val="bg1"/>
                </a:solidFill>
              </a:rPr>
              <a:t>3. Analyze w/ existing tools</a:t>
            </a:r>
            <a:endParaRPr lang="en-US" sz="2000">
              <a:solidFill>
                <a:schemeClr val="bg1"/>
              </a:solidFill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6EB62956-AF09-0936-FFAA-49B3EEA1C4BA}"/>
              </a:ext>
            </a:extLst>
          </p:cNvPr>
          <p:cNvSpPr/>
          <p:nvPr/>
        </p:nvSpPr>
        <p:spPr>
          <a:xfrm>
            <a:off x="9425874" y="2718350"/>
            <a:ext cx="2196547" cy="2136913"/>
          </a:xfrm>
          <a:prstGeom prst="roundRect">
            <a:avLst/>
          </a:prstGeom>
          <a:solidFill>
            <a:schemeClr val="tx2">
              <a:lumMod val="90000"/>
              <a:lumOff val="10000"/>
            </a:schemeClr>
          </a:solidFill>
          <a:ln w="19050" cap="flat" cmpd="sng" algn="ctr">
            <a:solidFill>
              <a:srgbClr val="0070C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000">
                <a:solidFill>
                  <a:schemeClr val="bg1"/>
                </a:solidFill>
              </a:rPr>
              <a:t>4. Project results onto input</a:t>
            </a:r>
            <a:endParaRPr lang="en-US" sz="20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3875328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975BC8-8A55-57B5-CFBD-09E63E4E09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Challenges &amp; Limitations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9CBD2A-CE5B-BD06-53FC-28C71A9542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4000"/>
              <a:t>Users will need to install an editor plug-in</a:t>
            </a:r>
          </a:p>
          <a:p>
            <a:r>
              <a:rPr lang="en-US" sz="4000"/>
              <a:t>Dynamic parameters are problematic…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622280-D238-7593-8E5D-4D58861EF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890E68-D690-4AC2-96FA-C0B5F80968DC}" type="slidenum">
              <a:rPr lang="en-US" smtClean="0"/>
              <a:t>22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80F2FE3-400C-30A0-D0E7-90E1F523299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GB"/>
              <a:t>Proposal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421157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D7FDA5-C4D3-679C-9277-F54193B495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5C0D7F-8C61-6A9C-D5FD-2CC54D7482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Dynamic Parameters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89FF27-68E1-4B67-44F3-D502EB59AE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890E68-D690-4AC2-96FA-C0B5F80968DC}" type="slidenum">
              <a:rPr lang="en-US" smtClean="0"/>
              <a:t>23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90C2382-FFA0-8F64-C6AC-03DD2BAEA56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GB"/>
              <a:t>Proposal</a:t>
            </a:r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3EDB562-B6CA-3877-EE6F-826E6EB67944}"/>
              </a:ext>
            </a:extLst>
          </p:cNvPr>
          <p:cNvSpPr txBox="1"/>
          <p:nvPr/>
        </p:nvSpPr>
        <p:spPr>
          <a:xfrm>
            <a:off x="3625588" y="2231952"/>
            <a:ext cx="6179897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500">
                <a:latin typeface="Consolas" panose="020B0609020204030204" pitchFamily="49" charset="0"/>
              </a:rPr>
              <a:t>SQL.select(field).from(</a:t>
            </a:r>
            <a:r>
              <a:rPr lang="en-GB" sz="2500">
                <a:solidFill>
                  <a:srgbClr val="129204"/>
                </a:solidFill>
                <a:latin typeface="Consolas" panose="020B0609020204030204" pitchFamily="49" charset="0"/>
              </a:rPr>
              <a:t>"Students"</a:t>
            </a:r>
            <a:r>
              <a:rPr lang="en-GB" sz="2500">
                <a:latin typeface="Consolas" panose="020B0609020204030204" pitchFamily="49" charset="0"/>
              </a:rPr>
              <a:t>)</a:t>
            </a:r>
            <a:endParaRPr lang="en-US" sz="2500">
              <a:latin typeface="Consolas" panose="020B0609020204030204" pitchFamily="49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E57784F-B39E-154F-E334-7C84235A3B33}"/>
              </a:ext>
            </a:extLst>
          </p:cNvPr>
          <p:cNvSpPr txBox="1"/>
          <p:nvPr/>
        </p:nvSpPr>
        <p:spPr>
          <a:xfrm>
            <a:off x="4154580" y="3551542"/>
            <a:ext cx="5121915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500">
                <a:latin typeface="Consolas" panose="020B0609020204030204" pitchFamily="49" charset="0"/>
              </a:rPr>
              <a:t>SELECT {field} FROM Students</a:t>
            </a:r>
            <a:endParaRPr lang="en-US" sz="2500">
              <a:latin typeface="Consolas" panose="020B0609020204030204" pitchFamily="49" charset="0"/>
            </a:endParaRP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DEF7BCFB-39F6-3E47-0128-AEDEA43DF3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569860"/>
            <a:ext cx="10515600" cy="171415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3200"/>
              <a:t>Next step:</a:t>
            </a:r>
          </a:p>
          <a:p>
            <a:r>
              <a:rPr lang="en-GB" sz="3200"/>
              <a:t>Find value using dataflow analysis</a:t>
            </a:r>
          </a:p>
          <a:p>
            <a:r>
              <a:rPr lang="en-GB" sz="3200"/>
              <a:t>Otherwise, insert some valid value</a:t>
            </a:r>
            <a:endParaRPr lang="en-US" sz="320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8B22C34-4B68-E329-23D0-458465EED925}"/>
              </a:ext>
            </a:extLst>
          </p:cNvPr>
          <p:cNvSpPr txBox="1"/>
          <p:nvPr/>
        </p:nvSpPr>
        <p:spPr>
          <a:xfrm>
            <a:off x="838200" y="2216563"/>
            <a:ext cx="1802096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500"/>
              <a:t>EDSL Code</a:t>
            </a:r>
            <a:endParaRPr lang="en-US" sz="250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A7BF1F6-11F3-A0EF-EE1B-AC62A91049E7}"/>
              </a:ext>
            </a:extLst>
          </p:cNvPr>
          <p:cNvSpPr txBox="1"/>
          <p:nvPr/>
        </p:nvSpPr>
        <p:spPr>
          <a:xfrm>
            <a:off x="838200" y="3551542"/>
            <a:ext cx="2162002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500"/>
              <a:t>DSL Template</a:t>
            </a:r>
            <a:endParaRPr lang="en-US" sz="2500"/>
          </a:p>
        </p:txBody>
      </p:sp>
      <p:sp>
        <p:nvSpPr>
          <p:cNvPr id="16" name="Arrow: Down 15">
            <a:extLst>
              <a:ext uri="{FF2B5EF4-FFF2-40B4-BE49-F238E27FC236}">
                <a16:creationId xmlns:a16="http://schemas.microsoft.com/office/drawing/2014/main" id="{67A4C358-865C-91A5-89B0-614C11381613}"/>
              </a:ext>
            </a:extLst>
          </p:cNvPr>
          <p:cNvSpPr/>
          <p:nvPr/>
        </p:nvSpPr>
        <p:spPr>
          <a:xfrm>
            <a:off x="6372636" y="2709006"/>
            <a:ext cx="685800" cy="842536"/>
          </a:xfrm>
          <a:prstGeom prst="downArrow">
            <a:avLst/>
          </a:prstGeom>
          <a:ln>
            <a:headEnd type="none" w="med" len="med"/>
            <a:tailEnd type="arrow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89051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 build="p"/>
      <p:bldP spid="15" grpId="0"/>
      <p:bldP spid="16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FAC54F-B232-0C36-2E3A-2FE619D824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Current Progress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558BB0-7BF2-9E49-6F0D-D28DEBE237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sz="4000"/>
              <a:t>✅Come up with new method</a:t>
            </a:r>
          </a:p>
          <a:p>
            <a:pPr marL="0" indent="0">
              <a:buNone/>
            </a:pPr>
            <a:r>
              <a:rPr lang="en-GB" sz="4000"/>
              <a:t>🚧Create a Prototype</a:t>
            </a:r>
          </a:p>
          <a:p>
            <a:pPr marL="0" indent="0">
              <a:buNone/>
            </a:pPr>
            <a:r>
              <a:rPr lang="en-GB" sz="4000"/>
              <a:t>🚧Test it on existing Code</a:t>
            </a:r>
            <a:endParaRPr lang="en-US" sz="400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454290-1BD1-B67F-1A9D-1CE3FCEF31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890E68-D690-4AC2-96FA-C0B5F80968DC}" type="slidenum">
              <a:rPr lang="en-US" smtClean="0"/>
              <a:t>24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F33F436-752B-6FC4-90CD-31723F1B5CF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452750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BE652A-2BF7-C1D4-A334-9C62AF39CC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18BB87-6866-7A07-F5E6-CD7EF32715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Summary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0C28D5-A852-B7A9-7E50-6E0F87865B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/>
              <a:t>Fluent APIs for embedded DSLs are very useful!</a:t>
            </a:r>
          </a:p>
          <a:p>
            <a:r>
              <a:rPr lang="en-GB"/>
              <a:t>…static analysis is very limited</a:t>
            </a:r>
          </a:p>
          <a:p>
            <a:r>
              <a:rPr lang="en-GB"/>
              <a:t>My proposed method: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25679E-34F1-0601-E607-ED119F99FE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890E68-D690-4AC2-96FA-C0B5F80968DC}" type="slidenum">
              <a:rPr lang="en-US" smtClean="0"/>
              <a:t>25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1BDB97F-39EA-78CF-D30E-D425085F39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F4768CBD-C561-5EE3-07F8-AE64E9A61B87}"/>
              </a:ext>
            </a:extLst>
          </p:cNvPr>
          <p:cNvSpPr/>
          <p:nvPr/>
        </p:nvSpPr>
        <p:spPr>
          <a:xfrm>
            <a:off x="838200" y="3602934"/>
            <a:ext cx="2196547" cy="2136913"/>
          </a:xfrm>
          <a:prstGeom prst="roundRect">
            <a:avLst/>
          </a:prstGeom>
          <a:solidFill>
            <a:schemeClr val="tx2">
              <a:lumMod val="90000"/>
              <a:lumOff val="10000"/>
            </a:schemeClr>
          </a:solidFill>
          <a:ln w="19050" cap="flat" cmpd="sng" algn="ctr">
            <a:solidFill>
              <a:srgbClr val="0070C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000">
                <a:solidFill>
                  <a:schemeClr val="bg1"/>
                </a:solidFill>
              </a:rPr>
              <a:t>1. Find embedded language code</a:t>
            </a:r>
            <a:endParaRPr lang="en-US" sz="2000">
              <a:solidFill>
                <a:schemeClr val="bg1"/>
              </a:solidFill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083D4A0B-54F1-18AA-BFB7-3AD7BF203656}"/>
              </a:ext>
            </a:extLst>
          </p:cNvPr>
          <p:cNvSpPr/>
          <p:nvPr/>
        </p:nvSpPr>
        <p:spPr>
          <a:xfrm>
            <a:off x="3700758" y="3602933"/>
            <a:ext cx="2196547" cy="2136913"/>
          </a:xfrm>
          <a:prstGeom prst="roundRect">
            <a:avLst/>
          </a:prstGeom>
          <a:solidFill>
            <a:schemeClr val="tx2">
              <a:lumMod val="90000"/>
              <a:lumOff val="10000"/>
            </a:schemeClr>
          </a:solidFill>
          <a:ln w="19050" cap="flat" cmpd="sng" algn="ctr">
            <a:solidFill>
              <a:srgbClr val="0070C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000">
                <a:solidFill>
                  <a:schemeClr val="bg1"/>
                </a:solidFill>
              </a:rPr>
              <a:t>2. Translate to original DSL</a:t>
            </a:r>
            <a:endParaRPr lang="en-US" sz="2000">
              <a:solidFill>
                <a:schemeClr val="bg1"/>
              </a:solidFill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844F5FA-A3BD-9465-7504-43A1D5D53CF6}"/>
              </a:ext>
            </a:extLst>
          </p:cNvPr>
          <p:cNvSpPr/>
          <p:nvPr/>
        </p:nvSpPr>
        <p:spPr>
          <a:xfrm>
            <a:off x="6563316" y="3602932"/>
            <a:ext cx="2196547" cy="2136913"/>
          </a:xfrm>
          <a:prstGeom prst="roundRect">
            <a:avLst/>
          </a:prstGeom>
          <a:solidFill>
            <a:schemeClr val="tx2">
              <a:lumMod val="90000"/>
              <a:lumOff val="10000"/>
            </a:schemeClr>
          </a:solidFill>
          <a:ln w="19050" cap="flat" cmpd="sng" algn="ctr">
            <a:solidFill>
              <a:srgbClr val="0070C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000">
                <a:solidFill>
                  <a:schemeClr val="bg1"/>
                </a:solidFill>
              </a:rPr>
              <a:t>3. Analyze w/ existing tools</a:t>
            </a:r>
            <a:endParaRPr lang="en-US" sz="2000">
              <a:solidFill>
                <a:schemeClr val="bg1"/>
              </a:solidFill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A475F009-7E00-6B4D-2306-DAB98684FEC6}"/>
              </a:ext>
            </a:extLst>
          </p:cNvPr>
          <p:cNvSpPr/>
          <p:nvPr/>
        </p:nvSpPr>
        <p:spPr>
          <a:xfrm>
            <a:off x="9425874" y="3602932"/>
            <a:ext cx="2196547" cy="2136913"/>
          </a:xfrm>
          <a:prstGeom prst="roundRect">
            <a:avLst/>
          </a:prstGeom>
          <a:solidFill>
            <a:schemeClr val="tx2">
              <a:lumMod val="90000"/>
              <a:lumOff val="10000"/>
            </a:schemeClr>
          </a:solidFill>
          <a:ln w="19050" cap="flat" cmpd="sng" algn="ctr">
            <a:solidFill>
              <a:srgbClr val="0070C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000">
                <a:solidFill>
                  <a:schemeClr val="bg1"/>
                </a:solidFill>
              </a:rPr>
              <a:t>4. Project results onto input</a:t>
            </a:r>
            <a:endParaRPr lang="en-US" sz="20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5432983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F2E1856-8426-0DF2-F7C3-64019986960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GB"/>
              <a:t>Style Sheet</a:t>
            </a: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1D0299A-2571-75BF-28CD-275B601F5376}"/>
              </a:ext>
            </a:extLst>
          </p:cNvPr>
          <p:cNvSpPr/>
          <p:nvPr/>
        </p:nvSpPr>
        <p:spPr>
          <a:xfrm>
            <a:off x="960544" y="1172630"/>
            <a:ext cx="8236210" cy="2625648"/>
          </a:xfrm>
          <a:prstGeom prst="rect">
            <a:avLst/>
          </a:prstGeom>
          <a:solidFill>
            <a:schemeClr val="bg1"/>
          </a:solidFill>
          <a:ln w="3810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>
                <a:solidFill>
                  <a:srgbClr val="CB0756"/>
                </a:solidFill>
                <a:latin typeface="Consolas" panose="020B0609020204030204" pitchFamily="49" charset="0"/>
              </a:rPr>
              <a:t>class</a:t>
            </a:r>
            <a:r>
              <a:rPr lang="en-US">
                <a:solidFill>
                  <a:schemeClr val="tx1"/>
                </a:solidFill>
                <a:latin typeface="Consolas" panose="020B0609020204030204" pitchFamily="49" charset="0"/>
              </a:rPr>
              <a:t> Example {</a:t>
            </a:r>
          </a:p>
          <a:p>
            <a:r>
              <a:rPr lang="en-US">
                <a:solidFill>
                  <a:schemeClr val="tx1"/>
                </a:solidFill>
                <a:latin typeface="Consolas" panose="020B0609020204030204" pitchFamily="49" charset="0"/>
              </a:rPr>
              <a:t>  </a:t>
            </a:r>
            <a:r>
              <a:rPr lang="en-US">
                <a:solidFill>
                  <a:srgbClr val="CB0756"/>
                </a:solidFill>
                <a:latin typeface="Consolas" panose="020B0609020204030204" pitchFamily="49" charset="0"/>
              </a:rPr>
              <a:t>public</a:t>
            </a:r>
            <a:r>
              <a:rPr lang="en-US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>
                <a:solidFill>
                  <a:srgbClr val="CB0756"/>
                </a:solidFill>
                <a:latin typeface="Consolas" panose="020B0609020204030204" pitchFamily="49" charset="0"/>
              </a:rPr>
              <a:t>void</a:t>
            </a:r>
            <a:r>
              <a:rPr lang="en-US">
                <a:solidFill>
                  <a:schemeClr val="tx1"/>
                </a:solidFill>
                <a:latin typeface="Consolas" panose="020B0609020204030204" pitchFamily="49" charset="0"/>
              </a:rPr>
              <a:t> main(String[] args) {</a:t>
            </a:r>
          </a:p>
          <a:p>
            <a:r>
              <a:rPr lang="en-US">
                <a:solidFill>
                  <a:schemeClr val="tx1"/>
                </a:solidFill>
                <a:latin typeface="Consolas" panose="020B0609020204030204" pitchFamily="49" charset="0"/>
              </a:rPr>
              <a:t>    </a:t>
            </a:r>
            <a:r>
              <a:rPr lang="en-US">
                <a:solidFill>
                  <a:srgbClr val="CB0756"/>
                </a:solidFill>
                <a:latin typeface="Consolas" panose="020B0609020204030204" pitchFamily="49" charset="0"/>
              </a:rPr>
              <a:t>if</a:t>
            </a:r>
            <a:r>
              <a:rPr lang="en-US">
                <a:solidFill>
                  <a:schemeClr val="tx1"/>
                </a:solidFill>
                <a:latin typeface="Consolas" panose="020B0609020204030204" pitchFamily="49" charset="0"/>
              </a:rPr>
              <a:t> (args.length &gt; </a:t>
            </a:r>
            <a:r>
              <a:rPr lang="en-US">
                <a:solidFill>
                  <a:srgbClr val="447DE4"/>
                </a:solidFill>
                <a:latin typeface="Consolas" panose="020B0609020204030204" pitchFamily="49" charset="0"/>
              </a:rPr>
              <a:t>0</a:t>
            </a:r>
            <a:r>
              <a:rPr lang="en-US">
                <a:solidFill>
                  <a:schemeClr val="tx1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en-US">
                <a:solidFill>
                  <a:schemeClr val="tx1"/>
                </a:solidFill>
                <a:latin typeface="Consolas" panose="020B0609020204030204" pitchFamily="49" charset="0"/>
              </a:rPr>
              <a:t>      </a:t>
            </a:r>
            <a:r>
              <a:rPr lang="en-US">
                <a:solidFill>
                  <a:srgbClr val="CB0756"/>
                </a:solidFill>
                <a:latin typeface="Consolas" panose="020B0609020204030204" pitchFamily="49" charset="0"/>
              </a:rPr>
              <a:t>if</a:t>
            </a:r>
            <a:r>
              <a:rPr lang="en-US">
                <a:solidFill>
                  <a:schemeClr val="tx1"/>
                </a:solidFill>
                <a:latin typeface="Consolas" panose="020B0609020204030204" pitchFamily="49" charset="0"/>
              </a:rPr>
              <a:t> (args[</a:t>
            </a:r>
            <a:r>
              <a:rPr lang="en-US">
                <a:solidFill>
                  <a:srgbClr val="447DE4"/>
                </a:solidFill>
                <a:latin typeface="Consolas" panose="020B0609020204030204" pitchFamily="49" charset="0"/>
              </a:rPr>
              <a:t>0</a:t>
            </a:r>
            <a:r>
              <a:rPr lang="en-US">
                <a:solidFill>
                  <a:schemeClr val="tx1"/>
                </a:solidFill>
                <a:latin typeface="Consolas" panose="020B0609020204030204" pitchFamily="49" charset="0"/>
              </a:rPr>
              <a:t>].equals(</a:t>
            </a:r>
            <a:r>
              <a:rPr lang="en-US">
                <a:solidFill>
                  <a:srgbClr val="129204"/>
                </a:solidFill>
                <a:latin typeface="Consolas" panose="020B0609020204030204" pitchFamily="49" charset="0"/>
              </a:rPr>
              <a:t>"help"</a:t>
            </a:r>
            <a:r>
              <a:rPr lang="en-US">
                <a:solidFill>
                  <a:schemeClr val="tx1"/>
                </a:solidFill>
                <a:latin typeface="Consolas" panose="020B0609020204030204" pitchFamily="49" charset="0"/>
              </a:rPr>
              <a:t>)) {</a:t>
            </a:r>
          </a:p>
          <a:p>
            <a:r>
              <a:rPr lang="en-US">
                <a:solidFill>
                  <a:schemeClr val="tx1"/>
                </a:solidFill>
                <a:latin typeface="Consolas" panose="020B0609020204030204" pitchFamily="49" charset="0"/>
              </a:rPr>
              <a:t>        System.out.println(</a:t>
            </a:r>
            <a:r>
              <a:rPr lang="en-US">
                <a:solidFill>
                  <a:srgbClr val="129204"/>
                </a:solidFill>
                <a:latin typeface="Consolas" panose="020B0609020204030204" pitchFamily="49" charset="0"/>
              </a:rPr>
              <a:t>"There's no help for the wicked..."</a:t>
            </a:r>
            <a:r>
              <a:rPr lang="en-US">
                <a:solidFill>
                  <a:schemeClr val="tx1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>
                <a:solidFill>
                  <a:schemeClr val="tx1"/>
                </a:solidFill>
                <a:latin typeface="Consolas" panose="020B0609020204030204" pitchFamily="49" charset="0"/>
              </a:rPr>
              <a:t>      }</a:t>
            </a:r>
          </a:p>
          <a:p>
            <a:r>
              <a:rPr lang="en-US">
                <a:solidFill>
                  <a:schemeClr val="tx1"/>
                </a:solidFill>
                <a:latin typeface="Consolas" panose="020B0609020204030204" pitchFamily="49" charset="0"/>
              </a:rPr>
              <a:t>    }</a:t>
            </a:r>
          </a:p>
          <a:p>
            <a:r>
              <a:rPr lang="en-US">
                <a:solidFill>
                  <a:schemeClr val="tx1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en-US">
                <a:solidFill>
                  <a:schemeClr val="tx1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68DAB52-400D-C030-7FEC-EB84659D4D68}"/>
              </a:ext>
            </a:extLst>
          </p:cNvPr>
          <p:cNvSpPr txBox="1"/>
          <p:nvPr/>
        </p:nvSpPr>
        <p:spPr>
          <a:xfrm>
            <a:off x="838200" y="4031108"/>
            <a:ext cx="61366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>
                <a:solidFill>
                  <a:srgbClr val="CB0756"/>
                </a:solidFill>
                <a:latin typeface="Consolas" panose="020B0609020204030204" pitchFamily="49" charset="0"/>
              </a:rPr>
              <a:t>SELECT</a:t>
            </a:r>
            <a:r>
              <a:rPr lang="en-GB">
                <a:latin typeface="Consolas" panose="020B0609020204030204" pitchFamily="49" charset="0"/>
              </a:rPr>
              <a:t> * </a:t>
            </a:r>
            <a:r>
              <a:rPr lang="en-GB">
                <a:solidFill>
                  <a:srgbClr val="CB0756"/>
                </a:solidFill>
                <a:latin typeface="Consolas" panose="020B0609020204030204" pitchFamily="49" charset="0"/>
              </a:rPr>
              <a:t>FROM</a:t>
            </a:r>
            <a:r>
              <a:rPr lang="en-GB">
                <a:latin typeface="Consolas" panose="020B0609020204030204" pitchFamily="49" charset="0"/>
              </a:rPr>
              <a:t> Students </a:t>
            </a:r>
            <a:r>
              <a:rPr lang="en-GB">
                <a:solidFill>
                  <a:srgbClr val="CB0756"/>
                </a:solidFill>
                <a:latin typeface="Consolas" panose="020B0609020204030204" pitchFamily="49" charset="0"/>
              </a:rPr>
              <a:t>WHERE</a:t>
            </a:r>
            <a:r>
              <a:rPr lang="en-GB">
                <a:latin typeface="Consolas" panose="020B0609020204030204" pitchFamily="49" charset="0"/>
              </a:rPr>
              <a:t> name == </a:t>
            </a:r>
            <a:r>
              <a:rPr lang="en-GB">
                <a:solidFill>
                  <a:srgbClr val="129204"/>
                </a:solidFill>
                <a:latin typeface="Consolas" panose="020B0609020204030204" pitchFamily="49" charset="0"/>
              </a:rPr>
              <a:t>"John Doe"</a:t>
            </a:r>
            <a:endParaRPr lang="en-US">
              <a:solidFill>
                <a:srgbClr val="129204"/>
              </a:solidFill>
              <a:latin typeface="Consolas" panose="020B06090202040302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36F49CE-77A9-9A93-2A3C-CA8305812C4D}"/>
              </a:ext>
            </a:extLst>
          </p:cNvPr>
          <p:cNvSpPr txBox="1"/>
          <p:nvPr/>
        </p:nvSpPr>
        <p:spPr>
          <a:xfrm>
            <a:off x="838200" y="4523316"/>
            <a:ext cx="10711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>
                <a:solidFill>
                  <a:srgbClr val="CB0756"/>
                </a:solidFill>
                <a:latin typeface="Consolas" panose="020B0609020204030204" pitchFamily="49" charset="0"/>
              </a:rPr>
              <a:t>Keyword</a:t>
            </a:r>
            <a:endParaRPr lang="en-US">
              <a:solidFill>
                <a:srgbClr val="CB0756"/>
              </a:solidFill>
              <a:latin typeface="Consolas" panose="020B0609020204030204" pitchFamily="49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58376D3-709C-334A-BF07-4BD6AB37A690}"/>
              </a:ext>
            </a:extLst>
          </p:cNvPr>
          <p:cNvSpPr txBox="1"/>
          <p:nvPr/>
        </p:nvSpPr>
        <p:spPr>
          <a:xfrm>
            <a:off x="2485292" y="4523316"/>
            <a:ext cx="19575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>
                <a:solidFill>
                  <a:srgbClr val="129204"/>
                </a:solidFill>
                <a:latin typeface="Consolas" panose="020B0609020204030204" pitchFamily="49" charset="0"/>
              </a:rPr>
              <a:t>"Hello World!"</a:t>
            </a:r>
            <a:endParaRPr lang="en-US">
              <a:solidFill>
                <a:srgbClr val="129204"/>
              </a:solidFill>
              <a:latin typeface="Consolas" panose="020B0609020204030204" pitchFamily="49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D13B999-9A50-C9D6-C604-43564BBB52DA}"/>
              </a:ext>
            </a:extLst>
          </p:cNvPr>
          <p:cNvSpPr txBox="1"/>
          <p:nvPr/>
        </p:nvSpPr>
        <p:spPr>
          <a:xfrm>
            <a:off x="4826977" y="4523316"/>
            <a:ext cx="13244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>
                <a:solidFill>
                  <a:srgbClr val="447DE4"/>
                </a:solidFill>
                <a:latin typeface="Consolas" panose="020B0609020204030204" pitchFamily="49" charset="0"/>
              </a:rPr>
              <a:t>1_000_000</a:t>
            </a:r>
            <a:endParaRPr lang="en-US">
              <a:solidFill>
                <a:srgbClr val="447DE4"/>
              </a:solidFill>
              <a:latin typeface="Consolas" panose="020B0609020204030204" pitchFamily="49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7AC6AEC-BA0F-7A37-788A-2CF669299A5A}"/>
              </a:ext>
            </a:extLst>
          </p:cNvPr>
          <p:cNvSpPr txBox="1"/>
          <p:nvPr/>
        </p:nvSpPr>
        <p:spPr>
          <a:xfrm>
            <a:off x="4898236" y="5015524"/>
            <a:ext cx="1197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>
                <a:solidFill>
                  <a:srgbClr val="447DE4"/>
                </a:solidFill>
                <a:latin typeface="Consolas" panose="020B0609020204030204" pitchFamily="49" charset="0"/>
              </a:rPr>
              <a:t>3.141529</a:t>
            </a:r>
            <a:endParaRPr lang="en-US">
              <a:solidFill>
                <a:srgbClr val="447DE4"/>
              </a:solidFill>
              <a:latin typeface="Consolas" panose="020B0609020204030204" pitchFamily="49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6B23F19-1218-6AD5-31C4-9BB7429F0C4E}"/>
              </a:ext>
            </a:extLst>
          </p:cNvPr>
          <p:cNvSpPr txBox="1"/>
          <p:nvPr/>
        </p:nvSpPr>
        <p:spPr>
          <a:xfrm>
            <a:off x="5143570" y="5507732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>
                <a:solidFill>
                  <a:srgbClr val="447DE4"/>
                </a:solidFill>
                <a:latin typeface="Consolas" panose="020B0609020204030204" pitchFamily="49" charset="0"/>
              </a:rPr>
              <a:t>true</a:t>
            </a:r>
            <a:endParaRPr lang="en-US">
              <a:solidFill>
                <a:srgbClr val="447DE4"/>
              </a:solidFill>
              <a:latin typeface="Consolas" panose="020B0609020204030204" pitchFamily="49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3B4C16B-0EE4-1577-DE9D-F3027B508D11}"/>
              </a:ext>
            </a:extLst>
          </p:cNvPr>
          <p:cNvSpPr txBox="1"/>
          <p:nvPr/>
        </p:nvSpPr>
        <p:spPr>
          <a:xfrm>
            <a:off x="7248267" y="4523316"/>
            <a:ext cx="8178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>
                <a:latin typeface="Consolas" panose="020B0609020204030204" pitchFamily="49" charset="0"/>
              </a:rPr>
              <a:t>other</a:t>
            </a:r>
            <a:endParaRPr lang="en-US">
              <a:latin typeface="Consolas" panose="020B0609020204030204" pitchFamily="49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825771B-60EB-B3AE-20A2-D51070C74581}"/>
              </a:ext>
            </a:extLst>
          </p:cNvPr>
          <p:cNvSpPr txBox="1"/>
          <p:nvPr/>
        </p:nvSpPr>
        <p:spPr>
          <a:xfrm>
            <a:off x="9071206" y="3128540"/>
            <a:ext cx="8178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u="wavyHeavy">
                <a:uFill>
                  <a:solidFill>
                    <a:srgbClr val="FF0000"/>
                  </a:solidFill>
                </a:uFill>
                <a:latin typeface="Consolas" panose="020B0609020204030204" pitchFamily="49" charset="0"/>
              </a:rPr>
              <a:t>error</a:t>
            </a:r>
            <a:endParaRPr lang="en-US" u="wavyHeavy">
              <a:uFill>
                <a:solidFill>
                  <a:srgbClr val="FF0000"/>
                </a:solidFill>
              </a:uFill>
              <a:latin typeface="Consolas" panose="020B0609020204030204" pitchFamily="49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A4A9ECA-BAD3-2A25-E22D-B1112DA9E4F5}"/>
              </a:ext>
            </a:extLst>
          </p:cNvPr>
          <p:cNvSpPr txBox="1"/>
          <p:nvPr/>
        </p:nvSpPr>
        <p:spPr>
          <a:xfrm>
            <a:off x="9071205" y="4031108"/>
            <a:ext cx="8178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u="wavyHeavy">
                <a:uFill>
                  <a:solidFill>
                    <a:srgbClr val="FF0000"/>
                  </a:solidFill>
                </a:uFill>
                <a:latin typeface="Consolas" panose="020B0609020204030204" pitchFamily="49" charset="0"/>
              </a:rPr>
              <a:t>error</a:t>
            </a:r>
            <a:endParaRPr lang="en-US" u="wavyHeavy">
              <a:uFill>
                <a:solidFill>
                  <a:srgbClr val="FF0000"/>
                </a:solidFill>
              </a:uFill>
              <a:latin typeface="Consolas" panose="020B0609020204030204" pitchFamily="49" charset="0"/>
            </a:endParaRP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5BFA6880-5088-69D2-4BE2-9E2B88A2D5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69789" y="4205458"/>
            <a:ext cx="130150" cy="194982"/>
          </a:xfrm>
          <a:prstGeom prst="rect">
            <a:avLst/>
          </a:prstGeom>
        </p:spPr>
      </p:pic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874836C6-869E-8912-BE21-38887BE085A5}"/>
              </a:ext>
            </a:extLst>
          </p:cNvPr>
          <p:cNvSpPr/>
          <p:nvPr/>
        </p:nvSpPr>
        <p:spPr>
          <a:xfrm>
            <a:off x="9569789" y="4379423"/>
            <a:ext cx="1657988" cy="365125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GB" sz="1600">
                <a:solidFill>
                  <a:schemeClr val="bg2">
                    <a:lumMod val="25000"/>
                  </a:schemeClr>
                </a:solidFill>
              </a:rPr>
              <a:t>Error annotation</a:t>
            </a:r>
            <a:endParaRPr lang="en-US" sz="160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C9F32643-EC9B-CB00-3679-8FFAB04BFDC9}"/>
              </a:ext>
            </a:extLst>
          </p:cNvPr>
          <p:cNvSpPr/>
          <p:nvPr/>
        </p:nvSpPr>
        <p:spPr>
          <a:xfrm>
            <a:off x="9569788" y="5275427"/>
            <a:ext cx="1784011" cy="856432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GB" sz="1600">
                <a:solidFill>
                  <a:schemeClr val="bg2">
                    <a:lumMod val="25000"/>
                  </a:schemeClr>
                </a:solidFill>
              </a:rPr>
              <a:t>Error annotation</a:t>
            </a:r>
          </a:p>
          <a:p>
            <a:pPr>
              <a:lnSpc>
                <a:spcPct val="200000"/>
              </a:lnSpc>
            </a:pPr>
            <a:r>
              <a:rPr lang="en-US" sz="1600" u="sng">
                <a:solidFill>
                  <a:schemeClr val="tx2">
                    <a:lumMod val="50000"/>
                    <a:lumOff val="50000"/>
                  </a:schemeClr>
                </a:solidFill>
              </a:rPr>
              <a:t>Fix suggestion</a:t>
            </a:r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558CF9CF-9025-1582-E812-62675947F5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3836" y="3238271"/>
            <a:ext cx="130150" cy="194982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9AE727E-6EB0-06AB-A7EB-165675BBF2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890E68-D690-4AC2-96FA-C0B5F80968DC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88666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38100" cap="flat" cmpd="sng" algn="ctr">
          <a:solidFill>
            <a:srgbClr val="FFFF00"/>
          </a:solidFill>
          <a:prstDash val="solid"/>
          <a:round/>
          <a:headEnd type="none" w="med" len="med"/>
          <a:tailEnd type="arrow" w="med" len="med"/>
        </a:ln>
      </a:spPr>
      <a:bodyPr rtlCol="0" anchor="ctr"/>
      <a:lstStyle>
        <a:defPPr algn="ctr">
          <a:defRPr/>
        </a:def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tx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8770</TotalTime>
  <Words>1076</Words>
  <Application>Microsoft Office PowerPoint</Application>
  <PresentationFormat>Widescreen</PresentationFormat>
  <Paragraphs>313</Paragraphs>
  <Slides>26</Slides>
  <Notes>0</Notes>
  <HiddenSlides>1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3" baseType="lpstr">
      <vt:lpstr>Aptos</vt:lpstr>
      <vt:lpstr>Aptos Display</vt:lpstr>
      <vt:lpstr>Arial</vt:lpstr>
      <vt:lpstr>Cambria Math</vt:lpstr>
      <vt:lpstr>Comic Sans MS</vt:lpstr>
      <vt:lpstr>Consolas</vt:lpstr>
      <vt:lpstr>Office Theme</vt:lpstr>
      <vt:lpstr>An Approach for Static Analysis of Fluent APIs</vt:lpstr>
      <vt:lpstr>Contents</vt:lpstr>
      <vt:lpstr>What are Fluent APIs?</vt:lpstr>
      <vt:lpstr>Fluent APIs 🤝 Embedded DSLs</vt:lpstr>
      <vt:lpstr>The Tradeoff</vt:lpstr>
      <vt:lpstr>Safe Fluent APIs</vt:lpstr>
      <vt:lpstr>Limitations</vt:lpstr>
      <vt:lpstr>Static Analysis via Backtranslation</vt:lpstr>
      <vt:lpstr>1. Find EDSL Code</vt:lpstr>
      <vt:lpstr>2. Backtranslation</vt:lpstr>
      <vt:lpstr>2. Backtranslation</vt:lpstr>
      <vt:lpstr>2. Backtranslation</vt:lpstr>
      <vt:lpstr>2. Backtranslation</vt:lpstr>
      <vt:lpstr>2. Backtranslation</vt:lpstr>
      <vt:lpstr>2. Backtranslation</vt:lpstr>
      <vt:lpstr>2. Backtranslation</vt:lpstr>
      <vt:lpstr>2. Backtranslation</vt:lpstr>
      <vt:lpstr>3. Analysis</vt:lpstr>
      <vt:lpstr>4. Projection</vt:lpstr>
      <vt:lpstr>4. Projection</vt:lpstr>
      <vt:lpstr>Static Analysis via Backtranslation</vt:lpstr>
      <vt:lpstr>Challenges &amp; Limitations</vt:lpstr>
      <vt:lpstr>Dynamic Parameters</vt:lpstr>
      <vt:lpstr>Current Progress</vt:lpstr>
      <vt:lpstr>Summary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Dennis Prüne</dc:creator>
  <cp:lastModifiedBy>Dennis Prüne</cp:lastModifiedBy>
  <cp:revision>31</cp:revision>
  <dcterms:created xsi:type="dcterms:W3CDTF">2026-04-14T09:40:23Z</dcterms:created>
  <dcterms:modified xsi:type="dcterms:W3CDTF">2026-07-24T08:49:25Z</dcterms:modified>
</cp:coreProperties>
</file>