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91" r:id="rId2"/>
    <p:sldId id="295" r:id="rId3"/>
    <p:sldId id="292" r:id="rId4"/>
    <p:sldId id="297" r:id="rId5"/>
    <p:sldId id="298" r:id="rId6"/>
    <p:sldId id="299" r:id="rId7"/>
    <p:sldId id="300" r:id="rId8"/>
    <p:sldId id="301" r:id="rId9"/>
    <p:sldId id="309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8" r:id="rId18"/>
    <p:sldId id="319" r:id="rId19"/>
    <p:sldId id="320" r:id="rId20"/>
    <p:sldId id="321" r:id="rId21"/>
    <p:sldId id="322" r:id="rId22"/>
    <p:sldId id="323" r:id="rId23"/>
    <p:sldId id="306" r:id="rId24"/>
    <p:sldId id="307" r:id="rId25"/>
    <p:sldId id="29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9204"/>
    <a:srgbClr val="447DE4"/>
    <a:srgbClr val="CB0756"/>
    <a:srgbClr val="E96207"/>
    <a:srgbClr val="A34D14"/>
    <a:srgbClr val="AD0B4D"/>
    <a:srgbClr val="14710A"/>
    <a:srgbClr val="846E15"/>
    <a:srgbClr val="A3144D"/>
    <a:srgbClr val="BCBE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1" d="100"/>
          <a:sy n="81" d="100"/>
        </p:scale>
        <p:origin x="77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FC1B7-3D5E-4A5B-82A1-8FEEA2A3FD17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45753-AE66-4D7F-9406-BD9694DCF1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524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C679D-38E5-62C6-DCF5-C04B1C919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B288A3-B35F-2082-6D50-BE52AF599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1017F-F025-5400-6140-E5428DA4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50111-6FED-49C2-8789-378BED76E63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8174D-A11D-486F-CF04-0E88CD81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22E3C-11E9-61B1-DBA8-79694B82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0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76113-E68B-BBA2-CDAB-79ED000E8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7F934-9076-09D9-3419-910458B24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0842D-B413-513F-D00B-0F377A4A1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8E46B-21C7-46F1-9D55-2740DDD970A3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A55A0-8903-6565-1068-D2BC5E6DF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93266-096C-A70C-AFFD-00C822C3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415A2B9-7A2C-23E7-E194-DF2295B759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96863"/>
            <a:ext cx="10515600" cy="642937"/>
          </a:xfrm>
        </p:spPr>
        <p:txBody>
          <a:bodyPr/>
          <a:lstStyle>
            <a:lvl1pPr>
              <a:buNone/>
              <a:defRPr sz="3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GB"/>
              <a:t>Chapter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21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3564F-A307-C491-FE23-0F6A29C74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052E5-9E55-BB04-15E2-EE0FEFD76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DA1C6-65BA-7A4F-815C-A84E0B206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CA89-DA8F-4892-AEE5-F7C0F2CD0860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574E6-B211-C2BB-7BA9-67667E69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FC850-A256-C0E4-284B-E620E8241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198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23579-917D-D3AA-1638-246FD3FEF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2CB76-418B-B247-6C74-6F9A741F6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C6CAA3-2229-9018-0916-E48C168DD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4E871-A9CB-2D58-804A-8B8707A7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F53EC-CDE8-46DF-AB65-BEF790280B3B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AECA95-EFBB-B200-A7F0-A231A2F86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0B3AA-8FB9-DB22-B068-B6240A6B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7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8B221-BB99-48A8-197F-89CCE40B2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D10F7-C485-AD65-C886-A06D41B59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D76E9B-C3F7-B779-CB31-A5B2E8F276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44C204-4A8A-33B1-9701-AC9E8F3A5D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EC0CB5-A440-ECED-F5E5-EAF67B25EA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53797-D8ED-93EE-8E58-DF58DEF70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328C3-EDF4-4EB0-A1F0-7630EE62CF3E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E6375-6CF0-2B55-E07F-70594A8A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5E465-21B0-63C7-63AC-363986056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15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B73E-1FDB-2768-18D7-8485AAC38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0CD60-1834-0DF8-3443-713D56191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B759E-DC99-4512-A1E6-4D6A6134EB65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F3FEE-CF11-8C35-6D90-76C6304C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1C6E1-DA89-5462-56D3-26358FDC9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848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028DA4-D373-D1F6-209E-966219D5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E4549-2816-45A0-AF94-821BE7068C3B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35CB80-108F-8FC2-127B-B08D4F865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6B649-EB53-2848-390C-3A4296ACD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97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3889D-672A-FC76-2B81-7EE892F2A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DDFD9-081D-6001-41DF-96ACA27F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F64D0-E159-82DE-47DD-F7556FA0D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EEF5F-78F1-EF2B-4382-375D8C9D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2C81-353A-4972-8CE5-08B95FC9C929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3C07A-3CD4-E8F9-9591-52C3E8BE9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AB6502-81A6-3D88-2039-3C24133F2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39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E3FB-1D85-C984-8EFA-7D3968960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FC6586-CA07-0B0B-6D91-00E92D9DA6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8DE47-470D-21CD-DE5B-99C2B1649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08691-1EC7-AA14-CC9C-9EF5A8EDB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3E090-6202-4986-AD3A-4D939944BE69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8A282-89E9-69BB-2C98-E6F7BE4D2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503F8-246C-2C8B-1DEE-979C67A9A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2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C6F3D-8CAB-6F4A-F2F4-4FC14E26D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1687B3-6CC0-EC5C-4AF6-574DD417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42338-32CC-B9CD-47B4-835A134B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6740-DF18-4F16-8667-118742CC9E5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F34E6-4CF0-607D-AD40-97885841C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A7598-B72F-596B-0939-423513BE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08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C993-C462-C039-3E0D-EFC0A53EDD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88C53B-5E6B-17A7-4426-844874471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8B83-BCE9-EA98-16F2-98E390A4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3630C-7BE1-4F40-A0D5-7861FD4EF867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71E89-95C7-563B-5AA7-3A05A9B07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D416D-097C-BCBD-AD42-2B8700DB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16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5FE3C9-471C-AF24-9B31-408B6D7F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515600" cy="751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5AC752-CF0B-2524-A240-3264854CC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4DAA7-A556-9B03-DB8D-D79A598CDC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9C74DE-3C94-41C8-AEB3-8BC6999FD8F4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1BDC3-3EE0-5E7A-97E3-D90296BEA2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EDCAB-2080-63E3-EF09-AA0A0D912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90E68-D690-4AC2-96FA-C0B5F8096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93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BB7D-D940-45D4-1008-947EBEC01D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/>
              <a:t>An Approach for Static Analysis of Fluent APIs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86BF54-FFE2-BB8C-F984-57B6BC09E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26M30498 | Dennis Prüne</a:t>
            </a:r>
          </a:p>
          <a:p>
            <a:r>
              <a:rPr lang="en-GB"/>
              <a:t>PRG Lab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857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F66A0-1FB2-E377-1206-0E1F3726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Contents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2F97D-9FF1-CD4B-EBD4-6D9B512B5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/>
              <a:t>Background</a:t>
            </a:r>
          </a:p>
          <a:p>
            <a:r>
              <a:rPr lang="en-GB" sz="4000"/>
              <a:t>Related Work</a:t>
            </a:r>
          </a:p>
          <a:p>
            <a:r>
              <a:rPr lang="en-GB" sz="4000"/>
              <a:t>My Proposal</a:t>
            </a:r>
          </a:p>
          <a:p>
            <a:r>
              <a:rPr lang="en-GB" sz="4000"/>
              <a:t>Current Progress &amp; Summary</a:t>
            </a:r>
            <a:endParaRPr lang="en-US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C2189-1D99-DDAA-7C14-063D748F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2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6B32D-B2B2-F1A5-24F6-2108CC48FE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28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DE6D-9215-4A91-C1BB-D5CC7976B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are Fluent APIs?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2429F1-A76F-94B4-3FA1-B3940F3DC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155F2F-A5F3-01AB-CC97-0D86A9C589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8F5142-B743-D51B-4828-DE321A2163FD}"/>
              </a:ext>
            </a:extLst>
          </p:cNvPr>
          <p:cNvSpPr/>
          <p:nvPr/>
        </p:nvSpPr>
        <p:spPr>
          <a:xfrm>
            <a:off x="838200" y="1934307"/>
            <a:ext cx="5238033" cy="1782173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new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ArrayList();</a:t>
            </a:r>
          </a:p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for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(int x : xs)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ys.add(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D84D5-0BBB-DA00-9F1B-9515D7A597F7}"/>
              </a:ext>
            </a:extLst>
          </p:cNvPr>
          <p:cNvSpPr/>
          <p:nvPr/>
        </p:nvSpPr>
        <p:spPr>
          <a:xfrm>
            <a:off x="6115769" y="1936971"/>
            <a:ext cx="5238033" cy="1492029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List&lt;Integer&gt; ys = xs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.stream()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.filter(x -&gt; x &gt;=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.map(x -&gt;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* x)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.collect();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1D47EB-ADF9-1F2D-765F-120123C5F418}"/>
              </a:ext>
            </a:extLst>
          </p:cNvPr>
          <p:cNvSpPr txBox="1">
            <a:spLocks/>
          </p:cNvSpPr>
          <p:nvPr/>
        </p:nvSpPr>
        <p:spPr>
          <a:xfrm>
            <a:off x="838200" y="3675283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None/>
            </a:pPr>
            <a:r>
              <a:rPr lang="en-GB" b="1"/>
              <a:t>Imperative Style</a:t>
            </a:r>
            <a:endParaRPr lang="en-US" b="1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9C43515-1A3F-8DDF-88E5-4D5491DB04BA}"/>
              </a:ext>
            </a:extLst>
          </p:cNvPr>
          <p:cNvSpPr txBox="1">
            <a:spLocks/>
          </p:cNvSpPr>
          <p:nvPr/>
        </p:nvSpPr>
        <p:spPr>
          <a:xfrm>
            <a:off x="838200" y="4499195"/>
            <a:ext cx="5157787" cy="12949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For-loops, if-clauses, …</a:t>
            </a:r>
          </a:p>
          <a:p>
            <a:r>
              <a:rPr lang="en-US"/>
              <a:t>Nested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C703BAC-0F23-93C0-FA4D-22A78A533ECA}"/>
              </a:ext>
            </a:extLst>
          </p:cNvPr>
          <p:cNvSpPr txBox="1">
            <a:spLocks/>
          </p:cNvSpPr>
          <p:nvPr/>
        </p:nvSpPr>
        <p:spPr>
          <a:xfrm>
            <a:off x="6170612" y="3675283"/>
            <a:ext cx="5183188" cy="823912"/>
          </a:xfrm>
          <a:prstGeom prst="rect">
            <a:avLst/>
          </a:prstGeom>
        </p:spPr>
        <p:txBody>
          <a:bodyPr anchor="b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2400" b="1"/>
              <a:t>Fluent Style</a:t>
            </a:r>
            <a:endParaRPr lang="en-US" sz="2400" b="1"/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293D38D1-9E71-93A0-1494-74FD22D350B3}"/>
              </a:ext>
            </a:extLst>
          </p:cNvPr>
          <p:cNvSpPr txBox="1">
            <a:spLocks/>
          </p:cNvSpPr>
          <p:nvPr/>
        </p:nvSpPr>
        <p:spPr>
          <a:xfrm>
            <a:off x="6170612" y="4499195"/>
            <a:ext cx="5183188" cy="103116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Method chaining</a:t>
            </a:r>
          </a:p>
          <a:p>
            <a:r>
              <a:rPr lang="en-GB"/>
              <a:t>Flat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1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CEA0F-B2B3-10BC-EEA5-5F4BE999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Fluent APIs 🤝 Embedded DSLs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FBB45-C607-5812-7C6A-3A40CBC1F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346461-09DF-54B5-9D46-8B488986E3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F461BA-2C79-406F-0EB9-52C4D2911B0F}"/>
              </a:ext>
            </a:extLst>
          </p:cNvPr>
          <p:cNvSpPr txBox="1"/>
          <p:nvPr/>
        </p:nvSpPr>
        <p:spPr>
          <a:xfrm>
            <a:off x="4146305" y="2124580"/>
            <a:ext cx="31960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name, birth_year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</a:p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birth_year == </a:t>
            </a:r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2005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4C915-B6FC-76E0-BADA-8D8F388FC913}"/>
              </a:ext>
            </a:extLst>
          </p:cNvPr>
          <p:cNvSpPr txBox="1"/>
          <p:nvPr/>
        </p:nvSpPr>
        <p:spPr>
          <a:xfrm>
            <a:off x="838198" y="4159282"/>
            <a:ext cx="42994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SQL.query(</a:t>
            </a:r>
          </a:p>
          <a:p>
            <a:r>
              <a:rPr lang="en-GB">
                <a:latin typeface="Consolas" panose="020B0609020204030204" pitchFamily="49" charset="0"/>
              </a:rPr>
              <a:t> 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"SELECT name, birth_year "</a:t>
            </a:r>
            <a:r>
              <a:rPr lang="en-GB">
                <a:latin typeface="Consolas" panose="020B0609020204030204" pitchFamily="49" charset="0"/>
              </a:rPr>
              <a:t> 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"FROM Students "</a:t>
            </a:r>
            <a:r>
              <a:rPr lang="en-GB">
                <a:latin typeface="Consolas" panose="020B0609020204030204" pitchFamily="49" charset="0"/>
              </a:rPr>
              <a:t> </a:t>
            </a:r>
          </a:p>
          <a:p>
            <a:r>
              <a:rPr lang="en-GB">
                <a:latin typeface="Consolas" panose="020B0609020204030204" pitchFamily="49" charset="0"/>
              </a:rPr>
              <a:t>  +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"WHERE 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89D9EC-A5FB-96A1-EA14-EC302E02061C}"/>
              </a:ext>
            </a:extLst>
          </p:cNvPr>
          <p:cNvSpPr txBox="1"/>
          <p:nvPr/>
        </p:nvSpPr>
        <p:spPr>
          <a:xfrm>
            <a:off x="6365629" y="4159281"/>
            <a:ext cx="49881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Query query = SQL</a:t>
            </a:r>
          </a:p>
          <a:p>
            <a:r>
              <a:rPr lang="en-GB">
                <a:latin typeface="Consolas" panose="020B0609020204030204" pitchFamily="49" charset="0"/>
              </a:rPr>
              <a:t>  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.where(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"birth_year == 2005"</a:t>
            </a:r>
            <a:r>
              <a:rPr lang="en-GB">
                <a:latin typeface="Consolas" panose="020B0609020204030204" pitchFamily="49" charset="0"/>
              </a:rPr>
              <a:t>);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7DE014-3CBE-A3D1-3582-1312464434B6}"/>
              </a:ext>
            </a:extLst>
          </p:cNvPr>
          <p:cNvCxnSpPr>
            <a:cxnSpLocks/>
          </p:cNvCxnSpPr>
          <p:nvPr/>
        </p:nvCxnSpPr>
        <p:spPr>
          <a:xfrm flipH="1">
            <a:off x="3288323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4832EAD-7BF5-E71C-C499-E102F59CE812}"/>
              </a:ext>
            </a:extLst>
          </p:cNvPr>
          <p:cNvCxnSpPr>
            <a:cxnSpLocks/>
          </p:cNvCxnSpPr>
          <p:nvPr/>
        </p:nvCxnSpPr>
        <p:spPr>
          <a:xfrm>
            <a:off x="7342309" y="3047910"/>
            <a:ext cx="857982" cy="11113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495246-4373-35B0-70B2-C8487ADAF2D6}"/>
              </a:ext>
            </a:extLst>
          </p:cNvPr>
          <p:cNvSpPr txBox="1"/>
          <p:nvPr/>
        </p:nvSpPr>
        <p:spPr>
          <a:xfrm>
            <a:off x="1817159" y="3328284"/>
            <a:ext cx="188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naïve embedding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A79767-24AC-D11F-2F92-2FB098457C34}"/>
              </a:ext>
            </a:extLst>
          </p:cNvPr>
          <p:cNvSpPr txBox="1"/>
          <p:nvPr/>
        </p:nvSpPr>
        <p:spPr>
          <a:xfrm>
            <a:off x="7892141" y="3328284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fluent embedding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23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61ABC-2EA7-C235-3557-C5B9C0110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197C5-2EB8-C59D-B398-1337B2DEA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Tradeoff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E5763-67F9-3969-1176-32D3A60D3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6B4804-32F3-C3AA-A814-D89F095029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Background</a:t>
            </a:r>
            <a:endParaRPr lang="en-US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BE623D3-CB17-F0E1-8D96-B47F8A3AE5D9}"/>
              </a:ext>
            </a:extLst>
          </p:cNvPr>
          <p:cNvSpPr>
            <a:spLocks noGrp="1"/>
          </p:cNvSpPr>
          <p:nvPr/>
        </p:nvSpPr>
        <p:spPr>
          <a:xfrm>
            <a:off x="838200" y="1690688"/>
            <a:ext cx="5157787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Advantages</a:t>
            </a:r>
            <a:endParaRPr lang="en-US"/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46B6F0F8-599F-A243-43AB-BEB3E175E26C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5157787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Less syntax to remember</a:t>
            </a:r>
          </a:p>
          <a:p>
            <a:r>
              <a:rPr lang="en-GB"/>
              <a:t>Dynamic data support</a:t>
            </a:r>
          </a:p>
          <a:p>
            <a:endParaRPr lang="en-GB"/>
          </a:p>
          <a:p>
            <a:endParaRPr lang="en-GB"/>
          </a:p>
          <a:p>
            <a:pPr marL="0" indent="0">
              <a:buNone/>
            </a:pPr>
            <a:endParaRPr lang="en-US"/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FC071023-1BDE-00EE-B05D-6A36FF942A25}"/>
              </a:ext>
            </a:extLst>
          </p:cNvPr>
          <p:cNvSpPr>
            <a:spLocks noGrp="1"/>
          </p:cNvSpPr>
          <p:nvPr/>
        </p:nvSpPr>
        <p:spPr>
          <a:xfrm>
            <a:off x="6170612" y="1690688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Disadvantages</a:t>
            </a:r>
            <a:endParaRPr lang="en-US"/>
          </a:p>
        </p:txBody>
      </p:sp>
      <p:sp>
        <p:nvSpPr>
          <p:cNvPr id="29" name="Content Placeholder 5">
            <a:extLst>
              <a:ext uri="{FF2B5EF4-FFF2-40B4-BE49-F238E27FC236}">
                <a16:creationId xmlns:a16="http://schemas.microsoft.com/office/drawing/2014/main" id="{E58F0A3B-F734-C183-AB2F-E7A5AAF15B3A}"/>
              </a:ext>
            </a:extLst>
          </p:cNvPr>
          <p:cNvSpPr>
            <a:spLocks noGrp="1"/>
          </p:cNvSpPr>
          <p:nvPr/>
        </p:nvSpPr>
        <p:spPr>
          <a:xfrm>
            <a:off x="6170612" y="2514600"/>
            <a:ext cx="5183188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NO static safety guarantees</a:t>
            </a:r>
          </a:p>
          <a:p>
            <a:pPr lvl="1"/>
            <a:r>
              <a:rPr lang="en-GB"/>
              <a:t>NO syntax checking</a:t>
            </a:r>
          </a:p>
          <a:p>
            <a:pPr lvl="1"/>
            <a:r>
              <a:rPr lang="en-GB"/>
              <a:t>NO type checking</a:t>
            </a:r>
          </a:p>
          <a:p>
            <a:pPr lvl="1"/>
            <a:r>
              <a:rPr lang="en-GB"/>
              <a:t>NO semantic analysis</a:t>
            </a:r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6C3CE0-CBE4-925A-C87C-734F7E820A5D}"/>
              </a:ext>
            </a:extLst>
          </p:cNvPr>
          <p:cNvGrpSpPr/>
          <p:nvPr/>
        </p:nvGrpSpPr>
        <p:grpSpPr>
          <a:xfrm>
            <a:off x="1088065" y="3543245"/>
            <a:ext cx="4658056" cy="1305854"/>
            <a:chOff x="1092507" y="3059668"/>
            <a:chExt cx="4658056" cy="1305854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548EF0-59F9-45BF-3480-4F57D9880DF8}"/>
                </a:ext>
              </a:extLst>
            </p:cNvPr>
            <p:cNvSpPr txBox="1"/>
            <p:nvPr/>
          </p:nvSpPr>
          <p:spPr>
            <a:xfrm>
              <a:off x="1260231" y="3059668"/>
              <a:ext cx="4490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 u="sng">
                  <a:uFill>
                    <a:solidFill>
                      <a:srgbClr val="0070C0"/>
                    </a:solidFill>
                  </a:uFill>
                  <a:latin typeface="Consolas" panose="020B0609020204030204" pitchFamily="49" charset="0"/>
                </a:rPr>
                <a:t>field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  <a:endParaRPr lang="en-US">
                <a:latin typeface="Consolas" panose="020B06090202040302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73CCAA-F5FE-5029-F72B-9D9E810B4791}"/>
                </a:ext>
              </a:extLst>
            </p:cNvPr>
            <p:cNvSpPr txBox="1"/>
            <p:nvPr/>
          </p:nvSpPr>
          <p:spPr>
            <a:xfrm>
              <a:off x="1092507" y="3780747"/>
              <a:ext cx="182293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can be set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programmatically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726EB60-6F33-C844-7BA8-EDBE0E99DB5D}"/>
                </a:ext>
              </a:extLst>
            </p:cNvPr>
            <p:cNvSpPr/>
            <p:nvPr/>
          </p:nvSpPr>
          <p:spPr>
            <a:xfrm>
              <a:off x="2848708" y="3472962"/>
              <a:ext cx="228600" cy="574767"/>
            </a:xfrm>
            <a:custGeom>
              <a:avLst/>
              <a:gdLst>
                <a:gd name="csX0" fmla="*/ 0 w 228600"/>
                <a:gd name="csY0" fmla="*/ 536330 h 574767"/>
                <a:gd name="csX1" fmla="*/ 175846 w 228600"/>
                <a:gd name="csY1" fmla="*/ 518746 h 574767"/>
                <a:gd name="csX2" fmla="*/ 228600 w 228600"/>
                <a:gd name="csY2" fmla="*/ 0 h 574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28600" h="574767">
                  <a:moveTo>
                    <a:pt x="0" y="536330"/>
                  </a:moveTo>
                  <a:cubicBezTo>
                    <a:pt x="68873" y="572232"/>
                    <a:pt x="137746" y="608134"/>
                    <a:pt x="175846" y="518746"/>
                  </a:cubicBezTo>
                  <a:cubicBezTo>
                    <a:pt x="213946" y="429358"/>
                    <a:pt x="221273" y="214679"/>
                    <a:pt x="228600" y="0"/>
                  </a:cubicBezTo>
                </a:path>
              </a:pathLst>
            </a:custGeom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4A39234-9A51-D479-A227-E84686F28A44}"/>
              </a:ext>
            </a:extLst>
          </p:cNvPr>
          <p:cNvSpPr txBox="1"/>
          <p:nvPr/>
        </p:nvSpPr>
        <p:spPr>
          <a:xfrm>
            <a:off x="6365629" y="4243922"/>
            <a:ext cx="49881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SQL.select(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"name, birth_year"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.from(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  <a:p>
            <a:r>
              <a:rPr lang="en-GB">
                <a:latin typeface="Consolas" panose="020B0609020204030204" pitchFamily="49" charset="0"/>
              </a:rPr>
              <a:t>   .</a:t>
            </a:r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(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"Teachers"</a:t>
            </a:r>
            <a:r>
              <a:rPr lang="en-GB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C36C946-87D5-61E5-811C-9B77DA26C2EB}"/>
              </a:ext>
            </a:extLst>
          </p:cNvPr>
          <p:cNvSpPr/>
          <p:nvPr/>
        </p:nvSpPr>
        <p:spPr>
          <a:xfrm>
            <a:off x="7142011" y="5187462"/>
            <a:ext cx="533674" cy="474784"/>
          </a:xfrm>
          <a:custGeom>
            <a:avLst/>
            <a:gdLst>
              <a:gd name="csX0" fmla="*/ 533674 w 533674"/>
              <a:gd name="csY0" fmla="*/ 474784 h 474784"/>
              <a:gd name="csX1" fmla="*/ 58889 w 533674"/>
              <a:gd name="csY1" fmla="*/ 369276 h 474784"/>
              <a:gd name="csX2" fmla="*/ 23720 w 533674"/>
              <a:gd name="csY2" fmla="*/ 0 h 4747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33674" h="474784">
                <a:moveTo>
                  <a:pt x="533674" y="474784"/>
                </a:moveTo>
                <a:cubicBezTo>
                  <a:pt x="338777" y="461595"/>
                  <a:pt x="143881" y="448407"/>
                  <a:pt x="58889" y="369276"/>
                </a:cubicBezTo>
                <a:cubicBezTo>
                  <a:pt x="-26103" y="290145"/>
                  <a:pt x="-1192" y="145072"/>
                  <a:pt x="23720" y="0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4CC440-3875-68C2-72EC-559A801840E2}"/>
              </a:ext>
            </a:extLst>
          </p:cNvPr>
          <p:cNvSpPr txBox="1"/>
          <p:nvPr/>
        </p:nvSpPr>
        <p:spPr>
          <a:xfrm>
            <a:off x="7321513" y="5527020"/>
            <a:ext cx="21932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illegal syntax</a:t>
            </a:r>
          </a:p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causes </a:t>
            </a:r>
            <a:r>
              <a:rPr lang="en-GB" sz="1600">
                <a:solidFill>
                  <a:srgbClr val="FF0000"/>
                </a:solidFill>
                <a:latin typeface="Comic Sans MS" panose="030F0702030302020204" pitchFamily="66" charset="0"/>
              </a:rPr>
              <a:t>runtime error</a:t>
            </a:r>
            <a:endParaRPr lang="en-US" sz="1600">
              <a:solidFill>
                <a:srgbClr val="FF000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70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5" grpId="0"/>
      <p:bldP spid="27" grpId="0"/>
      <p:bldP spid="29" grpId="0"/>
      <p:bldP spid="36" grpId="0"/>
      <p:bldP spid="39" grpId="0" animBg="1"/>
      <p:bldP spid="4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9BEDA11-D991-D431-9485-271C2107A4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/>
              <a:t>Goal: Disallow bad method chains at compile time</a:t>
            </a:r>
          </a:p>
          <a:p>
            <a:pPr marL="514350" indent="-514350">
              <a:buAutoNum type="arabicPeriod"/>
            </a:pPr>
            <a:r>
              <a:rPr lang="en-GB"/>
              <a:t>Encode allowed chains as a CFG</a:t>
            </a:r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endParaRPr lang="en-GB"/>
          </a:p>
          <a:p>
            <a:pPr marL="514350" indent="-514350">
              <a:buAutoNum type="arabicPeriod"/>
            </a:pPr>
            <a:r>
              <a:rPr lang="en-GB"/>
              <a:t>Generate a fluent API where this syntax is encoded in the type system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B81C78-6A13-E3C1-FA0D-4A34E58A3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9114"/>
            <a:ext cx="10697308" cy="751574"/>
          </a:xfrm>
        </p:spPr>
        <p:txBody>
          <a:bodyPr/>
          <a:lstStyle/>
          <a:p>
            <a:r>
              <a:rPr lang="en-GB"/>
              <a:t>Safe Fluent APIs</a:t>
            </a:r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B6186-E59B-6E80-77B0-34E11EB75E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77815" y="2826177"/>
                <a:ext cx="6512169" cy="1937483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𝑄𝑢𝑒𝑟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: :=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SQL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select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String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selections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            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from</m:t>
                      </m:r>
                      <m:d>
                        <m:d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String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GB" sz="2400" b="0" i="0" smtClean="0">
                              <a:latin typeface="Consolas" panose="020B0609020204030204" pitchFamily="49" charset="0"/>
                            </a:rPr>
                            <m:t>source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                     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𝑊h𝑒𝑟𝑒</m:t>
                      </m:r>
                    </m:oMath>
                  </m:oMathPara>
                </a14:m>
                <a:br>
                  <a:rPr lang="en-GB" sz="2400" b="0"/>
                </a:br>
                <a:br>
                  <a:rPr lang="en-GB" sz="2400" b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𝑊h𝑒𝑟𝑒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: :=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|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String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clause</m:t>
                      </m:r>
                      <m:r>
                        <m:rPr>
                          <m:nor/>
                        </m:rPr>
                        <a:rPr lang="en-GB" sz="2400" b="0" i="0" smtClean="0">
                          <a:latin typeface="Consolas" panose="020B0609020204030204" pitchFamily="49" charset="0"/>
                        </a:rPr>
                        <m:t>)</m:t>
                      </m:r>
                    </m:oMath>
                  </m:oMathPara>
                </a14:m>
                <a:endParaRPr lang="en-GB" sz="2400" b="0">
                  <a:latin typeface="Consolas" panose="020B0609020204030204" pitchFamily="49" charset="0"/>
                </a:endParaRPr>
              </a:p>
              <a:p>
                <a:pPr marL="0" indent="0">
                  <a:buNone/>
                </a:pPr>
                <a:endParaRPr lang="en-GB" b="0"/>
              </a:p>
              <a:p>
                <a:pPr marL="0" indent="0">
                  <a:buNone/>
                </a:pPr>
                <a:endParaRPr lang="en-GB" b="0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3B6186-E59B-6E80-77B0-34E11EB75E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77815" y="2826177"/>
                <a:ext cx="6512169" cy="1937483"/>
              </a:xfrm>
              <a:blipFill>
                <a:blip r:embed="rId2"/>
                <a:stretch>
                  <a:fillRect l="-749" b="-1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16D5-AB9D-7049-355B-409B9C12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3EAE5-A45C-46BA-4FA5-94366390CF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4E8FE-08B5-5D13-90B7-75CA8A2D8312}"/>
              </a:ext>
            </a:extLst>
          </p:cNvPr>
          <p:cNvSpPr txBox="1"/>
          <p:nvPr/>
        </p:nvSpPr>
        <p:spPr>
          <a:xfrm>
            <a:off x="4533899" y="939114"/>
            <a:ext cx="687111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/>
              <a:t>[EriLex, H. Xu, 2010][Fling, Gil &amp; Roth, 2019][...]</a:t>
            </a:r>
            <a:endParaRPr lang="en-US" sz="2600"/>
          </a:p>
        </p:txBody>
      </p:sp>
    </p:spTree>
    <p:extLst>
      <p:ext uri="{BB962C8B-B14F-4D97-AF65-F5344CB8AC3E}">
        <p14:creationId xmlns:p14="http://schemas.microsoft.com/office/powerpoint/2010/main" val="174193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B75E2-56D3-8D7B-9596-992FB4567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Limitations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81B4A-2E86-46E9-9381-F2B7EA981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3500"/>
              <a:t>Only ensures partial syntactic correctness</a:t>
            </a:r>
          </a:p>
          <a:p>
            <a:r>
              <a:rPr lang="en-GB" sz="3500"/>
              <a:t>Verbose error messages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262BE-2F04-E39F-BDB0-79EB9B706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EEA63-6EF5-0817-9B16-CF01C11D4F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Related Work</a:t>
            </a: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20E559-ACEB-1B69-FEC2-FE6886B70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309" y="2332939"/>
            <a:ext cx="5298903" cy="413134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9179D61-B7ED-DEB4-808C-3CB3E1C8279C}"/>
              </a:ext>
            </a:extLst>
          </p:cNvPr>
          <p:cNvGrpSpPr/>
          <p:nvPr/>
        </p:nvGrpSpPr>
        <p:grpSpPr>
          <a:xfrm>
            <a:off x="0" y="4868597"/>
            <a:ext cx="5826371" cy="1338596"/>
            <a:chOff x="0" y="4868597"/>
            <a:chExt cx="5826371" cy="133859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47882F-4EA4-1702-2532-BCB7C2E480C8}"/>
                </a:ext>
              </a:extLst>
            </p:cNvPr>
            <p:cNvSpPr txBox="1"/>
            <p:nvPr/>
          </p:nvSpPr>
          <p:spPr>
            <a:xfrm>
              <a:off x="838200" y="4868597"/>
              <a:ext cx="49881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>
                  <a:latin typeface="Consolas" panose="020B0609020204030204" pitchFamily="49" charset="0"/>
                </a:rPr>
                <a:t>SQL.select(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</a:t>
              </a:r>
              <a:r>
                <a:rPr lang="en-GB" u="wavyHeavy">
                  <a:solidFill>
                    <a:srgbClr val="129204"/>
                  </a:solidFill>
                  <a:uFill>
                    <a:solidFill>
                      <a:srgbClr val="FF0000"/>
                    </a:solidFill>
                  </a:uFill>
                  <a:latin typeface="Consolas" panose="020B0609020204030204" pitchFamily="49" charset="0"/>
                </a:rPr>
                <a:t>1 + 6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</a:t>
              </a:r>
              <a:r>
                <a:rPr lang="en-GB">
                  <a:latin typeface="Consolas" panose="020B0609020204030204" pitchFamily="49" charset="0"/>
                </a:rPr>
                <a:t>).from(</a:t>
              </a:r>
              <a:r>
                <a:rPr lang="en-GB">
                  <a:solidFill>
                    <a:srgbClr val="129204"/>
                  </a:solidFill>
                  <a:latin typeface="Consolas" panose="020B0609020204030204" pitchFamily="49" charset="0"/>
                </a:rPr>
                <a:t>"Students"</a:t>
              </a:r>
              <a:r>
                <a:rPr lang="en-GB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554BA5-58BF-91FD-2B13-F9BE898DD9FD}"/>
                </a:ext>
              </a:extLst>
            </p:cNvPr>
            <p:cNvSpPr txBox="1"/>
            <p:nvPr/>
          </p:nvSpPr>
          <p:spPr>
            <a:xfrm>
              <a:off x="0" y="5622418"/>
              <a:ext cx="320312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syntax error which cannot</a:t>
              </a:r>
            </a:p>
            <a:p>
              <a:pPr algn="ctr"/>
              <a:r>
                <a:rPr lang="en-GB" sz="1600">
                  <a:solidFill>
                    <a:srgbClr val="0070C0"/>
                  </a:solidFill>
                  <a:latin typeface="Comic Sans MS" panose="030F0702030302020204" pitchFamily="66" charset="0"/>
                </a:rPr>
                <a:t>be detected by safe fluent API</a:t>
              </a:r>
              <a:endParaRPr lang="en-US" sz="1600">
                <a:solidFill>
                  <a:srgbClr val="0070C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7B2E246-406E-D9EA-24FC-704F864A8C9D}"/>
                </a:ext>
              </a:extLst>
            </p:cNvPr>
            <p:cNvSpPr/>
            <p:nvPr/>
          </p:nvSpPr>
          <p:spPr>
            <a:xfrm>
              <a:off x="2875085" y="5240215"/>
              <a:ext cx="513154" cy="562708"/>
            </a:xfrm>
            <a:custGeom>
              <a:avLst/>
              <a:gdLst>
                <a:gd name="csX0" fmla="*/ 307730 w 513154"/>
                <a:gd name="csY0" fmla="*/ 562708 h 562708"/>
                <a:gd name="csX1" fmla="*/ 501161 w 513154"/>
                <a:gd name="csY1" fmla="*/ 369277 h 562708"/>
                <a:gd name="csX2" fmla="*/ 0 w 513154"/>
                <a:gd name="csY2" fmla="*/ 0 h 5627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13154" h="562708">
                  <a:moveTo>
                    <a:pt x="307730" y="562708"/>
                  </a:moveTo>
                  <a:cubicBezTo>
                    <a:pt x="430089" y="512885"/>
                    <a:pt x="552449" y="463062"/>
                    <a:pt x="501161" y="369277"/>
                  </a:cubicBezTo>
                  <a:cubicBezTo>
                    <a:pt x="449873" y="275492"/>
                    <a:pt x="224936" y="137746"/>
                    <a:pt x="0" y="0"/>
                  </a:cubicBezTo>
                </a:path>
              </a:pathLst>
            </a:custGeom>
            <a:noFill/>
            <a:ln w="19050" cap="flat" cmpd="sng" algn="ctr">
              <a:solidFill>
                <a:srgbClr val="0070C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29260A7-BA98-0293-B73A-E06BBD4C1FC5}"/>
              </a:ext>
            </a:extLst>
          </p:cNvPr>
          <p:cNvSpPr/>
          <p:nvPr/>
        </p:nvSpPr>
        <p:spPr>
          <a:xfrm>
            <a:off x="5164946" y="3965331"/>
            <a:ext cx="963292" cy="334107"/>
          </a:xfrm>
          <a:custGeom>
            <a:avLst/>
            <a:gdLst>
              <a:gd name="csX0" fmla="*/ 66477 w 963292"/>
              <a:gd name="csY0" fmla="*/ 0 h 334107"/>
              <a:gd name="csX1" fmla="*/ 92854 w 963292"/>
              <a:gd name="csY1" fmla="*/ 219807 h 334107"/>
              <a:gd name="csX2" fmla="*/ 963292 w 963292"/>
              <a:gd name="csY2" fmla="*/ 334107 h 3341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63292" h="334107">
                <a:moveTo>
                  <a:pt x="66477" y="0"/>
                </a:moveTo>
                <a:cubicBezTo>
                  <a:pt x="4931" y="82061"/>
                  <a:pt x="-56615" y="164123"/>
                  <a:pt x="92854" y="219807"/>
                </a:cubicBezTo>
                <a:cubicBezTo>
                  <a:pt x="242323" y="275491"/>
                  <a:pt x="602807" y="304799"/>
                  <a:pt x="963292" y="334107"/>
                </a:cubicBezTo>
              </a:path>
            </a:pathLst>
          </a:custGeom>
          <a:noFill/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145E35-84D0-1A4C-A7E4-16E86105FA72}"/>
              </a:ext>
            </a:extLst>
          </p:cNvPr>
          <p:cNvSpPr txBox="1"/>
          <p:nvPr/>
        </p:nvSpPr>
        <p:spPr>
          <a:xfrm>
            <a:off x="3842531" y="3644218"/>
            <a:ext cx="24112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>
                <a:solidFill>
                  <a:srgbClr val="0070C0"/>
                </a:solidFill>
                <a:latin typeface="Comic Sans MS" panose="030F0702030302020204" pitchFamily="66" charset="0"/>
              </a:rPr>
              <a:t>realistic error message</a:t>
            </a:r>
            <a:endParaRPr lang="en-US" sz="1600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9344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121A-C9B4-0168-8699-D3E3440F0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Static Analysis via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6DADA-3465-8E1F-274E-F9602F476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9F47F8-9B67-7025-0E7F-1726066FA2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79EFE5-CCF4-84FC-0D34-F544014A6A67}"/>
              </a:ext>
            </a:extLst>
          </p:cNvPr>
          <p:cNvSpPr/>
          <p:nvPr/>
        </p:nvSpPr>
        <p:spPr>
          <a:xfrm>
            <a:off x="838200" y="271835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1. Find embedded language code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39E0D09-783A-7470-5667-F97512493934}"/>
              </a:ext>
            </a:extLst>
          </p:cNvPr>
          <p:cNvSpPr/>
          <p:nvPr/>
        </p:nvSpPr>
        <p:spPr>
          <a:xfrm>
            <a:off x="3700758" y="2718351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2. Translate to original DSL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40FB80E-C740-E550-0AB3-57935B63015C}"/>
              </a:ext>
            </a:extLst>
          </p:cNvPr>
          <p:cNvSpPr/>
          <p:nvPr/>
        </p:nvSpPr>
        <p:spPr>
          <a:xfrm>
            <a:off x="6563316" y="2718350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3. Analyze w/ existing tools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83B758A-0C0C-38C4-4F5D-66B3C9471C6B}"/>
              </a:ext>
            </a:extLst>
          </p:cNvPr>
          <p:cNvSpPr/>
          <p:nvPr/>
        </p:nvSpPr>
        <p:spPr>
          <a:xfrm>
            <a:off x="9425874" y="2718350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4. Project results onto input</a:t>
            </a:r>
            <a:endParaRPr lang="en-US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2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59CBB-0F3F-4EF7-B1E2-103E9B578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1. Find EDSL Code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AE98C-70BF-EE07-C032-DE48A606B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9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29068E-6EEA-2B22-BFD2-012C57203E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9B5C00-B383-ABAC-35DF-011C3FDDE325}"/>
              </a:ext>
            </a:extLst>
          </p:cNvPr>
          <p:cNvSpPr/>
          <p:nvPr/>
        </p:nvSpPr>
        <p:spPr>
          <a:xfrm>
            <a:off x="838200" y="2148651"/>
            <a:ext cx="5671930" cy="3059454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Bar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foo()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Query query = SQL.select(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"name"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.from(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.where(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"age == 18"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CABB08-79FD-5374-81A2-B0201AB4A0E4}"/>
              </a:ext>
            </a:extLst>
          </p:cNvPr>
          <p:cNvSpPr/>
          <p:nvPr/>
        </p:nvSpPr>
        <p:spPr>
          <a:xfrm>
            <a:off x="3140765" y="3220279"/>
            <a:ext cx="2832652" cy="1013791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765D000-AF14-B181-A609-2B6AEECC6842}"/>
              </a:ext>
            </a:extLst>
          </p:cNvPr>
          <p:cNvGrpSpPr/>
          <p:nvPr/>
        </p:nvGrpSpPr>
        <p:grpSpPr>
          <a:xfrm>
            <a:off x="6967633" y="2603683"/>
            <a:ext cx="4360820" cy="2416557"/>
            <a:chOff x="6967633" y="2603683"/>
            <a:chExt cx="4360820" cy="241655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4E46B6A-57A8-2CE0-CF67-0DF5653BDB8A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AC2651-C941-9480-4781-95B0CC60FBFA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21B26DA-F701-EC43-2CBD-AA1DA8286243}"/>
                  </a:ext>
                </a:extLst>
              </p:cNvPr>
              <p:cNvCxnSpPr>
                <a:cxnSpLocks/>
                <a:endCxn id="14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578A638-AE3B-422A-C0CF-E866E5D8A640}"/>
                  </a:ext>
                </a:extLst>
              </p:cNvPr>
              <p:cNvCxnSpPr>
                <a:cxnSpLocks/>
                <a:stCxn id="11" idx="2"/>
                <a:endCxn id="15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C14254-F0F8-7B69-288D-645F137CA192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26256F1-0EF9-77BA-98E5-EA0B855BD97C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8A5049F-4643-27F4-4319-8AD2CF3F4F5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52C2777-1546-A8F1-7369-BD76F2F55F5F}"/>
                  </a:ext>
                </a:extLst>
              </p:cNvPr>
              <p:cNvCxnSpPr>
                <a:cxnSpLocks/>
                <a:stCxn id="15" idx="2"/>
                <a:endCxn id="19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5211F73-993E-11F8-EF47-D568C0757F9F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87F0E34-F440-96D3-A15A-5C6F2AE6E0BE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0D59AD4-B276-3931-25F9-583366D75A34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C8E9F0E-FD90-F8E9-80E1-DF5EB9E4E63D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1A72EC-DDC6-1B48-A9C1-2FE463D94167}"/>
                </a:ext>
              </a:extLst>
            </p:cNvPr>
            <p:cNvCxnSpPr>
              <a:cxnSpLocks/>
              <a:endCxn id="34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244F371-1417-416C-D1AB-6D4E4F9B1C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83C853-B8C8-9A56-780D-265098CC6CDE}"/>
              </a:ext>
            </a:extLst>
          </p:cNvPr>
          <p:cNvSpPr/>
          <p:nvPr/>
        </p:nvSpPr>
        <p:spPr>
          <a:xfrm>
            <a:off x="6140024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273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4EDF8-73B0-8568-6944-8657562B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B778D-C52D-3E31-8728-F3F891689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10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D55EBF-8263-EAF7-2D58-620423A2BA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CB7214E-5DE6-13AC-8BE0-D3F514D29685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3F6F419-3B5D-EAAB-2F11-3C5C8B19AFD6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3B9EDCA-B93E-4CF8-4247-0B7322B88BA6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0B5FDA1B-3FC5-49FC-4ADC-87A175D59223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71B34AB-912D-9655-B801-B9AAC6524DF5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0C97597-AE35-6C96-6B51-BFF49A8820A9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02D16C-6170-CFEF-6B36-8F4181BB487E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D1FA65F-F0CB-F3D6-A05E-72F6C0EDD18D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798F598-FECD-879E-BC75-2156738EDA3A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677AEA-ED96-6DEE-779A-2DD4AE2C99B1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6427CB-C438-ACA3-EE31-340F96B7A680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C69D66-4B94-91B8-2AC6-DEDA733B1671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AB4EA71-8DAB-60DA-6D1E-540E441C0F17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EA51C2-05D2-1ED1-2C4F-D384A15095E3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0928315-9C82-0FC9-5C47-CC0C306B2E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435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E8E13-FAD2-68E2-C2F1-5501E951D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91242-2A37-98A2-64DE-ACD3D2939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56942-5212-76F6-600F-559F68BB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11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85802C-DD9E-A882-2868-B4F85A5E37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36DB8C-8DC8-6B59-045D-3EDAE9477495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1584DD4-0BF8-85DF-1A1F-3B139E1D276E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E407AC-59E6-2B99-5179-35D1819BC549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322080A-D7D9-B5C4-AFAB-52DF890A42C1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43FC35D-9F19-DA02-6BFA-718C0E708083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43E4FF-8DA6-09EE-6DDC-EF53AD6C8B5E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E2132AB-522A-CC33-CE82-8164BD4ED5BA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E3FCF09-874A-B4D1-F326-BC0E06342A68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5F6324A-5F06-AA28-BA57-96ACFD198882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405D37-B729-02E2-C949-369542B4C5A5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0BC289D-04B0-2C25-7C42-8575AE9D82A8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350789-ED34-6A9C-0AB1-CE86695B57C3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7D5033-EA26-1DD5-3EBA-A7BECACA644E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8CAE09F-FF0C-2CFD-E6C4-3BC9033E7E75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AD849-6FD6-CC6B-DD9C-E925EB5F9F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7F9EBCF-6408-3940-0372-05D571A5E2F6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8BAEB0-EB74-FFEB-1B92-5D6F40F59247}"/>
              </a:ext>
            </a:extLst>
          </p:cNvPr>
          <p:cNvSpPr/>
          <p:nvPr/>
        </p:nvSpPr>
        <p:spPr>
          <a:xfrm>
            <a:off x="2963852" y="2653379"/>
            <a:ext cx="725037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5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7E8E3-5971-C875-CA65-EBC99DB2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1E18C-03A5-E46C-C0F7-AFD3AF8EB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7A578-706C-42F5-907B-CD6BFC19F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981272-DB6D-D3F5-31C7-782DC9FF1F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36DF541-79D3-B6E5-5EB2-94018AF254C4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D64FFE1-45A7-3D20-0C66-5691646A8ADF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2E7AE2-8824-4D3F-10B0-E2D54516DA85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C11BB090-F347-1657-FEFB-6D083F278D28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383D6DD8-F9FE-7360-541B-0445EB4F4F49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CD55C4-AA51-DC5F-BF6F-D27E3605E38B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2D72595-EC8C-288A-BA8C-A040DADB0334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3FAC0DA-AF8F-5EE8-B833-A96B1C2E26A3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4A92E166-04EC-9BDE-DBB4-01598D8DE9E5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A2E0FB-1A57-4722-3700-EC095BF209FE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5A045F-00E4-2432-30F2-8CF230CED2F4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CFD662-58BB-6469-BE87-5A7BD808B259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AD32F92-D5BB-6DC2-71D1-3E0F09180EA3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EAA1F-B73F-1131-733A-59AC8D459D1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ECF1EB6-276D-0F55-3E9A-CE40407CC8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588C498E-80EC-D82E-C904-13A45A11E1B5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4B956C-B5A9-8149-D137-44114EF31898}"/>
              </a:ext>
            </a:extLst>
          </p:cNvPr>
          <p:cNvSpPr/>
          <p:nvPr/>
        </p:nvSpPr>
        <p:spPr>
          <a:xfrm>
            <a:off x="1489892" y="3638861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A5EAFD-6EE4-3013-8E21-000EFA573BE0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</a:t>
            </a:r>
          </a:p>
        </p:txBody>
      </p:sp>
    </p:spTree>
    <p:extLst>
      <p:ext uri="{BB962C8B-B14F-4D97-AF65-F5344CB8AC3E}">
        <p14:creationId xmlns:p14="http://schemas.microsoft.com/office/powerpoint/2010/main" val="80068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F674-FB5F-C825-142A-E15CB9ED9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C6874-C0E1-27D3-A107-E701F62E9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8BA2D-2B10-0D4A-92A8-8D098B1C2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B7562-C294-DFAB-7A81-9495DF508A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C9DDDF6-C8AC-5EEE-DB1E-2FEEF52E2847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88F516F-5434-4BD5-08D1-98D64590B02A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7CE9BB-F5AC-E26B-4614-945CBEC04714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7433166-0613-895F-4B3A-FCF704962AF0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2E67D22-D0E6-4E42-47BA-C69DAC6D4598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E9A60F-0375-16E1-00D1-2E4EBEF40CCB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8AC2ECC-E4E8-C3A4-8BA0-A6B7767C3D27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1B475C4-5C6F-385F-3397-C902BCB7661B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5125A37-D3E8-B8F4-9F3C-2543C05B8623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078EF36-7784-20DC-A544-DD1E33DCAAD4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77B8C12-C6AB-343B-1A61-6B20DED2FB59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57854C2-84B9-7F4D-4A33-3AADDFDCA3EC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1896D2-8054-E8E7-D7D9-B61316CC4B3B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CC58867-B230-A8EF-F715-11F073F142F6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98AA058-DAEA-36BF-6799-E870152FDC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083A971A-4228-A27D-3B0C-C92B812B617A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175436-F811-A7B8-AD3D-E883843462BC}"/>
              </a:ext>
            </a:extLst>
          </p:cNvPr>
          <p:cNvSpPr/>
          <p:nvPr/>
        </p:nvSpPr>
        <p:spPr>
          <a:xfrm>
            <a:off x="1495934" y="4662432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AE64D-6CBF-3806-D064-0867C564EE67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</p:txBody>
      </p:sp>
    </p:spTree>
    <p:extLst>
      <p:ext uri="{BB962C8B-B14F-4D97-AF65-F5344CB8AC3E}">
        <p14:creationId xmlns:p14="http://schemas.microsoft.com/office/powerpoint/2010/main" val="35057593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F0B1D-3A55-BEC6-5D0E-C2A946809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013BC-DE0C-F3B3-95A3-5E92CD8C6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ED69F-6C3F-84E6-724E-DAEC63F2D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957DB0-907E-FAE0-0D26-99BF0B5B5D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452C80-4569-5EE5-C3C5-B5AFD65A0E31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AFFEC2-2FEC-F298-2733-4F4AC43932C6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FDFFFC-C617-4209-7813-B5533658F7BD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6C778A7-4AA7-BBA0-9F60-0FCFFDF02E7B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FB7B525-A599-E41C-BE23-B801A3DCC603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ED0168-D106-33C2-63E4-3121743E6416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6443074-A725-69D7-0D57-FC9610D375AB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0058BC-9B05-67DD-7E66-F02A4959B0E1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D90DFDF-6EDB-B03A-61E7-D6EB17834CFE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2E15D6-B83F-DFD1-66F8-188CC24D83DE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0B3EEC8-8F39-1C43-D27C-679D3EB9D685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1DFBEF1-DC43-4AFF-C97C-5BD9BF841308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2FE983B-CA07-19FB-4E27-28CC278F9549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042BA3F-EB37-2A03-B932-04403328E42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32CE66-E37D-60FD-BAC2-DB93A1D609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CCB7324-4D98-38BF-4A80-DC5D4B5A1C9D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AEC020-E506-DD68-4985-43A64CE3E988}"/>
              </a:ext>
            </a:extLst>
          </p:cNvPr>
          <p:cNvSpPr/>
          <p:nvPr/>
        </p:nvSpPr>
        <p:spPr>
          <a:xfrm>
            <a:off x="1470653" y="3638861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E461BF-7121-42CA-A0E9-4976364708AF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</p:txBody>
      </p:sp>
    </p:spTree>
    <p:extLst>
      <p:ext uri="{BB962C8B-B14F-4D97-AF65-F5344CB8AC3E}">
        <p14:creationId xmlns:p14="http://schemas.microsoft.com/office/powerpoint/2010/main" val="42482056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BAC1B-0256-F40E-EC5A-1CEF9E720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0C3EB-8EC3-90C9-FD78-FE8808CBC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1BCAF-39CB-C475-D0F6-1C16AEB99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15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AA11-3D7E-A43C-2F66-D079F9EC69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0BFF921-1AC5-3F4F-F7AB-0ABBC002ECF0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AEFD28-BB2D-3C9F-8644-BF6697EB8ABB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81174-B525-9F3D-9C2B-15B6DA4A2004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83B0FD93-9B26-E0F7-95AC-3535CD90E0FA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51A75C5-1CBC-54E1-E0CF-9E6EB0D98C65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25076C5-4581-F70D-7836-3E76528F12FE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D62F53-0499-3140-F67D-5AB6DE917734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D72F7FDE-4794-48AB-D78A-130A92050879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76CAA5-828C-F758-3BCE-575425EAEF84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4148542-38A3-9F8C-AC40-942694E80D67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9F18C5E-654D-12A7-191E-E9CF168A171E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CDC6D4-BB06-65A3-A07F-9824E75A1C96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899D0B-371E-E041-7D26-482A527F88FC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4CD5AAE-96D3-7B4E-5F9E-FDEA6C0E899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E3D4950-7BAC-09BC-A10C-6C09D10D0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DBB645-48E3-F6A6-AF35-51CE13645EA1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305528-BF2C-1D63-09A5-C1289E7FF4FC}"/>
              </a:ext>
            </a:extLst>
          </p:cNvPr>
          <p:cNvSpPr/>
          <p:nvPr/>
        </p:nvSpPr>
        <p:spPr>
          <a:xfrm>
            <a:off x="2818142" y="2654518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ADFE90-8322-1D66-B85A-65FD663FD6F1}"/>
              </a:ext>
            </a:extLst>
          </p:cNvPr>
          <p:cNvSpPr txBox="1"/>
          <p:nvPr/>
        </p:nvSpPr>
        <p:spPr>
          <a:xfrm>
            <a:off x="7335309" y="3151602"/>
            <a:ext cx="42600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</p:txBody>
      </p:sp>
    </p:spTree>
    <p:extLst>
      <p:ext uri="{BB962C8B-B14F-4D97-AF65-F5344CB8AC3E}">
        <p14:creationId xmlns:p14="http://schemas.microsoft.com/office/powerpoint/2010/main" val="492653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971CB-95A9-68CC-C08E-5B2DD5388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BCB82-1F25-B680-992E-CE89091C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85D10-E89E-3A9F-5507-A54E89CC2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16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4163D3-F016-5328-D35E-F45FD7CAA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EADC8E-3E64-6257-4131-31F0D4773CAE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8CCB948-8FB1-0B9D-39BB-67F868637642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26BACB-2402-330E-596C-23F54C5DD564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9EC7F1C-74C3-166C-8B5A-A61BB19C4599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04D72D9-DF2C-F136-89EC-FD6A00934C74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A85ABAB-F071-356C-5299-9209A56AECDF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D89955-6E21-25FC-5581-6817D085E2EA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D5736E7-6E67-000A-47C4-2270C259F09A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8379D44-0A63-2AAC-9A7C-79F0BE7989EB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470E614-73DA-70CF-D7FD-8C7B861D16FA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9982ED-A388-BB01-A424-0A8077114B25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0646A2-F091-DEB6-AD29-7429FCC688D9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DD1000-DAF4-F154-93C8-07B6D6CA1203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16B3387-3313-122B-FC1A-0EB8445DE4A6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700B5F-C992-2700-69F9-B2A26B5D9F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0F2A4754-0E6B-4087-047E-4E4B5849642B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1AE06C-7528-5A64-4927-69BC82DE05E6}"/>
              </a:ext>
            </a:extLst>
          </p:cNvPr>
          <p:cNvSpPr/>
          <p:nvPr/>
        </p:nvSpPr>
        <p:spPr>
          <a:xfrm>
            <a:off x="2818142" y="3604457"/>
            <a:ext cx="992573" cy="400110"/>
          </a:xfrm>
          <a:prstGeom prst="rect">
            <a:avLst/>
          </a:prstGeom>
          <a:ln w="38100" cap="flat" cmpd="sng" algn="ctr">
            <a:solidFill>
              <a:srgbClr val="FFFF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E3DA6-D9F4-5437-5499-F1FDC4483E39}"/>
              </a:ext>
            </a:extLst>
          </p:cNvPr>
          <p:cNvSpPr txBox="1"/>
          <p:nvPr/>
        </p:nvSpPr>
        <p:spPr>
          <a:xfrm>
            <a:off x="7335309" y="3151602"/>
            <a:ext cx="426004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  <a:p>
            <a:r>
              <a:rPr lang="en-GB" sz="2500">
                <a:latin typeface="Consolas" panose="020B0609020204030204" pitchFamily="49" charset="0"/>
              </a:rPr>
              <a:t>FROM</a:t>
            </a:r>
          </a:p>
        </p:txBody>
      </p:sp>
    </p:spTree>
    <p:extLst>
      <p:ext uri="{BB962C8B-B14F-4D97-AF65-F5344CB8AC3E}">
        <p14:creationId xmlns:p14="http://schemas.microsoft.com/office/powerpoint/2010/main" val="382422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D5B2-E59D-33CF-0282-D4E43B7ED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F3406-80F4-FEB9-958B-9AD5EAC2B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2. Backtranslation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8B34F-F88A-B837-4F52-675D05A16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17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E63B37-6113-2362-FAF8-15EC5F984B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C61C1CB-C6A8-6FD7-63A4-AA059597C05E}"/>
              </a:ext>
            </a:extLst>
          </p:cNvPr>
          <p:cNvGrpSpPr/>
          <p:nvPr/>
        </p:nvGrpSpPr>
        <p:grpSpPr>
          <a:xfrm>
            <a:off x="1451415" y="2653379"/>
            <a:ext cx="4360820" cy="2416557"/>
            <a:chOff x="6967633" y="2603683"/>
            <a:chExt cx="4360820" cy="241655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923C74-BC39-5FA7-83EA-E4A8558E29FC}"/>
                </a:ext>
              </a:extLst>
            </p:cNvPr>
            <p:cNvGrpSpPr/>
            <p:nvPr/>
          </p:nvGrpSpPr>
          <p:grpSpPr>
            <a:xfrm>
              <a:off x="6967633" y="2603683"/>
              <a:ext cx="2660669" cy="2416557"/>
              <a:chOff x="1282450" y="3680886"/>
              <a:chExt cx="2660669" cy="2416557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7DCC21C-EE48-E747-FFC3-6993C8B445A0}"/>
                  </a:ext>
                </a:extLst>
              </p:cNvPr>
              <p:cNvSpPr txBox="1"/>
              <p:nvPr/>
            </p:nvSpPr>
            <p:spPr>
              <a:xfrm>
                <a:off x="2717755" y="3680886"/>
                <a:ext cx="85542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/>
                  <a:t>Query</a:t>
                </a:r>
                <a:endParaRPr lang="en-US" sz="2000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5E475553-AFC2-48D0-4629-BC2356096397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 flipH="1">
                <a:off x="1797976" y="4080996"/>
                <a:ext cx="996911" cy="58537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D699353E-E0F9-30FC-D68B-485234F98BCF}"/>
                  </a:ext>
                </a:extLst>
              </p:cNvPr>
              <p:cNvCxnSpPr>
                <a:cxnSpLocks/>
                <a:stCxn id="12" idx="2"/>
                <a:endCxn id="16" idx="0"/>
              </p:cNvCxnSpPr>
              <p:nvPr/>
            </p:nvCxnSpPr>
            <p:spPr>
              <a:xfrm flipH="1">
                <a:off x="3145466" y="4080996"/>
                <a:ext cx="3" cy="571481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0C5BAF-842E-88FA-718D-17CD69DC8257}"/>
                  </a:ext>
                </a:extLst>
              </p:cNvPr>
              <p:cNvSpPr txBox="1"/>
              <p:nvPr/>
            </p:nvSpPr>
            <p:spPr>
              <a:xfrm>
                <a:off x="1282450" y="4666368"/>
                <a:ext cx="103105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select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8A83AC2-F887-EA14-AC33-9372799AD0B5}"/>
                  </a:ext>
                </a:extLst>
              </p:cNvPr>
              <p:cNvSpPr txBox="1"/>
              <p:nvPr/>
            </p:nvSpPr>
            <p:spPr>
              <a:xfrm>
                <a:off x="2771004" y="4652477"/>
                <a:ext cx="7489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>
                    <a:latin typeface="Consolas" panose="020B0609020204030204" pitchFamily="49" charset="0"/>
                  </a:rPr>
                  <a:t>from</a:t>
                </a:r>
                <a:endParaRPr lang="en-US" sz="200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420D957-B12B-1F4A-526C-2F70717F8831}"/>
                  </a:ext>
                </a:extLst>
              </p:cNvPr>
              <p:cNvCxnSpPr>
                <a:cxnSpLocks/>
                <a:stCxn id="15" idx="2"/>
              </p:cNvCxnSpPr>
              <p:nvPr/>
            </p:nvCxnSpPr>
            <p:spPr>
              <a:xfrm flipH="1">
                <a:off x="1797975" y="5066478"/>
                <a:ext cx="1" cy="62741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28DF2C0-5653-1090-AB0F-3D7633A14889}"/>
                  </a:ext>
                </a:extLst>
              </p:cNvPr>
              <p:cNvCxnSpPr>
                <a:cxnSpLocks/>
                <a:stCxn id="16" idx="2"/>
                <a:endCxn id="20" idx="0"/>
              </p:cNvCxnSpPr>
              <p:nvPr/>
            </p:nvCxnSpPr>
            <p:spPr>
              <a:xfrm flipH="1">
                <a:off x="3145465" y="5052587"/>
                <a:ext cx="1" cy="64474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3C573A-CC46-2303-250E-67F3EEFEFC2D}"/>
                  </a:ext>
                </a:extLst>
              </p:cNvPr>
              <p:cNvSpPr txBox="1"/>
              <p:nvPr/>
            </p:nvSpPr>
            <p:spPr>
              <a:xfrm>
                <a:off x="1326969" y="5689939"/>
                <a:ext cx="103105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"name"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0920C0-CA32-AF71-410F-C5D1009CA2D3}"/>
                  </a:ext>
                </a:extLst>
              </p:cNvPr>
              <p:cNvSpPr txBox="1"/>
              <p:nvPr/>
            </p:nvSpPr>
            <p:spPr>
              <a:xfrm>
                <a:off x="2347810" y="5697333"/>
                <a:ext cx="159530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>
                    <a:solidFill>
                      <a:srgbClr val="129204"/>
                    </a:solidFill>
                    <a:latin typeface="Consolas" panose="020B0609020204030204" pitchFamily="49" charset="0"/>
                  </a:rPr>
                  <a:t>"Students"</a:t>
                </a:r>
                <a:endParaRPr lang="en-US" sz="2000">
                  <a:solidFill>
                    <a:srgbClr val="129204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F6CE7D0-92C4-FD1E-068E-7A5C2618B464}"/>
                </a:ext>
              </a:extLst>
            </p:cNvPr>
            <p:cNvSpPr txBox="1"/>
            <p:nvPr/>
          </p:nvSpPr>
          <p:spPr>
            <a:xfrm>
              <a:off x="9592079" y="4620130"/>
              <a:ext cx="173637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>
                  <a:solidFill>
                    <a:srgbClr val="129204"/>
                  </a:solidFill>
                  <a:latin typeface="Consolas" panose="020B0609020204030204" pitchFamily="49" charset="0"/>
                </a:rPr>
                <a:t>"age == 18"</a:t>
              </a:r>
              <a:endParaRPr lang="en-US" sz="2000">
                <a:solidFill>
                  <a:srgbClr val="129204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A695BD-58A4-9E83-59B7-279773E5F72B}"/>
                </a:ext>
              </a:extLst>
            </p:cNvPr>
            <p:cNvSpPr txBox="1"/>
            <p:nvPr/>
          </p:nvSpPr>
          <p:spPr>
            <a:xfrm>
              <a:off x="10015272" y="3582400"/>
              <a:ext cx="88998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latin typeface="Consolas" panose="020B0609020204030204" pitchFamily="49" charset="0"/>
                </a:rPr>
                <a:t>where</a:t>
              </a:r>
              <a:endParaRPr lang="en-US" sz="200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CDDD5C-0AD8-AFF8-1D32-8DCAC90EBDCD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9153815" y="2990745"/>
              <a:ext cx="1306451" cy="59165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973540-D17D-5DAA-E76A-A237CC6009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60264" y="3967990"/>
              <a:ext cx="1" cy="64474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DEEC1D-313A-585C-C0DF-DD129E7A6E5E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425BC3-7E32-31AE-40DA-1C31BCA40749}"/>
              </a:ext>
            </a:extLst>
          </p:cNvPr>
          <p:cNvSpPr txBox="1"/>
          <p:nvPr/>
        </p:nvSpPr>
        <p:spPr>
          <a:xfrm>
            <a:off x="7335309" y="3151602"/>
            <a:ext cx="426004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  <a:p>
            <a:r>
              <a:rPr lang="en-GB" sz="2500">
                <a:latin typeface="Consolas" panose="020B0609020204030204" pitchFamily="49" charset="0"/>
              </a:rPr>
              <a:t>FROM Students</a:t>
            </a:r>
          </a:p>
          <a:p>
            <a:r>
              <a:rPr lang="en-GB" sz="2500">
                <a:latin typeface="Consolas" panose="020B0609020204030204" pitchFamily="49" charset="0"/>
              </a:rPr>
              <a:t>WHERE age == 18</a:t>
            </a:r>
          </a:p>
        </p:txBody>
      </p:sp>
    </p:spTree>
    <p:extLst>
      <p:ext uri="{BB962C8B-B14F-4D97-AF65-F5344CB8AC3E}">
        <p14:creationId xmlns:p14="http://schemas.microsoft.com/office/powerpoint/2010/main" val="3224605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690FC-F495-8F56-31EB-D7710E161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9E961-A4E2-0B13-2F00-70B5903D9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3. Analysis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7FDA4-50B8-B3E1-694D-2332EDB01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18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E1383E-BBDF-8D1B-4298-E7FBCB663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3887C2CF-24D4-D614-77F4-AEFC978E0AC6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DDD366-DCE2-4E6F-6010-1ACBF7ECF698}"/>
              </a:ext>
            </a:extLst>
          </p:cNvPr>
          <p:cNvSpPr txBox="1"/>
          <p:nvPr/>
        </p:nvSpPr>
        <p:spPr>
          <a:xfrm>
            <a:off x="1835959" y="3075247"/>
            <a:ext cx="2964641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SELECT name</a:t>
            </a:r>
          </a:p>
          <a:p>
            <a:r>
              <a:rPr lang="en-GB" sz="2500">
                <a:latin typeface="Consolas" panose="020B0609020204030204" pitchFamily="49" charset="0"/>
              </a:rPr>
              <a:t>FROM Students</a:t>
            </a:r>
          </a:p>
          <a:p>
            <a:r>
              <a:rPr lang="en-GB" sz="2500">
                <a:latin typeface="Consolas" panose="020B0609020204030204" pitchFamily="49" charset="0"/>
              </a:rPr>
              <a:t>WHERE age == 18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6724DA-EF76-5B85-DF9E-FF249C060FCA}"/>
              </a:ext>
            </a:extLst>
          </p:cNvPr>
          <p:cNvSpPr txBox="1"/>
          <p:nvPr/>
        </p:nvSpPr>
        <p:spPr>
          <a:xfrm>
            <a:off x="7852178" y="3075247"/>
            <a:ext cx="283238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 sz="2500">
                <a:latin typeface="Consolas" panose="020B0609020204030204" pitchFamily="49" charset="0"/>
              </a:rPr>
              <a:t> name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 sz="2500">
                <a:latin typeface="Consolas" panose="020B0609020204030204" pitchFamily="49" charset="0"/>
              </a:rPr>
              <a:t> Students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 sz="2500">
                <a:latin typeface="Consolas" panose="020B0609020204030204" pitchFamily="49" charset="0"/>
              </a:rPr>
              <a:t> </a:t>
            </a:r>
            <a:r>
              <a:rPr lang="en-GB" sz="2500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 sz="2500">
                <a:latin typeface="Consolas" panose="020B0609020204030204" pitchFamily="49" charset="0"/>
              </a:rPr>
              <a:t> == </a:t>
            </a:r>
            <a:r>
              <a:rPr lang="en-GB" sz="2500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FD9811-593B-0B76-5DFA-2C13BA46AF80}"/>
              </a:ext>
            </a:extLst>
          </p:cNvPr>
          <p:cNvSpPr txBox="1"/>
          <p:nvPr/>
        </p:nvSpPr>
        <p:spPr>
          <a:xfrm>
            <a:off x="7457843" y="4589799"/>
            <a:ext cx="3621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/>
              <a:t>Parse Successful✅</a:t>
            </a:r>
          </a:p>
          <a:p>
            <a:r>
              <a:rPr lang="en-GB" sz="3000"/>
              <a:t>1 Semantic Error ❌</a:t>
            </a:r>
            <a:endParaRPr lang="en-US" sz="30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1AE273-CC50-B3A5-B7E2-51DDF87F6E48}"/>
              </a:ext>
            </a:extLst>
          </p:cNvPr>
          <p:cNvSpPr txBox="1"/>
          <p:nvPr/>
        </p:nvSpPr>
        <p:spPr>
          <a:xfrm>
            <a:off x="8902412" y="3838911"/>
            <a:ext cx="731918" cy="477054"/>
          </a:xfrm>
          <a:prstGeom prst="rect">
            <a:avLst/>
          </a:prstGeom>
          <a:noFill/>
        </p:spPr>
        <p:txBody>
          <a:bodyPr wrap="square" lIns="90000" tIns="43200" rtlCol="0">
            <a:spAutoFit/>
          </a:bodyPr>
          <a:lstStyle/>
          <a:p>
            <a:r>
              <a:rPr lang="en-GB" sz="2500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endParaRPr lang="en-GB" sz="2500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77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C81DC-D30E-7AB1-3F85-1AEED17A6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7A4DC-FB8A-CC51-3D31-BCF791A42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4. Projection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F0468-F422-5078-5688-122D18173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19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5F0D5-6D59-BBFC-F649-828C891D1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7B0438-C999-AE01-0371-86B60EE8C09D}"/>
              </a:ext>
            </a:extLst>
          </p:cNvPr>
          <p:cNvSpPr txBox="1"/>
          <p:nvPr/>
        </p:nvSpPr>
        <p:spPr>
          <a:xfrm>
            <a:off x="1351987" y="2758411"/>
            <a:ext cx="283238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 sz="2500">
                <a:latin typeface="Consolas" panose="020B0609020204030204" pitchFamily="49" charset="0"/>
              </a:rPr>
              <a:t> name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 sz="2500">
                <a:latin typeface="Consolas" panose="020B0609020204030204" pitchFamily="49" charset="0"/>
              </a:rPr>
              <a:t> Students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 sz="2500">
                <a:latin typeface="Consolas" panose="020B0609020204030204" pitchFamily="49" charset="0"/>
              </a:rPr>
              <a:t> </a:t>
            </a:r>
            <a:r>
              <a:rPr lang="en-GB" sz="2500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 sz="2500">
                <a:latin typeface="Consolas" panose="020B0609020204030204" pitchFamily="49" charset="0"/>
              </a:rPr>
              <a:t> == </a:t>
            </a:r>
            <a:r>
              <a:rPr lang="en-GB" sz="2500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BF3731-16B6-076D-3207-F5C4FDC35BDA}"/>
              </a:ext>
            </a:extLst>
          </p:cNvPr>
          <p:cNvSpPr txBox="1"/>
          <p:nvPr/>
        </p:nvSpPr>
        <p:spPr>
          <a:xfrm>
            <a:off x="957652" y="4272963"/>
            <a:ext cx="3621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/>
              <a:t>Parse Successful✅</a:t>
            </a:r>
          </a:p>
          <a:p>
            <a:r>
              <a:rPr lang="en-GB" sz="3000"/>
              <a:t>1 Semantic Error ❌</a:t>
            </a:r>
            <a:endParaRPr lang="en-US" sz="30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C91094-DBB4-4657-EAC2-B02E0D2E5B23}"/>
              </a:ext>
            </a:extLst>
          </p:cNvPr>
          <p:cNvSpPr txBox="1"/>
          <p:nvPr/>
        </p:nvSpPr>
        <p:spPr>
          <a:xfrm>
            <a:off x="2402221" y="3522075"/>
            <a:ext cx="731918" cy="477054"/>
          </a:xfrm>
          <a:prstGeom prst="rect">
            <a:avLst/>
          </a:prstGeom>
          <a:noFill/>
        </p:spPr>
        <p:txBody>
          <a:bodyPr wrap="square" lIns="90000" tIns="43200" rtlCol="0">
            <a:spAutoFit/>
          </a:bodyPr>
          <a:lstStyle/>
          <a:p>
            <a:r>
              <a:rPr lang="en-GB" sz="2500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endParaRPr lang="en-GB" sz="2500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4B8E104-D46F-12F5-055F-4ECF2E13AF4F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B6C6E2-97C2-47DE-2E21-34B1DC5EF3DD}"/>
              </a:ext>
            </a:extLst>
          </p:cNvPr>
          <p:cNvSpPr/>
          <p:nvPr/>
        </p:nvSpPr>
        <p:spPr>
          <a:xfrm>
            <a:off x="6599300" y="2187747"/>
            <a:ext cx="5347535" cy="302149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Bar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foo()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Query query = SQL.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name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==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82879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812E4-BE95-0969-B5C0-B0C3FCAD9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B0115-2154-B082-1931-159BBB72B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4. Projection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28019-26AC-82A8-F50E-3A1424123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20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D412F2-700C-B263-751C-10B73E6652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32A372-530F-30AC-78FC-35E1148C4F9C}"/>
              </a:ext>
            </a:extLst>
          </p:cNvPr>
          <p:cNvSpPr txBox="1"/>
          <p:nvPr/>
        </p:nvSpPr>
        <p:spPr>
          <a:xfrm>
            <a:off x="1351987" y="2758411"/>
            <a:ext cx="283238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 sz="2500">
                <a:latin typeface="Consolas" panose="020B0609020204030204" pitchFamily="49" charset="0"/>
              </a:rPr>
              <a:t> name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 sz="2500">
                <a:latin typeface="Consolas" panose="020B0609020204030204" pitchFamily="49" charset="0"/>
              </a:rPr>
              <a:t> Students</a:t>
            </a:r>
          </a:p>
          <a:p>
            <a:r>
              <a:rPr lang="en-GB" sz="2500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 sz="2500">
                <a:latin typeface="Consolas" panose="020B0609020204030204" pitchFamily="49" charset="0"/>
              </a:rPr>
              <a:t> </a:t>
            </a:r>
            <a:r>
              <a:rPr lang="en-GB" sz="2500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GB" sz="2500">
                <a:latin typeface="Consolas" panose="020B0609020204030204" pitchFamily="49" charset="0"/>
              </a:rPr>
              <a:t> == </a:t>
            </a:r>
            <a:r>
              <a:rPr lang="en-GB" sz="2500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C97CCE-7919-9491-8E88-E69B6B1E2F47}"/>
              </a:ext>
            </a:extLst>
          </p:cNvPr>
          <p:cNvSpPr txBox="1"/>
          <p:nvPr/>
        </p:nvSpPr>
        <p:spPr>
          <a:xfrm>
            <a:off x="957652" y="4272963"/>
            <a:ext cx="3621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000"/>
              <a:t>Parse Successful✅</a:t>
            </a:r>
          </a:p>
          <a:p>
            <a:r>
              <a:rPr lang="en-GB" sz="3000"/>
              <a:t>1 Semantic Error ❌</a:t>
            </a:r>
            <a:endParaRPr lang="en-US" sz="30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926B2-376A-2BDE-33FB-B41CB0AD80C9}"/>
              </a:ext>
            </a:extLst>
          </p:cNvPr>
          <p:cNvSpPr txBox="1"/>
          <p:nvPr/>
        </p:nvSpPr>
        <p:spPr>
          <a:xfrm>
            <a:off x="2402221" y="3522075"/>
            <a:ext cx="731918" cy="477054"/>
          </a:xfrm>
          <a:prstGeom prst="rect">
            <a:avLst/>
          </a:prstGeom>
          <a:noFill/>
        </p:spPr>
        <p:txBody>
          <a:bodyPr wrap="square" lIns="90000" tIns="43200" rtlCol="0">
            <a:spAutoFit/>
          </a:bodyPr>
          <a:lstStyle/>
          <a:p>
            <a:r>
              <a:rPr lang="en-GB" sz="2500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endParaRPr lang="en-GB" sz="2500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A2738F2F-FD1B-2659-F095-2097F0F9DC20}"/>
              </a:ext>
            </a:extLst>
          </p:cNvPr>
          <p:cNvSpPr/>
          <p:nvPr/>
        </p:nvSpPr>
        <p:spPr>
          <a:xfrm>
            <a:off x="5799105" y="3429000"/>
            <a:ext cx="800195" cy="538990"/>
          </a:xfrm>
          <a:prstGeom prst="right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D2C977-31E7-1F1B-7785-939B5462B94B}"/>
              </a:ext>
            </a:extLst>
          </p:cNvPr>
          <p:cNvSpPr/>
          <p:nvPr/>
        </p:nvSpPr>
        <p:spPr>
          <a:xfrm>
            <a:off x="6599300" y="2187747"/>
            <a:ext cx="5347535" cy="302149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Bar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foo()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Query query = SQL.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name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Students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             .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 u="wavyHeavy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age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==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18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6771FF-A045-D57E-792F-975A64B38674}"/>
              </a:ext>
            </a:extLst>
          </p:cNvPr>
          <p:cNvSpPr/>
          <p:nvPr/>
        </p:nvSpPr>
        <p:spPr>
          <a:xfrm>
            <a:off x="8171672" y="4272963"/>
            <a:ext cx="3621056" cy="1088919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2200">
                <a:solidFill>
                  <a:schemeClr val="bg2">
                    <a:lumMod val="25000"/>
                  </a:schemeClr>
                </a:solidFill>
              </a:rPr>
              <a:t>Unselected column 'age'</a:t>
            </a:r>
          </a:p>
          <a:p>
            <a:pPr>
              <a:lnSpc>
                <a:spcPct val="200000"/>
              </a:lnSpc>
            </a:pPr>
            <a:r>
              <a:rPr lang="en-US" sz="2200" u="sng">
                <a:solidFill>
                  <a:schemeClr val="tx2">
                    <a:lumMod val="50000"/>
                    <a:lumOff val="50000"/>
                  </a:schemeClr>
                </a:solidFill>
              </a:rPr>
              <a:t>Select 'age' from 'Students'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2E3107-6F8A-B69C-3CBD-28ADF182C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0173" y="3967990"/>
            <a:ext cx="203569" cy="30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416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75BC8-8A55-57B5-CFBD-09E63E4E0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Challenges &amp; Limitations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CBD2A-CE5B-BD06-53FC-28C71A954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/>
              <a:t>Users will need to install an editor plug-in</a:t>
            </a:r>
          </a:p>
          <a:p>
            <a:r>
              <a:rPr lang="en-US" sz="4000"/>
              <a:t>Dynamic parameters are problematic…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22280-D238-7593-8E5D-4D58861EF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21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0F2FE3-400C-30A0-D0E7-90E1F52329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11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FDA5-C4D3-679C-9277-F54193B49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C0D7F-8C61-6A9C-D5FD-2CC54D748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Dynamic Parameters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9FF27-68E1-4B67-44F3-D502EB59A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22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0C2382-FFA0-8F64-C6AC-03DD2BAEA5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Proposal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EDB562-B6CA-3877-EE6F-826E6EB67944}"/>
              </a:ext>
            </a:extLst>
          </p:cNvPr>
          <p:cNvSpPr txBox="1"/>
          <p:nvPr/>
        </p:nvSpPr>
        <p:spPr>
          <a:xfrm>
            <a:off x="3625588" y="2231952"/>
            <a:ext cx="617989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>
                <a:latin typeface="Consolas" panose="020B0609020204030204" pitchFamily="49" charset="0"/>
              </a:rPr>
              <a:t>SQL.select(field).from(</a:t>
            </a:r>
            <a:r>
              <a:rPr lang="en-GB" sz="2500">
                <a:solidFill>
                  <a:srgbClr val="129204"/>
                </a:solidFill>
                <a:latin typeface="Consolas" panose="020B0609020204030204" pitchFamily="49" charset="0"/>
              </a:rPr>
              <a:t>"Students"</a:t>
            </a:r>
            <a:r>
              <a:rPr lang="en-GB" sz="2500">
                <a:latin typeface="Consolas" panose="020B0609020204030204" pitchFamily="49" charset="0"/>
              </a:rPr>
              <a:t>)</a:t>
            </a:r>
            <a:endParaRPr lang="en-US" sz="250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57784F-B39E-154F-E334-7C84235A3B33}"/>
              </a:ext>
            </a:extLst>
          </p:cNvPr>
          <p:cNvSpPr txBox="1"/>
          <p:nvPr/>
        </p:nvSpPr>
        <p:spPr>
          <a:xfrm>
            <a:off x="4154580" y="3551542"/>
            <a:ext cx="51219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500">
                <a:latin typeface="Consolas" panose="020B0609020204030204" pitchFamily="49" charset="0"/>
              </a:rPr>
              <a:t>SELECT {field} FROM Students</a:t>
            </a:r>
            <a:endParaRPr lang="en-US" sz="2500">
              <a:latin typeface="Consolas" panose="020B0609020204030204" pitchFamily="49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EF7BCFB-39F6-3E47-0128-AEDEA43DF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69860"/>
            <a:ext cx="10515600" cy="171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Next step:</a:t>
            </a:r>
          </a:p>
          <a:p>
            <a:r>
              <a:rPr lang="en-GB" sz="3200"/>
              <a:t>Find value using dataflow analysis</a:t>
            </a:r>
          </a:p>
          <a:p>
            <a:r>
              <a:rPr lang="en-GB" sz="3200"/>
              <a:t>Otherwise, insert some valid value</a:t>
            </a:r>
            <a:endParaRPr lang="en-US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B22C34-4B68-E329-23D0-458465EED925}"/>
              </a:ext>
            </a:extLst>
          </p:cNvPr>
          <p:cNvSpPr txBox="1"/>
          <p:nvPr/>
        </p:nvSpPr>
        <p:spPr>
          <a:xfrm>
            <a:off x="838200" y="2216563"/>
            <a:ext cx="180209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/>
              <a:t>EDSL Code</a:t>
            </a:r>
            <a:endParaRPr lang="en-US" sz="2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7BF1F6-11F3-A0EF-EE1B-AC62A91049E7}"/>
              </a:ext>
            </a:extLst>
          </p:cNvPr>
          <p:cNvSpPr txBox="1"/>
          <p:nvPr/>
        </p:nvSpPr>
        <p:spPr>
          <a:xfrm>
            <a:off x="838200" y="3551542"/>
            <a:ext cx="216200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/>
              <a:t>DSL Template</a:t>
            </a:r>
            <a:endParaRPr lang="en-US" sz="250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67A4C358-865C-91A5-89B0-614C11381613}"/>
              </a:ext>
            </a:extLst>
          </p:cNvPr>
          <p:cNvSpPr/>
          <p:nvPr/>
        </p:nvSpPr>
        <p:spPr>
          <a:xfrm>
            <a:off x="6372636" y="2709006"/>
            <a:ext cx="685800" cy="842536"/>
          </a:xfrm>
          <a:prstGeom prst="downArrow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905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build="p"/>
      <p:bldP spid="15" grpId="0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AC54F-B232-0C36-2E3A-2FE619D82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Current Progress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58BB0-7BF2-9E49-6F0D-D28DEBE23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/>
              <a:t>✅Come up with new method</a:t>
            </a:r>
          </a:p>
          <a:p>
            <a:pPr marL="0" indent="0">
              <a:buNone/>
            </a:pPr>
            <a:r>
              <a:rPr lang="en-GB" sz="4000"/>
              <a:t>🚧Create a Prototype</a:t>
            </a:r>
          </a:p>
          <a:p>
            <a:pPr marL="0" indent="0">
              <a:buNone/>
            </a:pPr>
            <a:r>
              <a:rPr lang="en-GB" sz="4000"/>
              <a:t>🚧Test it on existing Code</a:t>
            </a:r>
            <a:endParaRPr lang="en-US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54290-1BD1-B67F-1A9D-1CE3FCEF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23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33F436-752B-6FC4-90CD-31723F1B5C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275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652A-2BF7-C1D4-A334-9C62AF39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8BB87-6866-7A07-F5E6-CD7EF3271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Summary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C28D5-A852-B7A9-7E50-6E0F87865B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Fluent APIs for embedded DSLs are very useful!</a:t>
            </a:r>
          </a:p>
          <a:p>
            <a:r>
              <a:rPr lang="en-GB"/>
              <a:t>…static analysis is very limited</a:t>
            </a:r>
          </a:p>
          <a:p>
            <a:r>
              <a:rPr lang="en-GB"/>
              <a:t>My proposed method: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5679E-34F1-0601-E607-ED119F99F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24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BDB97F-39EA-78CF-D30E-D425085F39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4768CBD-C561-5EE3-07F8-AE64E9A61B87}"/>
              </a:ext>
            </a:extLst>
          </p:cNvPr>
          <p:cNvSpPr/>
          <p:nvPr/>
        </p:nvSpPr>
        <p:spPr>
          <a:xfrm>
            <a:off x="838200" y="3602934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1. Find embedded language code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83D4A0B-54F1-18AA-BFB7-3AD7BF203656}"/>
              </a:ext>
            </a:extLst>
          </p:cNvPr>
          <p:cNvSpPr/>
          <p:nvPr/>
        </p:nvSpPr>
        <p:spPr>
          <a:xfrm>
            <a:off x="3700758" y="3602933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2. Translate to original DSL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44F5FA-A3BD-9465-7504-43A1D5D53CF6}"/>
              </a:ext>
            </a:extLst>
          </p:cNvPr>
          <p:cNvSpPr/>
          <p:nvPr/>
        </p:nvSpPr>
        <p:spPr>
          <a:xfrm>
            <a:off x="6563316" y="360293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3. Analyze w/ existing tools</a:t>
            </a:r>
            <a:endParaRPr lang="en-US" sz="2000">
              <a:solidFill>
                <a:schemeClr val="bg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475F009-7E00-6B4D-2306-DAB98684FEC6}"/>
              </a:ext>
            </a:extLst>
          </p:cNvPr>
          <p:cNvSpPr/>
          <p:nvPr/>
        </p:nvSpPr>
        <p:spPr>
          <a:xfrm>
            <a:off x="9425874" y="3602932"/>
            <a:ext cx="2196547" cy="2136913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  <a:ln w="19050" cap="flat" cmpd="sng" algn="ctr">
            <a:solidFill>
              <a:srgbClr val="0070C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000">
                <a:solidFill>
                  <a:schemeClr val="bg1"/>
                </a:solidFill>
              </a:rPr>
              <a:t>4. Project results onto input</a:t>
            </a:r>
            <a:endParaRPr lang="en-US" sz="2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329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2E1856-8426-0DF2-F7C3-640199869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/>
              <a:t>Style Sheet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D0299A-2571-75BF-28CD-275B601F5376}"/>
              </a:ext>
            </a:extLst>
          </p:cNvPr>
          <p:cNvSpPr/>
          <p:nvPr/>
        </p:nvSpPr>
        <p:spPr>
          <a:xfrm>
            <a:off x="960544" y="1172630"/>
            <a:ext cx="8236210" cy="2625648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class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Example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public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void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main(String[] args)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(args.length &gt; 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en-US">
                <a:solidFill>
                  <a:srgbClr val="CB0756"/>
                </a:solidFill>
                <a:latin typeface="Consolas" panose="020B0609020204030204" pitchFamily="49" charset="0"/>
              </a:rPr>
              <a:t>if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(args[</a:t>
            </a:r>
            <a:r>
              <a:rPr lang="en-US">
                <a:solidFill>
                  <a:srgbClr val="447DE4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].equals(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"help"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  System.out.println(</a:t>
            </a:r>
            <a:r>
              <a:rPr lang="en-US">
                <a:solidFill>
                  <a:srgbClr val="129204"/>
                </a:solidFill>
                <a:latin typeface="Consolas" panose="020B0609020204030204" pitchFamily="49" charset="0"/>
              </a:rPr>
              <a:t>"There's no help for the wicked..."</a:t>
            </a:r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en-US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DAB52-400D-C030-7FEC-EB84659D4D68}"/>
              </a:ext>
            </a:extLst>
          </p:cNvPr>
          <p:cNvSpPr txBox="1"/>
          <p:nvPr/>
        </p:nvSpPr>
        <p:spPr>
          <a:xfrm>
            <a:off x="838200" y="4031108"/>
            <a:ext cx="6136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SELECT</a:t>
            </a:r>
            <a:r>
              <a:rPr lang="en-GB">
                <a:latin typeface="Consolas" panose="020B0609020204030204" pitchFamily="49" charset="0"/>
              </a:rPr>
              <a:t> *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FROM</a:t>
            </a:r>
            <a:r>
              <a:rPr lang="en-GB">
                <a:latin typeface="Consolas" panose="020B0609020204030204" pitchFamily="49" charset="0"/>
              </a:rPr>
              <a:t> Students </a:t>
            </a:r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WHERE</a:t>
            </a:r>
            <a:r>
              <a:rPr lang="en-GB">
                <a:latin typeface="Consolas" panose="020B0609020204030204" pitchFamily="49" charset="0"/>
              </a:rPr>
              <a:t> name == </a:t>
            </a:r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"John Doe"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6F49CE-77A9-9A93-2A3C-CA8305812C4D}"/>
              </a:ext>
            </a:extLst>
          </p:cNvPr>
          <p:cNvSpPr txBox="1"/>
          <p:nvPr/>
        </p:nvSpPr>
        <p:spPr>
          <a:xfrm>
            <a:off x="838200" y="4523316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CB0756"/>
                </a:solidFill>
                <a:latin typeface="Consolas" panose="020B0609020204030204" pitchFamily="49" charset="0"/>
              </a:rPr>
              <a:t>Keyword</a:t>
            </a:r>
            <a:endParaRPr lang="en-US">
              <a:solidFill>
                <a:srgbClr val="CB0756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8376D3-709C-334A-BF07-4BD6AB37A690}"/>
              </a:ext>
            </a:extLst>
          </p:cNvPr>
          <p:cNvSpPr txBox="1"/>
          <p:nvPr/>
        </p:nvSpPr>
        <p:spPr>
          <a:xfrm>
            <a:off x="2485292" y="452331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129204"/>
                </a:solidFill>
                <a:latin typeface="Consolas" panose="020B0609020204030204" pitchFamily="49" charset="0"/>
              </a:rPr>
              <a:t>"Hello World!"</a:t>
            </a:r>
            <a:endParaRPr lang="en-US">
              <a:solidFill>
                <a:srgbClr val="129204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13B999-9A50-C9D6-C604-43564BBB52DA}"/>
              </a:ext>
            </a:extLst>
          </p:cNvPr>
          <p:cNvSpPr txBox="1"/>
          <p:nvPr/>
        </p:nvSpPr>
        <p:spPr>
          <a:xfrm>
            <a:off x="4826977" y="452331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1_000_000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C6AEC-BA0F-7A37-788A-2CF669299A5A}"/>
              </a:ext>
            </a:extLst>
          </p:cNvPr>
          <p:cNvSpPr txBox="1"/>
          <p:nvPr/>
        </p:nvSpPr>
        <p:spPr>
          <a:xfrm>
            <a:off x="4898236" y="5015524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3.141529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B23F19-1218-6AD5-31C4-9BB7429F0C4E}"/>
              </a:ext>
            </a:extLst>
          </p:cNvPr>
          <p:cNvSpPr txBox="1"/>
          <p:nvPr/>
        </p:nvSpPr>
        <p:spPr>
          <a:xfrm>
            <a:off x="5143570" y="550773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solidFill>
                  <a:srgbClr val="447DE4"/>
                </a:solidFill>
                <a:latin typeface="Consolas" panose="020B0609020204030204" pitchFamily="49" charset="0"/>
              </a:rPr>
              <a:t>true</a:t>
            </a:r>
            <a:endParaRPr lang="en-US">
              <a:solidFill>
                <a:srgbClr val="447DE4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B4C16B-0EE4-1577-DE9D-F3027B508D11}"/>
              </a:ext>
            </a:extLst>
          </p:cNvPr>
          <p:cNvSpPr txBox="1"/>
          <p:nvPr/>
        </p:nvSpPr>
        <p:spPr>
          <a:xfrm>
            <a:off x="7248267" y="452331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other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5771B-60EB-B3AE-20A2-D51070C74581}"/>
              </a:ext>
            </a:extLst>
          </p:cNvPr>
          <p:cNvSpPr txBox="1"/>
          <p:nvPr/>
        </p:nvSpPr>
        <p:spPr>
          <a:xfrm>
            <a:off x="9071206" y="3128540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4A9ECA-BAD3-2A25-E22D-B1112DA9E4F5}"/>
              </a:ext>
            </a:extLst>
          </p:cNvPr>
          <p:cNvSpPr txBox="1"/>
          <p:nvPr/>
        </p:nvSpPr>
        <p:spPr>
          <a:xfrm>
            <a:off x="9071205" y="403110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u="wavyHeavy">
                <a:uFill>
                  <a:solidFill>
                    <a:srgbClr val="FF0000"/>
                  </a:solidFill>
                </a:uFill>
                <a:latin typeface="Consolas" panose="020B0609020204030204" pitchFamily="49" charset="0"/>
              </a:rPr>
              <a:t>error</a:t>
            </a:r>
            <a:endParaRPr lang="en-US" u="wavyHeavy">
              <a:uFill>
                <a:solidFill>
                  <a:srgbClr val="FF0000"/>
                </a:solidFill>
              </a:uFill>
              <a:latin typeface="Consolas" panose="020B0609020204030204" pitchFamily="49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BFA6880-5088-69D2-4BE2-9E2B88A2D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789" y="4205458"/>
            <a:ext cx="130150" cy="194982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74836C6-869E-8912-BE21-38887BE085A5}"/>
              </a:ext>
            </a:extLst>
          </p:cNvPr>
          <p:cNvSpPr/>
          <p:nvPr/>
        </p:nvSpPr>
        <p:spPr>
          <a:xfrm>
            <a:off x="9569789" y="4379423"/>
            <a:ext cx="1657988" cy="36512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  <a:endParaRPr lang="en-US" sz="16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9F32643-EC9B-CB00-3679-8FFAB04BFDC9}"/>
              </a:ext>
            </a:extLst>
          </p:cNvPr>
          <p:cNvSpPr/>
          <p:nvPr/>
        </p:nvSpPr>
        <p:spPr>
          <a:xfrm>
            <a:off x="9569788" y="5275427"/>
            <a:ext cx="1784011" cy="8564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GB" sz="1600">
                <a:solidFill>
                  <a:schemeClr val="bg2">
                    <a:lumMod val="25000"/>
                  </a:schemeClr>
                </a:solidFill>
              </a:rPr>
              <a:t>Error annotation</a:t>
            </a:r>
          </a:p>
          <a:p>
            <a:pPr>
              <a:lnSpc>
                <a:spcPct val="200000"/>
              </a:lnSpc>
            </a:pPr>
            <a:r>
              <a:rPr lang="en-US" sz="1600" u="sng">
                <a:solidFill>
                  <a:schemeClr val="tx2">
                    <a:lumMod val="50000"/>
                    <a:lumOff val="50000"/>
                  </a:schemeClr>
                </a:solidFill>
              </a:rPr>
              <a:t>Fix suggestion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58CF9CF-9025-1582-E812-62675947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3836" y="3238271"/>
            <a:ext cx="130150" cy="1949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E727E-6EB0-06AB-A7EB-165675BB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90E68-D690-4AC2-96FA-C0B5F80968D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86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38100" cap="flat" cmpd="sng" algn="ctr">
          <a:solidFill>
            <a:srgbClr val="FFFF00"/>
          </a:solidFill>
          <a:prstDash val="solid"/>
          <a:round/>
          <a:headEnd type="none" w="med" len="med"/>
          <a:tailEnd type="arrow" w="med" len="med"/>
        </a:ln>
      </a:spPr>
      <a:bodyPr rtlCol="0" anchor="ctr"/>
      <a:lstStyle>
        <a:defPPr algn="ctr">
          <a:defRPr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8583</TotalTime>
  <Words>1038</Words>
  <Application>Microsoft Office PowerPoint</Application>
  <PresentationFormat>Widescreen</PresentationFormat>
  <Paragraphs>307</Paragraphs>
  <Slides>25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Comic Sans MS</vt:lpstr>
      <vt:lpstr>Consolas</vt:lpstr>
      <vt:lpstr>Office Theme</vt:lpstr>
      <vt:lpstr>An Approach for Static Analysis of Fluent APIs</vt:lpstr>
      <vt:lpstr>Contents</vt:lpstr>
      <vt:lpstr>What are Fluent APIs?</vt:lpstr>
      <vt:lpstr>Fluent APIs 🤝 Embedded DSLs</vt:lpstr>
      <vt:lpstr>The Tradeoff</vt:lpstr>
      <vt:lpstr>Safe Fluent APIs</vt:lpstr>
      <vt:lpstr>Limitations</vt:lpstr>
      <vt:lpstr>Static Analysis via Backtranslation</vt:lpstr>
      <vt:lpstr>1. Find EDSL Code</vt:lpstr>
      <vt:lpstr>2. Backtranslation</vt:lpstr>
      <vt:lpstr>2. Backtranslation</vt:lpstr>
      <vt:lpstr>2. Backtranslation</vt:lpstr>
      <vt:lpstr>2. Backtranslation</vt:lpstr>
      <vt:lpstr>2. Backtranslation</vt:lpstr>
      <vt:lpstr>2. Backtranslation</vt:lpstr>
      <vt:lpstr>2. Backtranslation</vt:lpstr>
      <vt:lpstr>2. Backtranslation</vt:lpstr>
      <vt:lpstr>3. Analysis</vt:lpstr>
      <vt:lpstr>4. Projection</vt:lpstr>
      <vt:lpstr>4. Projection</vt:lpstr>
      <vt:lpstr>Challenges &amp; Limitations</vt:lpstr>
      <vt:lpstr>Dynamic Parameters</vt:lpstr>
      <vt:lpstr>Current Progress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Prüne</dc:creator>
  <cp:lastModifiedBy>Dennis Prüne</cp:lastModifiedBy>
  <cp:revision>29</cp:revision>
  <dcterms:created xsi:type="dcterms:W3CDTF">2026-04-14T09:40:23Z</dcterms:created>
  <dcterms:modified xsi:type="dcterms:W3CDTF">2026-07-24T04:17:20Z</dcterms:modified>
</cp:coreProperties>
</file>