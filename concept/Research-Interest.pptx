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7"/>
  </p:notesMasterIdLst>
  <p:sldIdLst>
    <p:sldId id="286" r:id="rId2"/>
    <p:sldId id="287" r:id="rId3"/>
    <p:sldId id="288" r:id="rId4"/>
    <p:sldId id="289" r:id="rId5"/>
    <p:sldId id="29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BEC4"/>
    <a:srgbClr val="6AAB73"/>
    <a:srgbClr val="26282B"/>
    <a:srgbClr val="1E1F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40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DFC1B7-3D5E-4A5B-82A1-8FEEA2A3FD17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645753-AE66-4D7F-9406-BD9694DCF1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5248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C679D-38E5-62C6-DCF5-C04B1C9195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B288A3-B35F-2082-6D50-BE52AF5996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1017F-F025-5400-6140-E5428DA43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8F9E1-B633-4671-85A1-702D296B2A14}" type="datetime1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F8174D-A11D-486F-CF04-0E88CD81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22E3C-11E9-61B1-DBA8-79694B82A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90E68-D690-4AC2-96FA-C0B5F8096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200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76113-E68B-BBA2-CDAB-79ED000E8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37F934-9076-09D9-3419-910458B245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80842D-B413-513F-D00B-0F377A4A1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A6D7-3A9E-4158-97DB-54FC883A2A06}" type="datetime1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A55A0-8903-6565-1068-D2BC5E6DF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393266-096C-A70C-AFFD-00C822C38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90E68-D690-4AC2-96FA-C0B5F8096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217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3564F-A307-C491-FE23-0F6A29C74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1052E5-9E55-BB04-15E2-EE0FEFD760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ADA1C6-65BA-7A4F-815C-A84E0B206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C4EFF-30AA-49EB-91CD-2B87EF8EB862}" type="datetime1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9574E6-B211-C2BB-7BA9-67667E69D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FC850-A256-C0E4-284B-E620E8241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90E68-D690-4AC2-96FA-C0B5F8096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198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23579-917D-D3AA-1638-246FD3FEF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C2CB76-418B-B247-6C74-6F9A741F65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C6CAA3-2229-9018-0916-E48C168DDF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A4E871-A9CB-2D58-804A-8B8707A75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1118-A18D-425F-81A8-FD92900FE385}" type="datetime1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AECA95-EFBB-B200-A7F0-A231A2F86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60B3AA-8FB9-DB22-B068-B6240A6B2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90E68-D690-4AC2-96FA-C0B5F8096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670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8B221-BB99-48A8-197F-89CCE40B2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5D10F7-C485-AD65-C886-A06D41B59D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D76E9B-C3F7-B779-CB31-A5B2E8F276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44C204-4A8A-33B1-9701-AC9E8F3A5D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EC0CB5-A440-ECED-F5E5-EAF67B25EA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253797-D8ED-93EE-8E58-DF58DEF70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6260F-663B-4006-AA2C-98D64336E379}" type="datetime1">
              <a:rPr lang="en-US" smtClean="0"/>
              <a:t>7/17/2026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1E6375-6CF0-2B55-E07F-70594A8A4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5E465-21B0-63C7-63AC-363986056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90E68-D690-4AC2-96FA-C0B5F8096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015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CB73E-1FDB-2768-18D7-8485AAC38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10CD60-1834-0DF8-3443-713D56191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CAB38-758B-4823-95AF-C50E6547966C}" type="datetime1">
              <a:rPr lang="en-US" smtClean="0"/>
              <a:t>7/17/2026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3F3FEE-CF11-8C35-6D90-76C6304C8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21C6E1-DA89-5462-56D3-26358FDC9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90E68-D690-4AC2-96FA-C0B5F8096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848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028DA4-D373-D1F6-209E-966219D57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87344-709F-43EA-A55B-8246CD3267AB}" type="datetime1">
              <a:rPr lang="en-US" smtClean="0"/>
              <a:t>7/17/2026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35CB80-108F-8FC2-127B-B08D4F865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C6B649-EB53-2848-390C-3A4296ACD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90E68-D690-4AC2-96FA-C0B5F8096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976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3889D-672A-FC76-2B81-7EE892F2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8DDFD9-081D-6001-41DF-96ACA27FB0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6F64D0-E159-82DE-47DD-F7556FA0DF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FEEF5F-78F1-EF2B-4382-375D8C9D4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CB447-DA57-4353-AF4E-16DFDA026034}" type="datetime1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C3C07A-3CD4-E8F9-9591-52C3E8BE9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AB6502-81A6-3D88-2039-3C24133F2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90E68-D690-4AC2-96FA-C0B5F8096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839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6E3FB-1D85-C984-8EFA-7D3968960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FC6586-CA07-0B0B-6D91-00E92D9DA6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18DE47-470D-21CD-DE5B-99C2B16496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B08691-1EC7-AA14-CC9C-9EF5A8EDB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5D064-2237-49F3-AB45-E1B7D4062571}" type="datetime1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E8A282-89E9-69BB-2C98-E6F7BE4D2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E503F8-246C-2C8B-1DEE-979C67A9A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90E68-D690-4AC2-96FA-C0B5F8096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289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C6F3D-8CAB-6F4A-F2F4-4FC14E26D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1687B3-6CC0-EC5C-4AF6-574DD41759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742338-32CC-B9CD-47B4-835A134B1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B55C5-286B-4763-BAC7-BF7B72B1422A}" type="datetime1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CF34E6-4CF0-607D-AD40-97885841C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DA7598-B72F-596B-0939-423513BE5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90E68-D690-4AC2-96FA-C0B5F8096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088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5CC993-C462-C039-3E0D-EFC0A53EDD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88C53B-5E6B-17A7-4426-8448744712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E28B83-BCE9-EA98-16F2-98E390A4D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12B56-0B9B-4C11-91C6-2FAECB8A82F0}" type="datetime1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771E89-95C7-563B-5AA7-3A05A9B07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D416D-097C-BCBD-AD42-2B8700DBC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90E68-D690-4AC2-96FA-C0B5F8096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316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5FE3C9-471C-AF24-9B31-408B6D7F0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5AC752-CF0B-2524-A240-3264854CC5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64DAA7-A556-9B03-DB8D-D79A598CDC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9DC357-BB2B-4622-A46E-34C8E155D5BC}" type="datetime1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C1BDC3-3EE0-5E7A-97E3-D90296BEA2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2EDCAB-2080-63E3-EF09-AA0A0D9129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890E68-D690-4AC2-96FA-C0B5F8096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933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1A507-5148-BED2-0F82-A58C5EDB2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9EBC1-51AF-2C9F-EF63-D2845706C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Use Case 1: Smart Error Messages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1A0C51-AC11-3191-F739-9C4FBF10E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90E68-D690-4AC2-96FA-C0B5F80968DC}" type="slidenum">
              <a:rPr lang="en-US" smtClean="0"/>
              <a:t>1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CAACC4-2347-792E-CB8D-E13FE1CB06B0}"/>
              </a:ext>
            </a:extLst>
          </p:cNvPr>
          <p:cNvSpPr/>
          <p:nvPr/>
        </p:nvSpPr>
        <p:spPr>
          <a:xfrm>
            <a:off x="3527898" y="1682582"/>
            <a:ext cx="5136204" cy="1245141"/>
          </a:xfrm>
          <a:prstGeom prst="rect">
            <a:avLst/>
          </a:prstGeom>
          <a:solidFill>
            <a:srgbClr val="1E1F22"/>
          </a:solidFill>
          <a:ln w="381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>
                <a:solidFill>
                  <a:srgbClr val="BCBEC4"/>
                </a:solidFill>
                <a:latin typeface="Consolas" panose="020B0609020204030204" pitchFamily="49" charset="0"/>
              </a:rPr>
              <a:t>Query </a:t>
            </a:r>
            <a:r>
              <a:rPr lang="en-US" err="1">
                <a:solidFill>
                  <a:srgbClr val="BCBEC4"/>
                </a:solidFill>
                <a:latin typeface="Consolas" panose="020B0609020204030204" pitchFamily="49" charset="0"/>
              </a:rPr>
              <a:t>query</a:t>
            </a:r>
            <a:r>
              <a:rPr lang="en-US">
                <a:solidFill>
                  <a:srgbClr val="BCBEC4"/>
                </a:solidFill>
                <a:latin typeface="Consolas" panose="020B0609020204030204" pitchFamily="49" charset="0"/>
              </a:rPr>
              <a:t> = </a:t>
            </a:r>
            <a:r>
              <a:rPr lang="en-US" err="1">
                <a:solidFill>
                  <a:srgbClr val="BCBEC4"/>
                </a:solidFill>
                <a:latin typeface="Consolas" panose="020B0609020204030204" pitchFamily="49" charset="0"/>
              </a:rPr>
              <a:t>SQL.select</a:t>
            </a:r>
            <a:r>
              <a:rPr lang="en-US">
                <a:solidFill>
                  <a:srgbClr val="BCBEC4"/>
                </a:solidFill>
                <a:latin typeface="Consolas" panose="020B0609020204030204" pitchFamily="49" charset="0"/>
              </a:rPr>
              <a:t>(</a:t>
            </a:r>
            <a:r>
              <a:rPr lang="en-US">
                <a:solidFill>
                  <a:srgbClr val="6AAB73"/>
                </a:solidFill>
                <a:latin typeface="Consolas" panose="020B0609020204030204" pitchFamily="49" charset="0"/>
              </a:rPr>
              <a:t>"*"</a:t>
            </a:r>
            <a:r>
              <a:rPr lang="en-US">
                <a:solidFill>
                  <a:srgbClr val="BCBEC4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>
                <a:solidFill>
                  <a:srgbClr val="BCBEC4"/>
                </a:solidFill>
                <a:latin typeface="Consolas" panose="020B0609020204030204" pitchFamily="49" charset="0"/>
              </a:rPr>
              <a:t>                 .from(</a:t>
            </a:r>
            <a:r>
              <a:rPr lang="en-US">
                <a:solidFill>
                  <a:srgbClr val="6AAB73"/>
                </a:solidFill>
                <a:latin typeface="Consolas" panose="020B0609020204030204" pitchFamily="49" charset="0"/>
              </a:rPr>
              <a:t>"Students"</a:t>
            </a:r>
            <a:r>
              <a:rPr lang="en-US">
                <a:solidFill>
                  <a:srgbClr val="BCBEC4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>
                <a:solidFill>
                  <a:srgbClr val="BCBEC4"/>
                </a:solidFill>
                <a:latin typeface="Consolas" panose="020B0609020204030204" pitchFamily="49" charset="0"/>
              </a:rPr>
              <a:t>                 .</a:t>
            </a:r>
            <a:r>
              <a:rPr lang="en-US" u="wavyHeavy">
                <a:solidFill>
                  <a:srgbClr val="BCBEC4"/>
                </a:solidFill>
                <a:uFill>
                  <a:solidFill>
                    <a:srgbClr val="FF0000"/>
                  </a:solidFill>
                </a:uFill>
                <a:latin typeface="Consolas" panose="020B0609020204030204" pitchFamily="49" charset="0"/>
              </a:rPr>
              <a:t>from</a:t>
            </a:r>
            <a:r>
              <a:rPr lang="en-US">
                <a:solidFill>
                  <a:srgbClr val="BCBEC4"/>
                </a:solidFill>
                <a:latin typeface="Consolas" panose="020B0609020204030204" pitchFamily="49" charset="0"/>
              </a:rPr>
              <a:t>(</a:t>
            </a:r>
            <a:r>
              <a:rPr lang="en-US">
                <a:solidFill>
                  <a:srgbClr val="6AAB73"/>
                </a:solidFill>
                <a:latin typeface="Consolas" panose="020B0609020204030204" pitchFamily="49" charset="0"/>
              </a:rPr>
              <a:t>"Teachers"</a:t>
            </a:r>
            <a:r>
              <a:rPr lang="en-US">
                <a:solidFill>
                  <a:srgbClr val="BCBEC4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>
                <a:solidFill>
                  <a:srgbClr val="BCBEC4"/>
                </a:solidFill>
                <a:latin typeface="Consolas" panose="020B0609020204030204" pitchFamily="49" charset="0"/>
              </a:rPr>
              <a:t>                 .end();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B5188BB-6C69-507B-E814-D468114F35E7}"/>
              </a:ext>
            </a:extLst>
          </p:cNvPr>
          <p:cNvSpPr/>
          <p:nvPr/>
        </p:nvSpPr>
        <p:spPr>
          <a:xfrm>
            <a:off x="3527898" y="4343400"/>
            <a:ext cx="5136204" cy="1245141"/>
          </a:xfrm>
          <a:prstGeom prst="rect">
            <a:avLst/>
          </a:prstGeom>
          <a:solidFill>
            <a:srgbClr val="1E1F22"/>
          </a:solidFill>
          <a:ln w="381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>
                <a:solidFill>
                  <a:srgbClr val="BCBEC4"/>
                </a:solidFill>
                <a:latin typeface="Consolas" panose="020B0609020204030204" pitchFamily="49" charset="0"/>
              </a:rPr>
              <a:t>Query </a:t>
            </a:r>
            <a:r>
              <a:rPr lang="en-US" err="1">
                <a:solidFill>
                  <a:srgbClr val="BCBEC4"/>
                </a:solidFill>
                <a:latin typeface="Consolas" panose="020B0609020204030204" pitchFamily="49" charset="0"/>
              </a:rPr>
              <a:t>query</a:t>
            </a:r>
            <a:r>
              <a:rPr lang="en-US">
                <a:solidFill>
                  <a:srgbClr val="BCBEC4"/>
                </a:solidFill>
                <a:latin typeface="Consolas" panose="020B0609020204030204" pitchFamily="49" charset="0"/>
              </a:rPr>
              <a:t> = </a:t>
            </a:r>
            <a:r>
              <a:rPr lang="en-US" err="1">
                <a:solidFill>
                  <a:srgbClr val="BCBEC4"/>
                </a:solidFill>
                <a:latin typeface="Consolas" panose="020B0609020204030204" pitchFamily="49" charset="0"/>
              </a:rPr>
              <a:t>SQL.select</a:t>
            </a:r>
            <a:r>
              <a:rPr lang="en-US">
                <a:solidFill>
                  <a:srgbClr val="BCBEC4"/>
                </a:solidFill>
                <a:latin typeface="Consolas" panose="020B0609020204030204" pitchFamily="49" charset="0"/>
              </a:rPr>
              <a:t>(</a:t>
            </a:r>
            <a:r>
              <a:rPr lang="en-US">
                <a:solidFill>
                  <a:srgbClr val="6AAB73"/>
                </a:solidFill>
                <a:latin typeface="Consolas" panose="020B0609020204030204" pitchFamily="49" charset="0"/>
              </a:rPr>
              <a:t>"*"</a:t>
            </a:r>
            <a:r>
              <a:rPr lang="en-US">
                <a:solidFill>
                  <a:srgbClr val="BCBEC4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>
                <a:solidFill>
                  <a:srgbClr val="BCBEC4"/>
                </a:solidFill>
                <a:latin typeface="Consolas" panose="020B0609020204030204" pitchFamily="49" charset="0"/>
              </a:rPr>
              <a:t>                 .from(</a:t>
            </a:r>
            <a:r>
              <a:rPr lang="en-US">
                <a:solidFill>
                  <a:srgbClr val="6AAB73"/>
                </a:solidFill>
                <a:latin typeface="Consolas" panose="020B0609020204030204" pitchFamily="49" charset="0"/>
              </a:rPr>
              <a:t>"Students"</a:t>
            </a:r>
            <a:r>
              <a:rPr lang="en-US">
                <a:solidFill>
                  <a:srgbClr val="BCBEC4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>
                <a:solidFill>
                  <a:srgbClr val="BCBEC4"/>
                </a:solidFill>
                <a:latin typeface="Consolas" panose="020B0609020204030204" pitchFamily="49" charset="0"/>
              </a:rPr>
              <a:t>                 .</a:t>
            </a:r>
            <a:r>
              <a:rPr lang="en-US" u="wavyHeavy">
                <a:solidFill>
                  <a:srgbClr val="BCBEC4"/>
                </a:solidFill>
                <a:uFill>
                  <a:solidFill>
                    <a:srgbClr val="FF0000"/>
                  </a:solidFill>
                </a:uFill>
                <a:latin typeface="Consolas" panose="020B0609020204030204" pitchFamily="49" charset="0"/>
              </a:rPr>
              <a:t>from</a:t>
            </a:r>
            <a:r>
              <a:rPr lang="en-US">
                <a:solidFill>
                  <a:srgbClr val="BCBEC4"/>
                </a:solidFill>
                <a:latin typeface="Consolas" panose="020B0609020204030204" pitchFamily="49" charset="0"/>
              </a:rPr>
              <a:t>(</a:t>
            </a:r>
            <a:r>
              <a:rPr lang="en-US">
                <a:solidFill>
                  <a:srgbClr val="6AAB73"/>
                </a:solidFill>
                <a:latin typeface="Consolas" panose="020B0609020204030204" pitchFamily="49" charset="0"/>
              </a:rPr>
              <a:t>"Teachers"</a:t>
            </a:r>
            <a:r>
              <a:rPr lang="en-US">
                <a:solidFill>
                  <a:srgbClr val="BCBEC4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>
                <a:solidFill>
                  <a:srgbClr val="BCBEC4"/>
                </a:solidFill>
                <a:latin typeface="Consolas" panose="020B0609020204030204" pitchFamily="49" charset="0"/>
              </a:rPr>
              <a:t>                 .end();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3E906DB-7EB0-1308-65DB-06E98125C4F2}"/>
              </a:ext>
            </a:extLst>
          </p:cNvPr>
          <p:cNvSpPr/>
          <p:nvPr/>
        </p:nvSpPr>
        <p:spPr>
          <a:xfrm>
            <a:off x="6044834" y="5278448"/>
            <a:ext cx="4131013" cy="365125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GB" sz="1600">
                <a:solidFill>
                  <a:srgbClr val="BCBEC4"/>
                </a:solidFill>
              </a:rPr>
              <a:t>Expected 'where' or 'end' but got 'from'</a:t>
            </a:r>
            <a:endParaRPr lang="en-US" sz="1600">
              <a:solidFill>
                <a:srgbClr val="BCBEC4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DA98A29-7D84-C35D-7062-77BCC08416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0925" y="5028434"/>
            <a:ext cx="130150" cy="194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4518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C1E30-2F61-951D-46FF-5BA9CB219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274853B-4518-FEAD-0748-C739F688ECC7}"/>
              </a:ext>
            </a:extLst>
          </p:cNvPr>
          <p:cNvSpPr/>
          <p:nvPr/>
        </p:nvSpPr>
        <p:spPr>
          <a:xfrm>
            <a:off x="3527898" y="4339018"/>
            <a:ext cx="5136204" cy="943154"/>
          </a:xfrm>
          <a:prstGeom prst="rect">
            <a:avLst/>
          </a:prstGeom>
          <a:solidFill>
            <a:srgbClr val="1E1F22"/>
          </a:solidFill>
          <a:ln w="381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>
                <a:solidFill>
                  <a:srgbClr val="BCBEC4"/>
                </a:solidFill>
                <a:latin typeface="Consolas" panose="020B0609020204030204" pitchFamily="49" charset="0"/>
              </a:rPr>
              <a:t>Query query = SQL.select(</a:t>
            </a:r>
            <a:r>
              <a:rPr lang="en-US">
                <a:solidFill>
                  <a:srgbClr val="6AAB73"/>
                </a:solidFill>
                <a:latin typeface="Consolas" panose="020B0609020204030204" pitchFamily="49" charset="0"/>
              </a:rPr>
              <a:t>"</a:t>
            </a:r>
            <a:r>
              <a:rPr lang="en-US" u="wavyHeavy">
                <a:solidFill>
                  <a:srgbClr val="6AAB73"/>
                </a:solidFill>
                <a:uFill>
                  <a:solidFill>
                    <a:srgbClr val="FF0000"/>
                  </a:solidFill>
                </a:uFill>
                <a:latin typeface="Consolas" panose="020B0609020204030204" pitchFamily="49" charset="0"/>
              </a:rPr>
              <a:t>1 </a:t>
            </a:r>
            <a:r>
              <a:rPr lang="en-US">
                <a:solidFill>
                  <a:srgbClr val="6AAB73"/>
                </a:solidFill>
                <a:latin typeface="Consolas" panose="020B0609020204030204" pitchFamily="49" charset="0"/>
              </a:rPr>
              <a:t>+ 5"</a:t>
            </a:r>
            <a:r>
              <a:rPr lang="en-US">
                <a:solidFill>
                  <a:srgbClr val="BCBEC4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>
                <a:solidFill>
                  <a:srgbClr val="BCBEC4"/>
                </a:solidFill>
                <a:latin typeface="Consolas" panose="020B0609020204030204" pitchFamily="49" charset="0"/>
              </a:rPr>
              <a:t>                 .from(</a:t>
            </a:r>
            <a:r>
              <a:rPr lang="en-US">
                <a:solidFill>
                  <a:srgbClr val="6AAB73"/>
                </a:solidFill>
                <a:latin typeface="Consolas" panose="020B0609020204030204" pitchFamily="49" charset="0"/>
              </a:rPr>
              <a:t>"Students"</a:t>
            </a:r>
            <a:r>
              <a:rPr lang="en-US">
                <a:solidFill>
                  <a:srgbClr val="BCBEC4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>
                <a:solidFill>
                  <a:srgbClr val="BCBEC4"/>
                </a:solidFill>
                <a:latin typeface="Consolas" panose="020B0609020204030204" pitchFamily="49" charset="0"/>
              </a:rPr>
              <a:t>                 .end();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0B221C-34EB-5291-3719-7053CB04F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Use Case 2: Analyzing String Literals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07B5FB-6A78-3AD9-87A9-0381EEAA8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90E68-D690-4AC2-96FA-C0B5F80968DC}" type="slidenum">
              <a:rPr lang="en-US" smtClean="0"/>
              <a:t>2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972773-4748-E484-1CB5-4C8C748DF3CB}"/>
              </a:ext>
            </a:extLst>
          </p:cNvPr>
          <p:cNvSpPr/>
          <p:nvPr/>
        </p:nvSpPr>
        <p:spPr>
          <a:xfrm>
            <a:off x="3527898" y="1682583"/>
            <a:ext cx="5136204" cy="943154"/>
          </a:xfrm>
          <a:prstGeom prst="rect">
            <a:avLst/>
          </a:prstGeom>
          <a:solidFill>
            <a:srgbClr val="1E1F22"/>
          </a:solidFill>
          <a:ln w="381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>
                <a:solidFill>
                  <a:srgbClr val="BCBEC4"/>
                </a:solidFill>
                <a:latin typeface="Consolas" panose="020B0609020204030204" pitchFamily="49" charset="0"/>
              </a:rPr>
              <a:t>Query query = SQL.select(</a:t>
            </a:r>
            <a:r>
              <a:rPr lang="en-US">
                <a:solidFill>
                  <a:srgbClr val="6AAB73"/>
                </a:solidFill>
                <a:latin typeface="Consolas" panose="020B0609020204030204" pitchFamily="49" charset="0"/>
              </a:rPr>
              <a:t>"</a:t>
            </a:r>
            <a:r>
              <a:rPr lang="en-US" u="wavyHeavy">
                <a:solidFill>
                  <a:srgbClr val="6AAB73"/>
                </a:solidFill>
                <a:uFill>
                  <a:solidFill>
                    <a:srgbClr val="FF0000"/>
                  </a:solidFill>
                </a:uFill>
                <a:latin typeface="Consolas" panose="020B0609020204030204" pitchFamily="49" charset="0"/>
              </a:rPr>
              <a:t>1 </a:t>
            </a:r>
            <a:r>
              <a:rPr lang="en-US">
                <a:solidFill>
                  <a:srgbClr val="6AAB73"/>
                </a:solidFill>
                <a:latin typeface="Consolas" panose="020B0609020204030204" pitchFamily="49" charset="0"/>
              </a:rPr>
              <a:t>+ 5"</a:t>
            </a:r>
            <a:r>
              <a:rPr lang="en-US">
                <a:solidFill>
                  <a:srgbClr val="BCBEC4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>
                <a:solidFill>
                  <a:srgbClr val="BCBEC4"/>
                </a:solidFill>
                <a:latin typeface="Consolas" panose="020B0609020204030204" pitchFamily="49" charset="0"/>
              </a:rPr>
              <a:t>                 .from(</a:t>
            </a:r>
            <a:r>
              <a:rPr lang="en-US">
                <a:solidFill>
                  <a:srgbClr val="6AAB73"/>
                </a:solidFill>
                <a:latin typeface="Consolas" panose="020B0609020204030204" pitchFamily="49" charset="0"/>
              </a:rPr>
              <a:t>"Students"</a:t>
            </a:r>
            <a:r>
              <a:rPr lang="en-US">
                <a:solidFill>
                  <a:srgbClr val="BCBEC4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>
                <a:solidFill>
                  <a:srgbClr val="BCBEC4"/>
                </a:solidFill>
                <a:latin typeface="Consolas" panose="020B0609020204030204" pitchFamily="49" charset="0"/>
              </a:rPr>
              <a:t>                 .end();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99945E3-CF40-5011-C9D7-3C8D234D5A1D}"/>
              </a:ext>
            </a:extLst>
          </p:cNvPr>
          <p:cNvSpPr/>
          <p:nvPr/>
        </p:nvSpPr>
        <p:spPr>
          <a:xfrm>
            <a:off x="7019284" y="4762131"/>
            <a:ext cx="4131013" cy="365125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GB" sz="1600">
                <a:solidFill>
                  <a:srgbClr val="BCBEC4"/>
                </a:solidFill>
              </a:rPr>
              <a:t>Expected '*' or ID but got '1'</a:t>
            </a:r>
            <a:endParaRPr lang="en-US" sz="1600">
              <a:solidFill>
                <a:srgbClr val="BCBEC4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F703AA3-1A30-C5CC-99F6-41A1103FEF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284" y="4491961"/>
            <a:ext cx="130150" cy="194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01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A86C0-D4FA-144A-B096-4D80615EC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8342A-DA08-D6B2-8792-2155CE7C3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Use Case 3: DSL Syntax Highlighting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AC56A8-B6DF-BA9F-3498-46A7E18A6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90E68-D690-4AC2-96FA-C0B5F80968DC}" type="slidenum">
              <a:rPr lang="en-US" smtClean="0"/>
              <a:t>3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A3E6D8-C4DA-47A4-635D-1290839C1F57}"/>
              </a:ext>
            </a:extLst>
          </p:cNvPr>
          <p:cNvSpPr/>
          <p:nvPr/>
        </p:nvSpPr>
        <p:spPr>
          <a:xfrm>
            <a:off x="3178045" y="2810400"/>
            <a:ext cx="5835910" cy="1237199"/>
          </a:xfrm>
          <a:prstGeom prst="rect">
            <a:avLst/>
          </a:prstGeom>
          <a:solidFill>
            <a:srgbClr val="1E1F22"/>
          </a:solidFill>
          <a:ln w="381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>
                <a:solidFill>
                  <a:srgbClr val="BCBEC4"/>
                </a:solidFill>
                <a:latin typeface="Consolas" panose="020B0609020204030204" pitchFamily="49" charset="0"/>
              </a:rPr>
              <a:t>Query query = SQL.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</a:rPr>
              <a:t>select</a:t>
            </a:r>
            <a:r>
              <a:rPr lang="en-US">
                <a:solidFill>
                  <a:srgbClr val="BCBEC4"/>
                </a:solidFill>
                <a:latin typeface="Consolas" panose="020B0609020204030204" pitchFamily="49" charset="0"/>
              </a:rPr>
              <a:t>(</a:t>
            </a:r>
            <a:r>
              <a:rPr lang="en-US">
                <a:solidFill>
                  <a:srgbClr val="6AAB73"/>
                </a:solidFill>
                <a:latin typeface="Consolas" panose="020B0609020204030204" pitchFamily="49" charset="0"/>
              </a:rPr>
              <a:t>"</a:t>
            </a:r>
            <a:r>
              <a:rPr lang="en-US">
                <a:solidFill>
                  <a:srgbClr val="BCBEC4"/>
                </a:solidFill>
                <a:latin typeface="Consolas" panose="020B0609020204030204" pitchFamily="49" charset="0"/>
              </a:rPr>
              <a:t>name, birth_year</a:t>
            </a:r>
            <a:r>
              <a:rPr lang="en-US">
                <a:solidFill>
                  <a:srgbClr val="6AAB73"/>
                </a:solidFill>
                <a:latin typeface="Consolas" panose="020B0609020204030204" pitchFamily="49" charset="0"/>
              </a:rPr>
              <a:t>"</a:t>
            </a:r>
            <a:r>
              <a:rPr lang="en-US">
                <a:solidFill>
                  <a:srgbClr val="BCBEC4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>
                <a:solidFill>
                  <a:srgbClr val="BCBEC4"/>
                </a:solidFill>
                <a:latin typeface="Consolas" panose="020B0609020204030204" pitchFamily="49" charset="0"/>
              </a:rPr>
              <a:t>                 .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</a:rPr>
              <a:t>from</a:t>
            </a:r>
            <a:r>
              <a:rPr lang="en-US">
                <a:solidFill>
                  <a:srgbClr val="BCBEC4"/>
                </a:solidFill>
                <a:latin typeface="Consolas" panose="020B0609020204030204" pitchFamily="49" charset="0"/>
              </a:rPr>
              <a:t>(</a:t>
            </a:r>
            <a:r>
              <a:rPr lang="en-US">
                <a:solidFill>
                  <a:srgbClr val="6AAB73"/>
                </a:solidFill>
                <a:latin typeface="Consolas" panose="020B0609020204030204" pitchFamily="49" charset="0"/>
              </a:rPr>
              <a:t>"</a:t>
            </a:r>
            <a:r>
              <a:rPr lang="en-US">
                <a:solidFill>
                  <a:srgbClr val="BCBEC4"/>
                </a:solidFill>
                <a:latin typeface="Consolas" panose="020B0609020204030204" pitchFamily="49" charset="0"/>
              </a:rPr>
              <a:t>Students</a:t>
            </a:r>
            <a:r>
              <a:rPr lang="en-US">
                <a:solidFill>
                  <a:srgbClr val="6AAB73"/>
                </a:solidFill>
                <a:latin typeface="Consolas" panose="020B0609020204030204" pitchFamily="49" charset="0"/>
              </a:rPr>
              <a:t>"</a:t>
            </a:r>
            <a:r>
              <a:rPr lang="en-US">
                <a:solidFill>
                  <a:srgbClr val="BCBEC4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>
                <a:solidFill>
                  <a:srgbClr val="BCBEC4"/>
                </a:solidFill>
                <a:latin typeface="Consolas" panose="020B0609020204030204" pitchFamily="49" charset="0"/>
              </a:rPr>
              <a:t>                 .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</a:rPr>
              <a:t>where</a:t>
            </a:r>
            <a:r>
              <a:rPr lang="en-US">
                <a:solidFill>
                  <a:srgbClr val="BCBEC4"/>
                </a:solidFill>
                <a:latin typeface="Consolas" panose="020B0609020204030204" pitchFamily="49" charset="0"/>
              </a:rPr>
              <a:t>(</a:t>
            </a:r>
            <a:r>
              <a:rPr lang="en-US">
                <a:solidFill>
                  <a:srgbClr val="6AAB73"/>
                </a:solidFill>
                <a:latin typeface="Consolas" panose="020B0609020204030204" pitchFamily="49" charset="0"/>
              </a:rPr>
              <a:t>"</a:t>
            </a:r>
            <a:r>
              <a:rPr lang="en-US">
                <a:solidFill>
                  <a:srgbClr val="BCBEC4"/>
                </a:solidFill>
                <a:latin typeface="Consolas" panose="020B0609020204030204" pitchFamily="49" charset="0"/>
              </a:rPr>
              <a:t>birth_year == </a:t>
            </a:r>
            <a:r>
              <a:rPr lang="en-US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2005</a:t>
            </a:r>
            <a:r>
              <a:rPr lang="en-US">
                <a:solidFill>
                  <a:srgbClr val="6AAB73"/>
                </a:solidFill>
                <a:latin typeface="Consolas" panose="020B0609020204030204" pitchFamily="49" charset="0"/>
              </a:rPr>
              <a:t>"</a:t>
            </a:r>
            <a:r>
              <a:rPr lang="en-US">
                <a:solidFill>
                  <a:srgbClr val="BCBEC4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>
                <a:solidFill>
                  <a:srgbClr val="BCBEC4"/>
                </a:solidFill>
                <a:latin typeface="Consolas" panose="020B0609020204030204" pitchFamily="49" charset="0"/>
              </a:rPr>
              <a:t>                 .end();</a:t>
            </a:r>
          </a:p>
        </p:txBody>
      </p:sp>
    </p:spTree>
    <p:extLst>
      <p:ext uri="{BB962C8B-B14F-4D97-AF65-F5344CB8AC3E}">
        <p14:creationId xmlns:p14="http://schemas.microsoft.com/office/powerpoint/2010/main" val="2923497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402A4-6D13-7F3D-9B64-E083C148C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6BBC4-CD10-B120-754E-57D7CA563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Use Case 4: Semantic EDSL Analysis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BFF64D-5F8E-0D53-D334-3E7384E10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90E68-D690-4AC2-96FA-C0B5F80968DC}" type="slidenum">
              <a:rPr lang="en-US" smtClean="0"/>
              <a:t>4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CBE598-DD5D-20B4-E959-2490734AFCF9}"/>
              </a:ext>
            </a:extLst>
          </p:cNvPr>
          <p:cNvSpPr/>
          <p:nvPr/>
        </p:nvSpPr>
        <p:spPr>
          <a:xfrm>
            <a:off x="3178045" y="2810400"/>
            <a:ext cx="5835910" cy="1237199"/>
          </a:xfrm>
          <a:prstGeom prst="rect">
            <a:avLst/>
          </a:prstGeom>
          <a:solidFill>
            <a:srgbClr val="1E1F22"/>
          </a:solidFill>
          <a:ln w="381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>
                <a:solidFill>
                  <a:srgbClr val="BCBEC4"/>
                </a:solidFill>
                <a:latin typeface="Consolas" panose="020B0609020204030204" pitchFamily="49" charset="0"/>
              </a:rPr>
              <a:t>Query query = SQL.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</a:rPr>
              <a:t>select</a:t>
            </a:r>
            <a:r>
              <a:rPr lang="en-US">
                <a:solidFill>
                  <a:srgbClr val="BCBEC4"/>
                </a:solidFill>
                <a:latin typeface="Consolas" panose="020B0609020204030204" pitchFamily="49" charset="0"/>
              </a:rPr>
              <a:t>(</a:t>
            </a:r>
            <a:r>
              <a:rPr lang="en-US">
                <a:solidFill>
                  <a:srgbClr val="6AAB73"/>
                </a:solidFill>
                <a:latin typeface="Consolas" panose="020B0609020204030204" pitchFamily="49" charset="0"/>
              </a:rPr>
              <a:t>"</a:t>
            </a:r>
            <a:r>
              <a:rPr lang="en-US">
                <a:solidFill>
                  <a:srgbClr val="BCBEC4"/>
                </a:solidFill>
                <a:latin typeface="Consolas" panose="020B0609020204030204" pitchFamily="49" charset="0"/>
              </a:rPr>
              <a:t>name</a:t>
            </a:r>
            <a:r>
              <a:rPr lang="en-US">
                <a:solidFill>
                  <a:srgbClr val="6AAB73"/>
                </a:solidFill>
                <a:latin typeface="Consolas" panose="020B0609020204030204" pitchFamily="49" charset="0"/>
              </a:rPr>
              <a:t>"</a:t>
            </a:r>
            <a:r>
              <a:rPr lang="en-US">
                <a:solidFill>
                  <a:srgbClr val="BCBEC4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>
                <a:solidFill>
                  <a:srgbClr val="BCBEC4"/>
                </a:solidFill>
                <a:latin typeface="Consolas" panose="020B0609020204030204" pitchFamily="49" charset="0"/>
              </a:rPr>
              <a:t>                 .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</a:rPr>
              <a:t>from</a:t>
            </a:r>
            <a:r>
              <a:rPr lang="en-US">
                <a:solidFill>
                  <a:srgbClr val="BCBEC4"/>
                </a:solidFill>
                <a:latin typeface="Consolas" panose="020B0609020204030204" pitchFamily="49" charset="0"/>
              </a:rPr>
              <a:t>(</a:t>
            </a:r>
            <a:r>
              <a:rPr lang="en-US">
                <a:solidFill>
                  <a:srgbClr val="6AAB73"/>
                </a:solidFill>
                <a:latin typeface="Consolas" panose="020B0609020204030204" pitchFamily="49" charset="0"/>
              </a:rPr>
              <a:t>"</a:t>
            </a:r>
            <a:r>
              <a:rPr lang="en-US">
                <a:solidFill>
                  <a:srgbClr val="BCBEC4"/>
                </a:solidFill>
                <a:latin typeface="Consolas" panose="020B0609020204030204" pitchFamily="49" charset="0"/>
              </a:rPr>
              <a:t>Students</a:t>
            </a:r>
            <a:r>
              <a:rPr lang="en-US">
                <a:solidFill>
                  <a:srgbClr val="6AAB73"/>
                </a:solidFill>
                <a:latin typeface="Consolas" panose="020B0609020204030204" pitchFamily="49" charset="0"/>
              </a:rPr>
              <a:t>"</a:t>
            </a:r>
            <a:r>
              <a:rPr lang="en-US">
                <a:solidFill>
                  <a:srgbClr val="BCBEC4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>
                <a:solidFill>
                  <a:srgbClr val="BCBEC4"/>
                </a:solidFill>
                <a:latin typeface="Consolas" panose="020B0609020204030204" pitchFamily="49" charset="0"/>
              </a:rPr>
              <a:t>                 .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</a:rPr>
              <a:t>where</a:t>
            </a:r>
            <a:r>
              <a:rPr lang="en-US">
                <a:solidFill>
                  <a:srgbClr val="BCBEC4"/>
                </a:solidFill>
                <a:latin typeface="Consolas" panose="020B0609020204030204" pitchFamily="49" charset="0"/>
              </a:rPr>
              <a:t>(</a:t>
            </a:r>
            <a:r>
              <a:rPr lang="en-US">
                <a:solidFill>
                  <a:srgbClr val="6AAB73"/>
                </a:solidFill>
                <a:latin typeface="Consolas" panose="020B0609020204030204" pitchFamily="49" charset="0"/>
              </a:rPr>
              <a:t>"</a:t>
            </a:r>
            <a:r>
              <a:rPr lang="en-US" u="wavyHeavy">
                <a:solidFill>
                  <a:srgbClr val="BCBEC4"/>
                </a:solidFill>
                <a:uFill>
                  <a:solidFill>
                    <a:srgbClr val="FF0000"/>
                  </a:solidFill>
                </a:uFill>
                <a:latin typeface="Consolas" panose="020B0609020204030204" pitchFamily="49" charset="0"/>
              </a:rPr>
              <a:t>birth_year</a:t>
            </a:r>
            <a:r>
              <a:rPr lang="en-US">
                <a:solidFill>
                  <a:srgbClr val="BCBEC4"/>
                </a:solidFill>
                <a:latin typeface="Consolas" panose="020B0609020204030204" pitchFamily="49" charset="0"/>
              </a:rPr>
              <a:t> == </a:t>
            </a:r>
            <a:r>
              <a:rPr lang="en-US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2005</a:t>
            </a:r>
            <a:r>
              <a:rPr lang="en-US">
                <a:solidFill>
                  <a:srgbClr val="6AAB73"/>
                </a:solidFill>
                <a:latin typeface="Consolas" panose="020B0609020204030204" pitchFamily="49" charset="0"/>
              </a:rPr>
              <a:t>"</a:t>
            </a:r>
            <a:r>
              <a:rPr lang="en-US">
                <a:solidFill>
                  <a:srgbClr val="BCBEC4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>
                <a:solidFill>
                  <a:srgbClr val="BCBEC4"/>
                </a:solidFill>
                <a:latin typeface="Consolas" panose="020B0609020204030204" pitchFamily="49" charset="0"/>
              </a:rPr>
              <a:t>                 .end();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F126BE1-004D-263A-1211-1A5E784FDB15}"/>
              </a:ext>
            </a:extLst>
          </p:cNvPr>
          <p:cNvSpPr/>
          <p:nvPr/>
        </p:nvSpPr>
        <p:spPr>
          <a:xfrm>
            <a:off x="6667592" y="3816876"/>
            <a:ext cx="4131013" cy="365125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GB" sz="1600">
                <a:solidFill>
                  <a:srgbClr val="BCBEC4"/>
                </a:solidFill>
              </a:rPr>
              <a:t>Unknown id 'birth_year'</a:t>
            </a:r>
            <a:endParaRPr lang="en-US" sz="1600">
              <a:solidFill>
                <a:srgbClr val="BCBEC4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87CEDD4-B29D-48D3-A9FC-C4DE764FE5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7592" y="3546706"/>
            <a:ext cx="130150" cy="194982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2322C1E-A3FE-D51D-8E4A-FE363E3FDB52}"/>
              </a:ext>
            </a:extLst>
          </p:cNvPr>
          <p:cNvSpPr/>
          <p:nvPr/>
        </p:nvSpPr>
        <p:spPr>
          <a:xfrm>
            <a:off x="6667591" y="4182001"/>
            <a:ext cx="4131013" cy="365125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GB" sz="1600">
                <a:solidFill>
                  <a:schemeClr val="tx2">
                    <a:lumMod val="50000"/>
                    <a:lumOff val="50000"/>
                  </a:schemeClr>
                </a:solidFill>
              </a:rPr>
              <a:t>Select 'birth_year' from table 'Students'</a:t>
            </a:r>
            <a:endParaRPr lang="en-US" sz="160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40346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0B38F-BC44-305A-88F0-F6D0E1187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1D48F-049D-192A-1D7F-53D5362AE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Stretch Goal: </a:t>
            </a:r>
            <a:r>
              <a:rPr lang="en-GB" u="sng"/>
              <a:t>Simple</a:t>
            </a:r>
            <a:r>
              <a:rPr lang="en-GB"/>
              <a:t> Dataflow Analysis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284E70-C55F-9BD6-873C-0935F86BC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90E68-D690-4AC2-96FA-C0B5F80968DC}" type="slidenum">
              <a:rPr lang="en-US" smtClean="0"/>
              <a:t>5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F30878-4846-9652-4553-AB32A78DD21A}"/>
              </a:ext>
            </a:extLst>
          </p:cNvPr>
          <p:cNvSpPr/>
          <p:nvPr/>
        </p:nvSpPr>
        <p:spPr>
          <a:xfrm>
            <a:off x="1152415" y="1893877"/>
            <a:ext cx="9328016" cy="3126531"/>
          </a:xfrm>
          <a:prstGeom prst="rect">
            <a:avLst/>
          </a:prstGeom>
          <a:solidFill>
            <a:srgbClr val="1E1F22"/>
          </a:solidFill>
          <a:ln w="381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>
                <a:solidFill>
                  <a:srgbClr val="BCBEC4"/>
                </a:solidFill>
                <a:latin typeface="Consolas" panose="020B0609020204030204" pitchFamily="49" charset="0"/>
              </a:rPr>
              <a:t>Where whereClause;</a:t>
            </a:r>
          </a:p>
          <a:p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</a:rPr>
              <a:t>if</a:t>
            </a:r>
            <a:r>
              <a:rPr lang="en-US">
                <a:solidFill>
                  <a:srgbClr val="BCBEC4"/>
                </a:solidFill>
                <a:latin typeface="Consolas" panose="020B0609020204030204" pitchFamily="49" charset="0"/>
              </a:rPr>
              <a:t> (negate) {</a:t>
            </a:r>
          </a:p>
          <a:p>
            <a:r>
              <a:rPr lang="en-US">
                <a:solidFill>
                  <a:srgbClr val="BCBEC4"/>
                </a:solidFill>
                <a:latin typeface="Consolas" panose="020B0609020204030204" pitchFamily="49" charset="0"/>
              </a:rPr>
              <a:t>  whereClause = Where.columnId("birth_year").notEquals().nat(</a:t>
            </a:r>
            <a:r>
              <a:rPr lang="en-US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2005</a:t>
            </a:r>
            <a:r>
              <a:rPr lang="en-US">
                <a:solidFill>
                  <a:srgbClr val="BCBEC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>
                <a:solidFill>
                  <a:srgbClr val="BCBEC4"/>
                </a:solidFill>
                <a:latin typeface="Consolas" panose="020B0609020204030204" pitchFamily="49" charset="0"/>
              </a:rPr>
              <a:t>} 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</a:rPr>
              <a:t>else</a:t>
            </a:r>
            <a:r>
              <a:rPr lang="en-US">
                <a:solidFill>
                  <a:srgbClr val="BCBEC4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>
                <a:solidFill>
                  <a:srgbClr val="BCBEC4"/>
                </a:solidFill>
                <a:latin typeface="Consolas" panose="020B0609020204030204" pitchFamily="49" charset="0"/>
              </a:rPr>
              <a:t>  whereClause = Where.columnId("birth_year").equals().nat(</a:t>
            </a:r>
            <a:r>
              <a:rPr lang="en-US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2005</a:t>
            </a:r>
            <a:r>
              <a:rPr lang="en-US">
                <a:solidFill>
                  <a:srgbClr val="BCBEC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>
                <a:solidFill>
                  <a:srgbClr val="BCBEC4"/>
                </a:solidFill>
                <a:latin typeface="Consolas" panose="020B0609020204030204" pitchFamily="49" charset="0"/>
              </a:rPr>
              <a:t>}</a:t>
            </a:r>
          </a:p>
          <a:p>
            <a:endParaRPr lang="en-US">
              <a:solidFill>
                <a:srgbClr val="BCBEC4"/>
              </a:solidFill>
              <a:latin typeface="Consolas" panose="020B0609020204030204" pitchFamily="49" charset="0"/>
            </a:endParaRPr>
          </a:p>
          <a:p>
            <a:r>
              <a:rPr lang="en-US">
                <a:solidFill>
                  <a:srgbClr val="BCBEC4"/>
                </a:solidFill>
                <a:latin typeface="Consolas" panose="020B0609020204030204" pitchFamily="49" charset="0"/>
              </a:rPr>
              <a:t>Query query = SQL.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</a:rPr>
              <a:t>select</a:t>
            </a:r>
            <a:r>
              <a:rPr lang="en-US">
                <a:solidFill>
                  <a:srgbClr val="BCBEC4"/>
                </a:solidFill>
                <a:latin typeface="Consolas" panose="020B0609020204030204" pitchFamily="49" charset="0"/>
              </a:rPr>
              <a:t>(</a:t>
            </a:r>
            <a:r>
              <a:rPr lang="en-US">
                <a:solidFill>
                  <a:srgbClr val="6AAB73"/>
                </a:solidFill>
                <a:latin typeface="Consolas" panose="020B0609020204030204" pitchFamily="49" charset="0"/>
              </a:rPr>
              <a:t>"</a:t>
            </a:r>
            <a:r>
              <a:rPr lang="en-US">
                <a:solidFill>
                  <a:srgbClr val="BCBEC4"/>
                </a:solidFill>
                <a:latin typeface="Consolas" panose="020B0609020204030204" pitchFamily="49" charset="0"/>
              </a:rPr>
              <a:t>name, birth_year</a:t>
            </a:r>
            <a:r>
              <a:rPr lang="en-US">
                <a:solidFill>
                  <a:srgbClr val="6AAB73"/>
                </a:solidFill>
                <a:latin typeface="Consolas" panose="020B0609020204030204" pitchFamily="49" charset="0"/>
              </a:rPr>
              <a:t>"</a:t>
            </a:r>
            <a:r>
              <a:rPr lang="en-US">
                <a:solidFill>
                  <a:srgbClr val="BCBEC4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>
                <a:solidFill>
                  <a:srgbClr val="BCBEC4"/>
                </a:solidFill>
                <a:latin typeface="Consolas" panose="020B0609020204030204" pitchFamily="49" charset="0"/>
              </a:rPr>
              <a:t>                 .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</a:rPr>
              <a:t>from</a:t>
            </a:r>
            <a:r>
              <a:rPr lang="en-US">
                <a:solidFill>
                  <a:srgbClr val="BCBEC4"/>
                </a:solidFill>
                <a:latin typeface="Consolas" panose="020B0609020204030204" pitchFamily="49" charset="0"/>
              </a:rPr>
              <a:t>(</a:t>
            </a:r>
            <a:r>
              <a:rPr lang="en-US">
                <a:solidFill>
                  <a:srgbClr val="6AAB73"/>
                </a:solidFill>
                <a:latin typeface="Consolas" panose="020B0609020204030204" pitchFamily="49" charset="0"/>
              </a:rPr>
              <a:t>"</a:t>
            </a:r>
            <a:r>
              <a:rPr lang="en-US">
                <a:solidFill>
                  <a:srgbClr val="BCBEC4"/>
                </a:solidFill>
                <a:latin typeface="Consolas" panose="020B0609020204030204" pitchFamily="49" charset="0"/>
              </a:rPr>
              <a:t>Students</a:t>
            </a:r>
            <a:r>
              <a:rPr lang="en-US">
                <a:solidFill>
                  <a:srgbClr val="6AAB73"/>
                </a:solidFill>
                <a:latin typeface="Consolas" panose="020B0609020204030204" pitchFamily="49" charset="0"/>
              </a:rPr>
              <a:t>"</a:t>
            </a:r>
            <a:r>
              <a:rPr lang="en-US">
                <a:solidFill>
                  <a:srgbClr val="BCBEC4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>
                <a:solidFill>
                  <a:srgbClr val="BCBEC4"/>
                </a:solidFill>
                <a:latin typeface="Consolas" panose="020B0609020204030204" pitchFamily="49" charset="0"/>
              </a:rPr>
              <a:t>                 .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</a:rPr>
              <a:t>where</a:t>
            </a:r>
            <a:r>
              <a:rPr lang="en-US">
                <a:solidFill>
                  <a:srgbClr val="BCBEC4"/>
                </a:solidFill>
                <a:latin typeface="Consolas" panose="020B0609020204030204" pitchFamily="49" charset="0"/>
              </a:rPr>
              <a:t>(whereClause)</a:t>
            </a:r>
          </a:p>
          <a:p>
            <a:r>
              <a:rPr lang="en-US">
                <a:solidFill>
                  <a:srgbClr val="BCBEC4"/>
                </a:solidFill>
                <a:latin typeface="Consolas" panose="020B0609020204030204" pitchFamily="49" charset="0"/>
              </a:rPr>
              <a:t>                 .end();</a:t>
            </a:r>
          </a:p>
        </p:txBody>
      </p:sp>
    </p:spTree>
    <p:extLst>
      <p:ext uri="{BB962C8B-B14F-4D97-AF65-F5344CB8AC3E}">
        <p14:creationId xmlns:p14="http://schemas.microsoft.com/office/powerpoint/2010/main" val="9998145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38100"/>
      </a:spPr>
      <a:bodyPr rtlCol="0" anchor="ctr"/>
      <a:lstStyle>
        <a:defPPr algn="ctr">
          <a:defRPr/>
        </a:defPPr>
      </a:lstStyle>
      <a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5735</TotalTime>
  <Words>297</Words>
  <Application>Microsoft Office PowerPoint</Application>
  <PresentationFormat>Widescreen</PresentationFormat>
  <Paragraphs>47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Consolas</vt:lpstr>
      <vt:lpstr>Office Theme</vt:lpstr>
      <vt:lpstr>Use Case 1: Smart Error Messages</vt:lpstr>
      <vt:lpstr>Use Case 2: Analyzing String Literals</vt:lpstr>
      <vt:lpstr>Use Case 3: DSL Syntax Highlighting</vt:lpstr>
      <vt:lpstr>Use Case 4: Semantic EDSL Analysis</vt:lpstr>
      <vt:lpstr>Stretch Goal: Simple Dataflow Analysis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Dennis Prüne</dc:creator>
  <cp:lastModifiedBy>Dennis Prüne</cp:lastModifiedBy>
  <cp:revision>18</cp:revision>
  <dcterms:created xsi:type="dcterms:W3CDTF">2026-04-14T09:40:23Z</dcterms:created>
  <dcterms:modified xsi:type="dcterms:W3CDTF">2026-07-17T05:43:23Z</dcterms:modified>
</cp:coreProperties>
</file>