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91" r:id="rId2"/>
    <p:sldId id="294" r:id="rId3"/>
    <p:sldId id="300" r:id="rId4"/>
    <p:sldId id="295" r:id="rId5"/>
    <p:sldId id="292" r:id="rId6"/>
    <p:sldId id="297" r:id="rId7"/>
    <p:sldId id="298" r:id="rId8"/>
    <p:sldId id="299" r:id="rId9"/>
    <p:sldId id="286" r:id="rId10"/>
    <p:sldId id="287" r:id="rId11"/>
    <p:sldId id="288" r:id="rId12"/>
    <p:sldId id="289" r:id="rId13"/>
    <p:sldId id="29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9204"/>
    <a:srgbClr val="447DE4"/>
    <a:srgbClr val="CB0756"/>
    <a:srgbClr val="E96207"/>
    <a:srgbClr val="A34D14"/>
    <a:srgbClr val="AD0B4D"/>
    <a:srgbClr val="14710A"/>
    <a:srgbClr val="846E15"/>
    <a:srgbClr val="A3144D"/>
    <a:srgbClr val="BCB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FC1B7-3D5E-4A5B-82A1-8FEEA2A3FD17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45753-AE66-4D7F-9406-BD9694DCF1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524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679D-38E5-62C6-DCF5-C04B1C919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288A3-B35F-2082-6D50-BE52AF599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1017F-F025-5400-6140-E5428DA4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8F9E1-B633-4671-85A1-702D296B2A14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8174D-A11D-486F-CF04-0E88CD81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2E3C-11E9-61B1-DBA8-79694B82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6113-E68B-BBA2-CDAB-79ED000E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7F934-9076-09D9-3419-910458B24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0842D-B413-513F-D00B-0F377A4A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5A6D7-3A9E-4158-97DB-54FC883A2A06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A55A0-8903-6565-1068-D2BC5E6D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93266-096C-A70C-AFFD-00C822C3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15A2B9-7A2C-23E7-E194-DF2295B759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96863"/>
            <a:ext cx="10515600" cy="642937"/>
          </a:xfrm>
        </p:spPr>
        <p:txBody>
          <a:bodyPr/>
          <a:lstStyle>
            <a:lvl1pPr>
              <a:buNone/>
              <a:defRPr sz="3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GB"/>
              <a:t>Chapter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1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3564F-A307-C491-FE23-0F6A29C74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052E5-9E55-BB04-15E2-EE0FEFD76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DA1C6-65BA-7A4F-815C-A84E0B206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C4EFF-30AA-49EB-91CD-2B87EF8EB862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574E6-B211-C2BB-7BA9-67667E69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FC850-A256-C0E4-284B-E620E824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3579-917D-D3AA-1638-246FD3FE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2CB76-418B-B247-6C74-6F9A741F6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6CAA3-2229-9018-0916-E48C168DD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4E871-A9CB-2D58-804A-8B8707A7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51118-A18D-425F-81A8-FD92900FE385}" type="datetime1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ECA95-EFBB-B200-A7F0-A231A2F8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0B3AA-8FB9-DB22-B068-B6240A6B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8B221-BB99-48A8-197F-89CCE40B2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D10F7-C485-AD65-C886-A06D41B59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76E9B-C3F7-B779-CB31-A5B2E8F27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4C204-4A8A-33B1-9701-AC9E8F3A5D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0CB5-A440-ECED-F5E5-EAF67B25EA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53797-D8ED-93EE-8E58-DF58DEF7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6260F-663B-4006-AA2C-98D64336E379}" type="datetime1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E6375-6CF0-2B55-E07F-70594A8A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5E465-21B0-63C7-63AC-36398605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15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B73E-1FDB-2768-18D7-8485AAC38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0CD60-1834-0DF8-3443-713D5619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CAB38-758B-4823-95AF-C50E6547966C}" type="datetime1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F3FEE-CF11-8C35-6D90-76C6304C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1C6E1-DA89-5462-56D3-26358FDC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4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028DA4-D373-D1F6-209E-966219D5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87344-709F-43EA-A55B-8246CD3267AB}" type="datetime1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5CB80-108F-8FC2-127B-B08D4F865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6B649-EB53-2848-390C-3A4296A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97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3889D-672A-FC76-2B81-7EE892F2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DDFD9-081D-6001-41DF-96ACA27F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F64D0-E159-82DE-47DD-F7556FA0D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EEF5F-78F1-EF2B-4382-375D8C9D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CB447-DA57-4353-AF4E-16DFDA026034}" type="datetime1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C07A-3CD4-E8F9-9591-52C3E8BE9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B6502-81A6-3D88-2039-3C24133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3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E3FB-1D85-C984-8EFA-7D396896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C6586-CA07-0B0B-6D91-00E92D9DA6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8DE47-470D-21CD-DE5B-99C2B164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08691-1EC7-AA14-CC9C-9EF5A8EDB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5D064-2237-49F3-AB45-E1B7D4062571}" type="datetime1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8A282-89E9-69BB-2C98-E6F7BE4D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503F8-246C-2C8B-1DEE-979C67A9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C6F3D-8CAB-6F4A-F2F4-4FC14E26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687B3-6CC0-EC5C-4AF6-574DD417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2338-32CC-B9CD-47B4-835A134B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55C5-286B-4763-BAC7-BF7B72B1422A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F34E6-4CF0-607D-AD40-97885841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A7598-B72F-596B-0939-423513BE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08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C993-C462-C039-3E0D-EFC0A53EDD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8C53B-5E6B-17A7-4426-844874471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8B83-BCE9-EA98-16F2-98E390A4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12B56-0B9B-4C11-91C6-2FAECB8A82F0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1E89-95C7-563B-5AA7-3A05A9B0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416D-097C-BCBD-AD42-2B8700DB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1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FE3C9-471C-AF24-9B31-408B6D7F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515600" cy="751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C752-CF0B-2524-A240-3264854C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4DAA7-A556-9B03-DB8D-D79A598CD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DC357-BB2B-4622-A46E-34C8E155D5BC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1BDC3-3EE0-5E7A-97E3-D90296BE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EDCAB-2080-63E3-EF09-AA0A0D912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3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BB7D-D940-45D4-1008-947EBEC01D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Backtranslating Fluent APIs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6BF54-FFE2-BB8C-F984-57B6BC09E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Dennis Prüne</a:t>
            </a:r>
          </a:p>
          <a:p>
            <a:r>
              <a:rPr lang="en-GB"/>
              <a:t>26M30498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57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E1856-8426-0DF2-F7C3-640199869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Style Sheet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0299A-2571-75BF-28CD-275B601F5376}"/>
              </a:ext>
            </a:extLst>
          </p:cNvPr>
          <p:cNvSpPr/>
          <p:nvPr/>
        </p:nvSpPr>
        <p:spPr>
          <a:xfrm>
            <a:off x="960544" y="1172630"/>
            <a:ext cx="8236210" cy="262564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Example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main(String[] args)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(args.length 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(args[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].equals(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"help"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System.out.println(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"There's no help for the wicked..."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DAB52-400D-C030-7FEC-EB84659D4D68}"/>
              </a:ext>
            </a:extLst>
          </p:cNvPr>
          <p:cNvSpPr txBox="1"/>
          <p:nvPr/>
        </p:nvSpPr>
        <p:spPr>
          <a:xfrm>
            <a:off x="838200" y="4031108"/>
            <a:ext cx="613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*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name ==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"John Doe"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F49CE-77A9-9A93-2A3C-CA8305812C4D}"/>
              </a:ext>
            </a:extLst>
          </p:cNvPr>
          <p:cNvSpPr txBox="1"/>
          <p:nvPr/>
        </p:nvSpPr>
        <p:spPr>
          <a:xfrm>
            <a:off x="838200" y="4523316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Keyword</a:t>
            </a:r>
            <a:endParaRPr lang="en-US">
              <a:solidFill>
                <a:srgbClr val="CB0756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8376D3-709C-334A-BF07-4BD6AB37A690}"/>
              </a:ext>
            </a:extLst>
          </p:cNvPr>
          <p:cNvSpPr txBox="1"/>
          <p:nvPr/>
        </p:nvSpPr>
        <p:spPr>
          <a:xfrm>
            <a:off x="2485292" y="452331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"Hello World!"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13B999-9A50-C9D6-C604-43564BBB52DA}"/>
              </a:ext>
            </a:extLst>
          </p:cNvPr>
          <p:cNvSpPr txBox="1"/>
          <p:nvPr/>
        </p:nvSpPr>
        <p:spPr>
          <a:xfrm>
            <a:off x="4826977" y="452331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1_000_000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C6AEC-BA0F-7A37-788A-2CF669299A5A}"/>
              </a:ext>
            </a:extLst>
          </p:cNvPr>
          <p:cNvSpPr txBox="1"/>
          <p:nvPr/>
        </p:nvSpPr>
        <p:spPr>
          <a:xfrm>
            <a:off x="4898236" y="5015524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3.141529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B23F19-1218-6AD5-31C4-9BB7429F0C4E}"/>
              </a:ext>
            </a:extLst>
          </p:cNvPr>
          <p:cNvSpPr txBox="1"/>
          <p:nvPr/>
        </p:nvSpPr>
        <p:spPr>
          <a:xfrm>
            <a:off x="5143570" y="55077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true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4C16B-0EE4-1577-DE9D-F3027B508D11}"/>
              </a:ext>
            </a:extLst>
          </p:cNvPr>
          <p:cNvSpPr txBox="1"/>
          <p:nvPr/>
        </p:nvSpPr>
        <p:spPr>
          <a:xfrm>
            <a:off x="7248267" y="452331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other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5771B-60EB-B3AE-20A2-D51070C74581}"/>
              </a:ext>
            </a:extLst>
          </p:cNvPr>
          <p:cNvSpPr txBox="1"/>
          <p:nvPr/>
        </p:nvSpPr>
        <p:spPr>
          <a:xfrm>
            <a:off x="9071206" y="3128540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4A9ECA-BAD3-2A25-E22D-B1112DA9E4F5}"/>
              </a:ext>
            </a:extLst>
          </p:cNvPr>
          <p:cNvSpPr txBox="1"/>
          <p:nvPr/>
        </p:nvSpPr>
        <p:spPr>
          <a:xfrm>
            <a:off x="9071205" y="403110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BFA6880-5088-69D2-4BE2-9E2B88A2D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789" y="4205458"/>
            <a:ext cx="130150" cy="19498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4836C6-869E-8912-BE21-38887BE085A5}"/>
              </a:ext>
            </a:extLst>
          </p:cNvPr>
          <p:cNvSpPr/>
          <p:nvPr/>
        </p:nvSpPr>
        <p:spPr>
          <a:xfrm>
            <a:off x="9569789" y="4379423"/>
            <a:ext cx="1657988" cy="36512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  <a:endParaRPr 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9F32643-EC9B-CB00-3679-8FFAB04BFDC9}"/>
              </a:ext>
            </a:extLst>
          </p:cNvPr>
          <p:cNvSpPr/>
          <p:nvPr/>
        </p:nvSpPr>
        <p:spPr>
          <a:xfrm>
            <a:off x="9569788" y="5275427"/>
            <a:ext cx="1784011" cy="8564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</a:p>
          <a:p>
            <a:pPr>
              <a:lnSpc>
                <a:spcPct val="200000"/>
              </a:lnSpc>
            </a:pPr>
            <a:r>
              <a:rPr lang="en-US" sz="1600" u="sng">
                <a:solidFill>
                  <a:schemeClr val="tx2">
                    <a:lumMod val="50000"/>
                    <a:lumOff val="50000"/>
                  </a:schemeClr>
                </a:solidFill>
              </a:rPr>
              <a:t>Fix suggestion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8CF9CF-9025-1582-E812-62675947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3836" y="3238271"/>
            <a:ext cx="130150" cy="1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66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958DA7-4C65-1754-9928-920A5355D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F1F2D7-4EAD-1B81-CA3D-D55F93051B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Style Sheet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096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F66A0-1FB2-E377-1206-0E1F3726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2F97D-9FF1-CD4B-EBD4-6D9B512B5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Background</a:t>
            </a:r>
          </a:p>
          <a:p>
            <a:r>
              <a:rPr lang="en-GB"/>
              <a:t>Related Work</a:t>
            </a:r>
          </a:p>
          <a:p>
            <a:r>
              <a:rPr lang="en-GB"/>
              <a:t>My Proposal</a:t>
            </a:r>
          </a:p>
          <a:p>
            <a:r>
              <a:rPr lang="en-GB"/>
              <a:t>Current Progress &amp; Summary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C2189-1D99-DDAA-7C14-063D748F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2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6B32D-B2B2-F1A5-24F6-2108CC48F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28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DE6D-9215-4A91-C1BB-D5CC7976B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are Fluent APIs?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429F1-A76F-94B4-3FA1-B3940F3D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155F2F-A5F3-01AB-CC97-0D86A9C58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8F5142-B743-D51B-4828-DE321A2163FD}"/>
              </a:ext>
            </a:extLst>
          </p:cNvPr>
          <p:cNvSpPr/>
          <p:nvPr/>
        </p:nvSpPr>
        <p:spPr>
          <a:xfrm>
            <a:off x="838200" y="1934307"/>
            <a:ext cx="5238033" cy="1782173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new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ArrayList();</a:t>
            </a:r>
          </a:p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for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(int x : xs)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ys.add(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D84D5-0BBB-DA00-9F1B-9515D7A597F7}"/>
              </a:ext>
            </a:extLst>
          </p:cNvPr>
          <p:cNvSpPr/>
          <p:nvPr/>
        </p:nvSpPr>
        <p:spPr>
          <a:xfrm>
            <a:off x="6115769" y="1936971"/>
            <a:ext cx="5238033" cy="14920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xs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.stream()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.filter(x -&gt; 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.map(x -&gt;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.collect();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1D47EB-ADF9-1F2D-765F-120123C5F418}"/>
              </a:ext>
            </a:extLst>
          </p:cNvPr>
          <p:cNvSpPr txBox="1">
            <a:spLocks/>
          </p:cNvSpPr>
          <p:nvPr/>
        </p:nvSpPr>
        <p:spPr>
          <a:xfrm>
            <a:off x="838200" y="3675283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GB" b="1"/>
              <a:t>Imperative Style</a:t>
            </a:r>
            <a:endParaRPr lang="en-US" b="1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9C43515-1A3F-8DDF-88E5-4D5491DB04BA}"/>
              </a:ext>
            </a:extLst>
          </p:cNvPr>
          <p:cNvSpPr txBox="1">
            <a:spLocks/>
          </p:cNvSpPr>
          <p:nvPr/>
        </p:nvSpPr>
        <p:spPr>
          <a:xfrm>
            <a:off x="838200" y="4499195"/>
            <a:ext cx="5157787" cy="36845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For-loops, if-clauses, …</a:t>
            </a:r>
          </a:p>
          <a:p>
            <a:r>
              <a:rPr lang="en-US"/>
              <a:t>Nested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C703BAC-0F23-93C0-FA4D-22A78A533ECA}"/>
              </a:ext>
            </a:extLst>
          </p:cNvPr>
          <p:cNvSpPr txBox="1">
            <a:spLocks/>
          </p:cNvSpPr>
          <p:nvPr/>
        </p:nvSpPr>
        <p:spPr>
          <a:xfrm>
            <a:off x="6170612" y="3675283"/>
            <a:ext cx="5183188" cy="823912"/>
          </a:xfrm>
          <a:prstGeom prst="rect">
            <a:avLst/>
          </a:prstGeom>
        </p:spPr>
        <p:txBody>
          <a:bodyPr anchor="b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400" b="1"/>
              <a:t>Fluent Style</a:t>
            </a:r>
            <a:endParaRPr lang="en-US" sz="2400" b="1"/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293D38D1-9E71-93A0-1494-74FD22D350B3}"/>
              </a:ext>
            </a:extLst>
          </p:cNvPr>
          <p:cNvSpPr txBox="1">
            <a:spLocks/>
          </p:cNvSpPr>
          <p:nvPr/>
        </p:nvSpPr>
        <p:spPr>
          <a:xfrm>
            <a:off x="6170612" y="4499195"/>
            <a:ext cx="5183188" cy="36845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Method chaining</a:t>
            </a:r>
          </a:p>
          <a:p>
            <a:r>
              <a:rPr lang="en-GB"/>
              <a:t>Flat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CEA0F-B2B3-10BC-EEA5-5F4BE999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Fluent APIs 🤝 Embedded DSLs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FBB45-C607-5812-7C6A-3A40CBC1F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46461-09DF-54B5-9D46-8B488986E3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F461BA-2C79-406F-0EB9-52C4D2911B0F}"/>
              </a:ext>
            </a:extLst>
          </p:cNvPr>
          <p:cNvSpPr txBox="1"/>
          <p:nvPr/>
        </p:nvSpPr>
        <p:spPr>
          <a:xfrm>
            <a:off x="4146305" y="2124580"/>
            <a:ext cx="3196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name, birth_year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birth_year == 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2005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4C915-B6FC-76E0-BADA-8D8F388FC913}"/>
              </a:ext>
            </a:extLst>
          </p:cNvPr>
          <p:cNvSpPr txBox="1"/>
          <p:nvPr/>
        </p:nvSpPr>
        <p:spPr>
          <a:xfrm>
            <a:off x="838198" y="4159282"/>
            <a:ext cx="42994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SQL.query(</a:t>
            </a:r>
          </a:p>
          <a:p>
            <a:r>
              <a:rPr lang="en-GB">
                <a:latin typeface="Consolas" panose="020B0609020204030204" pitchFamily="49" charset="0"/>
              </a:rPr>
              <a:t> 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"SELECT name, birth_year "</a:t>
            </a:r>
            <a:r>
              <a:rPr lang="en-GB">
                <a:latin typeface="Consolas" panose="020B0609020204030204" pitchFamily="49" charset="0"/>
              </a:rPr>
              <a:t> 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"FROM Students "</a:t>
            </a:r>
            <a:r>
              <a:rPr lang="en-GB">
                <a:latin typeface="Consolas" panose="020B0609020204030204" pitchFamily="49" charset="0"/>
              </a:rPr>
              <a:t>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"WHERE 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89D9EC-A5FB-96A1-EA14-EC302E02061C}"/>
              </a:ext>
            </a:extLst>
          </p:cNvPr>
          <p:cNvSpPr txBox="1"/>
          <p:nvPr/>
        </p:nvSpPr>
        <p:spPr>
          <a:xfrm>
            <a:off x="6365629" y="4159281"/>
            <a:ext cx="49881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</a:t>
            </a:r>
          </a:p>
          <a:p>
            <a:r>
              <a:rPr lang="en-GB">
                <a:latin typeface="Consolas" panose="020B0609020204030204" pitchFamily="49" charset="0"/>
              </a:rPr>
              <a:t>  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.where(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7DE014-3CBE-A3D1-3582-1312464434B6}"/>
              </a:ext>
            </a:extLst>
          </p:cNvPr>
          <p:cNvCxnSpPr>
            <a:cxnSpLocks/>
          </p:cNvCxnSpPr>
          <p:nvPr/>
        </p:nvCxnSpPr>
        <p:spPr>
          <a:xfrm flipH="1">
            <a:off x="3288323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832EAD-7BF5-E71C-C499-E102F59CE812}"/>
              </a:ext>
            </a:extLst>
          </p:cNvPr>
          <p:cNvCxnSpPr>
            <a:cxnSpLocks/>
          </p:cNvCxnSpPr>
          <p:nvPr/>
        </p:nvCxnSpPr>
        <p:spPr>
          <a:xfrm>
            <a:off x="7342309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495246-4373-35B0-70B2-C8487ADAF2D6}"/>
              </a:ext>
            </a:extLst>
          </p:cNvPr>
          <p:cNvSpPr txBox="1"/>
          <p:nvPr/>
        </p:nvSpPr>
        <p:spPr>
          <a:xfrm>
            <a:off x="1817159" y="3328284"/>
            <a:ext cx="188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naïve embedding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A79767-24AC-D11F-2F92-2FB098457C34}"/>
              </a:ext>
            </a:extLst>
          </p:cNvPr>
          <p:cNvSpPr txBox="1"/>
          <p:nvPr/>
        </p:nvSpPr>
        <p:spPr>
          <a:xfrm>
            <a:off x="7892141" y="3328284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fluent embedding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23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61ABC-2EA7-C235-3557-C5B9C0110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197C5-2EB8-C59D-B398-1337B2DEA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Tradeoff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E5763-67F9-3969-1176-32D3A60D3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4804-32F3-C3AA-A814-D89F095029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BE623D3-CB17-F0E1-8D96-B47F8A3AE5D9}"/>
              </a:ext>
            </a:extLst>
          </p:cNvPr>
          <p:cNvSpPr>
            <a:spLocks noGrp="1"/>
          </p:cNvSpPr>
          <p:nvPr/>
        </p:nvSpPr>
        <p:spPr>
          <a:xfrm>
            <a:off x="838200" y="1690688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Advantages</a:t>
            </a:r>
            <a:endParaRPr lang="en-US"/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6B6F0F8-599F-A243-43AB-BEB3E175E26C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5157787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Less syntax to remember</a:t>
            </a:r>
          </a:p>
          <a:p>
            <a:r>
              <a:rPr lang="en-GB"/>
              <a:t>Dynamic data support</a:t>
            </a:r>
          </a:p>
          <a:p>
            <a:endParaRPr lang="en-GB"/>
          </a:p>
          <a:p>
            <a:endParaRPr lang="en-GB"/>
          </a:p>
          <a:p>
            <a:pPr marL="0" indent="0">
              <a:buNone/>
            </a:pP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FC071023-1BDE-00EE-B05D-6A36FF942A25}"/>
              </a:ext>
            </a:extLst>
          </p:cNvPr>
          <p:cNvSpPr>
            <a:spLocks noGrp="1"/>
          </p:cNvSpPr>
          <p:nvPr/>
        </p:nvSpPr>
        <p:spPr>
          <a:xfrm>
            <a:off x="6170612" y="1690688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Disadvantages</a:t>
            </a:r>
            <a:endParaRPr lang="en-US"/>
          </a:p>
        </p:txBody>
      </p:sp>
      <p:sp>
        <p:nvSpPr>
          <p:cNvPr id="29" name="Content Placeholder 5">
            <a:extLst>
              <a:ext uri="{FF2B5EF4-FFF2-40B4-BE49-F238E27FC236}">
                <a16:creationId xmlns:a16="http://schemas.microsoft.com/office/drawing/2014/main" id="{E58F0A3B-F734-C183-AB2F-E7A5AAF15B3A}"/>
              </a:ext>
            </a:extLst>
          </p:cNvPr>
          <p:cNvSpPr>
            <a:spLocks noGrp="1"/>
          </p:cNvSpPr>
          <p:nvPr/>
        </p:nvSpPr>
        <p:spPr>
          <a:xfrm>
            <a:off x="6170612" y="2514600"/>
            <a:ext cx="5183188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NO static safety guarantees</a:t>
            </a:r>
          </a:p>
          <a:p>
            <a:pPr lvl="1"/>
            <a:r>
              <a:rPr lang="en-GB"/>
              <a:t>NO syntax checking</a:t>
            </a:r>
          </a:p>
          <a:p>
            <a:pPr lvl="1"/>
            <a:r>
              <a:rPr lang="en-GB"/>
              <a:t>NO type checking</a:t>
            </a:r>
          </a:p>
          <a:p>
            <a:pPr lvl="1"/>
            <a:r>
              <a:rPr lang="en-GB"/>
              <a:t>NO semantic analysis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6C3CE0-CBE4-925A-C87C-734F7E820A5D}"/>
              </a:ext>
            </a:extLst>
          </p:cNvPr>
          <p:cNvGrpSpPr/>
          <p:nvPr/>
        </p:nvGrpSpPr>
        <p:grpSpPr>
          <a:xfrm>
            <a:off x="1088065" y="3543245"/>
            <a:ext cx="4658056" cy="1305854"/>
            <a:chOff x="1092507" y="3059668"/>
            <a:chExt cx="4658056" cy="1305854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548EF0-59F9-45BF-3480-4F57D9880DF8}"/>
                </a:ext>
              </a:extLst>
            </p:cNvPr>
            <p:cNvSpPr txBox="1"/>
            <p:nvPr/>
          </p:nvSpPr>
          <p:spPr>
            <a:xfrm>
              <a:off x="1260231" y="3059668"/>
              <a:ext cx="4490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 u="sng">
                  <a:uFill>
                    <a:solidFill>
                      <a:srgbClr val="0070C0"/>
                    </a:solidFill>
                  </a:uFill>
                  <a:latin typeface="Consolas" panose="020B0609020204030204" pitchFamily="49" charset="0"/>
                </a:rPr>
                <a:t>field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  <a:endParaRPr lang="en-US">
                <a:latin typeface="Consolas" panose="020B06090202040302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73CCAA-F5FE-5029-F72B-9D9E810B4791}"/>
                </a:ext>
              </a:extLst>
            </p:cNvPr>
            <p:cNvSpPr txBox="1"/>
            <p:nvPr/>
          </p:nvSpPr>
          <p:spPr>
            <a:xfrm>
              <a:off x="1092507" y="3780747"/>
              <a:ext cx="182293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can be set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programmatically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726EB60-6F33-C844-7BA8-EDBE0E99DB5D}"/>
                </a:ext>
              </a:extLst>
            </p:cNvPr>
            <p:cNvSpPr/>
            <p:nvPr/>
          </p:nvSpPr>
          <p:spPr>
            <a:xfrm>
              <a:off x="2848708" y="3472962"/>
              <a:ext cx="228600" cy="574767"/>
            </a:xfrm>
            <a:custGeom>
              <a:avLst/>
              <a:gdLst>
                <a:gd name="csX0" fmla="*/ 0 w 228600"/>
                <a:gd name="csY0" fmla="*/ 536330 h 574767"/>
                <a:gd name="csX1" fmla="*/ 175846 w 228600"/>
                <a:gd name="csY1" fmla="*/ 518746 h 574767"/>
                <a:gd name="csX2" fmla="*/ 228600 w 228600"/>
                <a:gd name="csY2" fmla="*/ 0 h 574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8600" h="574767">
                  <a:moveTo>
                    <a:pt x="0" y="536330"/>
                  </a:moveTo>
                  <a:cubicBezTo>
                    <a:pt x="68873" y="572232"/>
                    <a:pt x="137746" y="608134"/>
                    <a:pt x="175846" y="518746"/>
                  </a:cubicBezTo>
                  <a:cubicBezTo>
                    <a:pt x="213946" y="429358"/>
                    <a:pt x="221273" y="214679"/>
                    <a:pt x="228600" y="0"/>
                  </a:cubicBezTo>
                </a:path>
              </a:pathLst>
            </a:custGeom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A39234-9A51-D479-A227-E84686F28A44}"/>
              </a:ext>
            </a:extLst>
          </p:cNvPr>
          <p:cNvSpPr txBox="1"/>
          <p:nvPr/>
        </p:nvSpPr>
        <p:spPr>
          <a:xfrm>
            <a:off x="6365629" y="4243922"/>
            <a:ext cx="49881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SQL.select(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"Teachers"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C36C946-87D5-61E5-811C-9B77DA26C2EB}"/>
              </a:ext>
            </a:extLst>
          </p:cNvPr>
          <p:cNvSpPr/>
          <p:nvPr/>
        </p:nvSpPr>
        <p:spPr>
          <a:xfrm>
            <a:off x="7142011" y="5187462"/>
            <a:ext cx="533674" cy="474784"/>
          </a:xfrm>
          <a:custGeom>
            <a:avLst/>
            <a:gdLst>
              <a:gd name="csX0" fmla="*/ 533674 w 533674"/>
              <a:gd name="csY0" fmla="*/ 474784 h 474784"/>
              <a:gd name="csX1" fmla="*/ 58889 w 533674"/>
              <a:gd name="csY1" fmla="*/ 369276 h 474784"/>
              <a:gd name="csX2" fmla="*/ 23720 w 533674"/>
              <a:gd name="csY2" fmla="*/ 0 h 474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674" h="474784">
                <a:moveTo>
                  <a:pt x="533674" y="474784"/>
                </a:moveTo>
                <a:cubicBezTo>
                  <a:pt x="338777" y="461595"/>
                  <a:pt x="143881" y="448407"/>
                  <a:pt x="58889" y="369276"/>
                </a:cubicBezTo>
                <a:cubicBezTo>
                  <a:pt x="-26103" y="290145"/>
                  <a:pt x="-1192" y="145072"/>
                  <a:pt x="23720" y="0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CC440-3875-68C2-72EC-559A801840E2}"/>
              </a:ext>
            </a:extLst>
          </p:cNvPr>
          <p:cNvSpPr txBox="1"/>
          <p:nvPr/>
        </p:nvSpPr>
        <p:spPr>
          <a:xfrm>
            <a:off x="7321513" y="5527020"/>
            <a:ext cx="219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illegal syntax</a:t>
            </a:r>
          </a:p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causes </a:t>
            </a:r>
            <a:r>
              <a:rPr lang="en-GB" sz="1600">
                <a:solidFill>
                  <a:srgbClr val="FF0000"/>
                </a:solidFill>
                <a:latin typeface="Comic Sans MS" panose="030F0702030302020204" pitchFamily="66" charset="0"/>
              </a:rPr>
              <a:t>runtime error</a:t>
            </a:r>
            <a:endParaRPr lang="en-US" sz="160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7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27" grpId="0"/>
      <p:bldP spid="29" grpId="0"/>
      <p:bldP spid="36" grpId="0"/>
      <p:bldP spid="39" grpId="0" animBg="1"/>
      <p:bldP spid="4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81C78-6A13-E3C1-FA0D-4A34E58A3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697308" cy="751574"/>
          </a:xfrm>
        </p:spPr>
        <p:txBody>
          <a:bodyPr/>
          <a:lstStyle/>
          <a:p>
            <a:r>
              <a:rPr lang="en-GB"/>
              <a:t>Safe Fluent APIs</a:t>
            </a:r>
            <a:r>
              <a:rPr lang="en-GB" sz="2800"/>
              <a:t>[EriLex, H. Xu, 2010][Fling, Gil &amp; Roth, 2019][...]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B6186-E59B-6E80-77B0-34E11EB75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/>
              <a:t>Approach: Disallow bad method chains via the type system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16D5-AB9D-7049-355B-409B9C12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3EAE5-A45C-46BA-4FA5-94366390C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931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A507-5148-BED2-0F82-A58C5EDB2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EBC1-51AF-2C9F-EF63-D2845706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1: Smart Error Messages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A0C51-AC11-3191-F739-9C4FBF10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CAACC4-2347-792E-CB8D-E13FE1CB06B0}"/>
              </a:ext>
            </a:extLst>
          </p:cNvPr>
          <p:cNvSpPr/>
          <p:nvPr/>
        </p:nvSpPr>
        <p:spPr>
          <a:xfrm>
            <a:off x="3527898" y="1682582"/>
            <a:ext cx="5136204" cy="1245141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=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SQL.select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"*"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 u="wavyHeavy">
                <a:solidFill>
                  <a:srgbClr val="BCBEC4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"Teachers"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5188BB-6C69-507B-E814-D468114F35E7}"/>
              </a:ext>
            </a:extLst>
          </p:cNvPr>
          <p:cNvSpPr/>
          <p:nvPr/>
        </p:nvSpPr>
        <p:spPr>
          <a:xfrm>
            <a:off x="3527898" y="4343400"/>
            <a:ext cx="5136204" cy="1245141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= </a:t>
            </a:r>
            <a:r>
              <a:rPr lang="en-US" err="1">
                <a:solidFill>
                  <a:srgbClr val="BCBEC4"/>
                </a:solidFill>
                <a:latin typeface="Consolas" panose="020B0609020204030204" pitchFamily="49" charset="0"/>
              </a:rPr>
              <a:t>SQL.select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"*"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 u="wavyHeavy">
                <a:solidFill>
                  <a:srgbClr val="BCBEC4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"Teachers"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E906DB-7EB0-1308-65DB-06E98125C4F2}"/>
              </a:ext>
            </a:extLst>
          </p:cNvPr>
          <p:cNvSpPr/>
          <p:nvPr/>
        </p:nvSpPr>
        <p:spPr>
          <a:xfrm>
            <a:off x="6044834" y="5278448"/>
            <a:ext cx="4131013" cy="36512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rgbClr val="BCBEC4"/>
                </a:solidFill>
              </a:rPr>
              <a:t>Expected 'where' or 'end' but got 'from'</a:t>
            </a:r>
            <a:endParaRPr lang="en-US" sz="1600">
              <a:solidFill>
                <a:srgbClr val="BCBEC4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A98A29-7D84-C35D-7062-77BCC0841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0925" y="5028434"/>
            <a:ext cx="130150" cy="1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451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C1E30-2F61-951D-46FF-5BA9CB219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74853B-4518-FEAD-0748-C739F688ECC7}"/>
              </a:ext>
            </a:extLst>
          </p:cNvPr>
          <p:cNvSpPr/>
          <p:nvPr/>
        </p:nvSpPr>
        <p:spPr>
          <a:xfrm>
            <a:off x="3527898" y="4339018"/>
            <a:ext cx="5136204" cy="943154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SQL.select(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rgbClr val="6AAB73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1 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+ 5"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B221C-34EB-5291-3719-7053CB04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2: Analyzing String Literals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7B5FB-6A78-3AD9-87A9-0381EEAA8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972773-4748-E484-1CB5-4C8C748DF3CB}"/>
              </a:ext>
            </a:extLst>
          </p:cNvPr>
          <p:cNvSpPr/>
          <p:nvPr/>
        </p:nvSpPr>
        <p:spPr>
          <a:xfrm>
            <a:off x="3527898" y="1682583"/>
            <a:ext cx="5136204" cy="943154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SQL.select(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rgbClr val="6AAB73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1 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+ 5"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.from(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9945E3-CF40-5011-C9D7-3C8D234D5A1D}"/>
              </a:ext>
            </a:extLst>
          </p:cNvPr>
          <p:cNvSpPr/>
          <p:nvPr/>
        </p:nvSpPr>
        <p:spPr>
          <a:xfrm>
            <a:off x="7019284" y="4762131"/>
            <a:ext cx="4131013" cy="36512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rgbClr val="BCBEC4"/>
                </a:solidFill>
              </a:rPr>
              <a:t>Expected '*' or ID but got '1'</a:t>
            </a:r>
            <a:endParaRPr lang="en-US" sz="1600">
              <a:solidFill>
                <a:srgbClr val="BCBEC4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703AA3-1A30-C5CC-99F6-41A1103FE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284" y="4491961"/>
            <a:ext cx="130150" cy="1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1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86C0-D4FA-144A-B096-4D80615EC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8342A-DA08-D6B2-8792-2155CE7C3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3: DSL Syntax Highlighting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C56A8-B6DF-BA9F-3498-46A7E18A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A3E6D8-C4DA-47A4-635D-1290839C1F57}"/>
              </a:ext>
            </a:extLst>
          </p:cNvPr>
          <p:cNvSpPr/>
          <p:nvPr/>
        </p:nvSpPr>
        <p:spPr>
          <a:xfrm>
            <a:off x="3178045" y="2810400"/>
            <a:ext cx="5835910" cy="1237199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name, birth_year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birth_year == 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2005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</p:spTree>
    <p:extLst>
      <p:ext uri="{BB962C8B-B14F-4D97-AF65-F5344CB8AC3E}">
        <p14:creationId xmlns:p14="http://schemas.microsoft.com/office/powerpoint/2010/main" val="2923497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402A4-6D13-7F3D-9B64-E083C148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BBC4-CD10-B120-754E-57D7CA56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Use Case 4: Semantic EDSL Analysis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FF64D-5F8E-0D53-D334-3E7384E10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CBE598-DD5D-20B4-E959-2490734AFCF9}"/>
              </a:ext>
            </a:extLst>
          </p:cNvPr>
          <p:cNvSpPr/>
          <p:nvPr/>
        </p:nvSpPr>
        <p:spPr>
          <a:xfrm>
            <a:off x="3178045" y="2810400"/>
            <a:ext cx="5835910" cy="1237199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name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rgbClr val="BCBEC4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birth_year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== 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2005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126BE1-004D-263A-1211-1A5E784FDB15}"/>
              </a:ext>
            </a:extLst>
          </p:cNvPr>
          <p:cNvSpPr/>
          <p:nvPr/>
        </p:nvSpPr>
        <p:spPr>
          <a:xfrm>
            <a:off x="6667592" y="3816876"/>
            <a:ext cx="4131013" cy="36512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rgbClr val="BCBEC4"/>
                </a:solidFill>
              </a:rPr>
              <a:t>Unknown id 'birth_year'</a:t>
            </a:r>
            <a:endParaRPr lang="en-US" sz="1600">
              <a:solidFill>
                <a:srgbClr val="BCBEC4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7CEDD4-B29D-48D3-A9FC-C4DE764FE5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92" y="3546706"/>
            <a:ext cx="130150" cy="19498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322C1E-A3FE-D51D-8E4A-FE363E3FDB52}"/>
              </a:ext>
            </a:extLst>
          </p:cNvPr>
          <p:cNvSpPr/>
          <p:nvPr/>
        </p:nvSpPr>
        <p:spPr>
          <a:xfrm>
            <a:off x="6667591" y="4182001"/>
            <a:ext cx="4131013" cy="365125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tx2">
                    <a:lumMod val="50000"/>
                    <a:lumOff val="50000"/>
                  </a:schemeClr>
                </a:solidFill>
              </a:rPr>
              <a:t>Select 'birth_year' from table 'Students'</a:t>
            </a:r>
            <a:endParaRPr lang="en-US" sz="160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034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0B38F-BC44-305A-88F0-F6D0E1187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1D48F-049D-192A-1D7F-53D5362A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Stretch Goal: </a:t>
            </a:r>
            <a:r>
              <a:rPr lang="en-GB" u="sng"/>
              <a:t>Simple</a:t>
            </a:r>
            <a:r>
              <a:rPr lang="en-GB"/>
              <a:t> Dataflow Analysis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4E70-C55F-9BD6-873C-0935F86BC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F30878-4846-9652-4553-AB32A78DD21A}"/>
              </a:ext>
            </a:extLst>
          </p:cNvPr>
          <p:cNvSpPr/>
          <p:nvPr/>
        </p:nvSpPr>
        <p:spPr>
          <a:xfrm>
            <a:off x="1152415" y="1893877"/>
            <a:ext cx="9328016" cy="3126531"/>
          </a:xfrm>
          <a:prstGeom prst="rect">
            <a:avLst/>
          </a:prstGeom>
          <a:solidFill>
            <a:srgbClr val="1E1F22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Where whereClause;</a:t>
            </a:r>
          </a:p>
          <a:p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(negate) {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whereClause = Where.columnId("birth_year").notEquals().nat(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2005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}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else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whereClause = Where.columnId("birth_year").equals().nat(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2005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>
              <a:solidFill>
                <a:srgbClr val="BCBEC4"/>
              </a:solidFill>
              <a:latin typeface="Consolas" panose="020B0609020204030204" pitchFamily="49" charset="0"/>
            </a:endParaRP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Query query = SQL.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name, birth_year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6AAB73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(whereClause)</a:t>
            </a:r>
          </a:p>
          <a:p>
            <a:r>
              <a:rPr lang="en-US">
                <a:solidFill>
                  <a:srgbClr val="BCBEC4"/>
                </a:solidFill>
                <a:latin typeface="Consolas" panose="020B0609020204030204" pitchFamily="49" charset="0"/>
              </a:rPr>
              <a:t>                 .end();</a:t>
            </a:r>
          </a:p>
        </p:txBody>
      </p:sp>
    </p:spTree>
    <p:extLst>
      <p:ext uri="{BB962C8B-B14F-4D97-AF65-F5344CB8AC3E}">
        <p14:creationId xmlns:p14="http://schemas.microsoft.com/office/powerpoint/2010/main" val="99981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9050" cap="flat" cmpd="sng" algn="ctr">
          <a:solidFill>
            <a:srgbClr val="0070C0"/>
          </a:solidFill>
          <a:prstDash val="solid"/>
          <a:round/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7615</TotalTime>
  <Words>681</Words>
  <Application>Microsoft Office PowerPoint</Application>
  <PresentationFormat>Widescreen</PresentationFormat>
  <Paragraphs>139</Paragraphs>
  <Slides>13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Comic Sans MS</vt:lpstr>
      <vt:lpstr>Consolas</vt:lpstr>
      <vt:lpstr>Office Theme</vt:lpstr>
      <vt:lpstr>Backtranslating Fluent APIs</vt:lpstr>
      <vt:lpstr>PowerPoint Presentation</vt:lpstr>
      <vt:lpstr>PowerPoint Presentation</vt:lpstr>
      <vt:lpstr>Contents</vt:lpstr>
      <vt:lpstr>What are Fluent APIs?</vt:lpstr>
      <vt:lpstr>Fluent APIs 🤝 Embedded DSLs</vt:lpstr>
      <vt:lpstr>The Tradeoff</vt:lpstr>
      <vt:lpstr>Safe Fluent APIs[EriLex, H. Xu, 2010][Fling, Gil &amp; Roth, 2019][...]</vt:lpstr>
      <vt:lpstr>Use Case 1: Smart Error Messages</vt:lpstr>
      <vt:lpstr>Use Case 2: Analyzing String Literals</vt:lpstr>
      <vt:lpstr>Use Case 3: DSL Syntax Highlighting</vt:lpstr>
      <vt:lpstr>Use Case 4: Semantic EDSL Analysis</vt:lpstr>
      <vt:lpstr>Stretch Goal: Simple Dataflow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Prüne</dc:creator>
  <cp:lastModifiedBy>Dennis Prüne</cp:lastModifiedBy>
  <cp:revision>26</cp:revision>
  <dcterms:created xsi:type="dcterms:W3CDTF">2026-04-14T09:40:23Z</dcterms:created>
  <dcterms:modified xsi:type="dcterms:W3CDTF">2026-07-21T05:14:56Z</dcterms:modified>
</cp:coreProperties>
</file>