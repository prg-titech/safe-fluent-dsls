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14"/>
  </p:notesMasterIdLst>
  <p:sldIdLst>
    <p:sldId id="270" r:id="rId2"/>
    <p:sldId id="259" r:id="rId3"/>
    <p:sldId id="272" r:id="rId4"/>
    <p:sldId id="279" r:id="rId5"/>
    <p:sldId id="280" r:id="rId6"/>
    <p:sldId id="282" r:id="rId7"/>
    <p:sldId id="271" r:id="rId8"/>
    <p:sldId id="283" r:id="rId9"/>
    <p:sldId id="284" r:id="rId10"/>
    <p:sldId id="285" r:id="rId11"/>
    <p:sldId id="286" r:id="rId12"/>
    <p:sldId id="287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AAB73"/>
    <a:srgbClr val="BCBEC4"/>
    <a:srgbClr val="26282B"/>
    <a:srgbClr val="1E1F2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142" d="100"/>
          <a:sy n="142" d="100"/>
        </p:scale>
        <p:origin x="150" y="2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DFC1B7-3D5E-4A5B-82A1-8FEEA2A3FD17}" type="datetimeFigureOut">
              <a:rPr lang="en-US" smtClean="0"/>
              <a:t>7/16/2026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9645753-AE66-4D7F-9406-BD9694DCF1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752483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5C679D-38E5-62C6-DCF5-C04B1C91958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8B288A3-B35F-2082-6D50-BE52AF59968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11017F-F025-5400-6140-E5428DA432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A8F9E1-B633-4671-85A1-702D296B2A14}" type="datetime1">
              <a:rPr lang="en-US" smtClean="0"/>
              <a:t>7/16/2026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F8174D-A11D-486F-CF04-0E88CD81FA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222E3C-11E9-61B1-DBA8-79694B82A8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890E68-D690-4AC2-96FA-C0B5F80968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720083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F76113-E68B-BBA2-CDAB-79ED000E88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37F934-9076-09D9-3419-910458B245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80842D-B413-513F-D00B-0F377A4A13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35A6D7-3A9E-4158-97DB-54FC883A2A06}" type="datetime1">
              <a:rPr lang="en-US" smtClean="0"/>
              <a:t>7/16/2026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92A55A0-8903-6565-1068-D2BC5E6DF4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393266-096C-A70C-AFFD-00C822C384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890E68-D690-4AC2-96FA-C0B5F80968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62179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E3564F-A307-C491-FE23-0F6A29C746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D1052E5-9E55-BB04-15E2-EE0FEFD7603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ADA1C6-65BA-7A4F-815C-A84E0B2066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7C4EFF-30AA-49EB-91CD-2B87EF8EB862}" type="datetime1">
              <a:rPr lang="en-US" smtClean="0"/>
              <a:t>7/16/2026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09574E6-B211-C2BB-7BA9-67667E69D9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21FC850-A256-C0E4-284B-E620E8241C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890E68-D690-4AC2-96FA-C0B5F80968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19812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423579-917D-D3AA-1638-246FD3FEF6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C2CB76-418B-B247-6C74-6F9A741F65C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CC6CAA3-2229-9018-0916-E48C168DDF1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BA4E871-A9CB-2D58-804A-8B8707A75E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951118-A18D-425F-81A8-FD92900FE385}" type="datetime1">
              <a:rPr lang="en-US" smtClean="0"/>
              <a:t>7/16/2026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3AECA95-EFBB-B200-A7F0-A231A2F86F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660B3AA-8FB9-DB22-B068-B6240A6B2F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890E68-D690-4AC2-96FA-C0B5F80968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66701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B8B221-BB99-48A8-197F-89CCE40B2D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85D10F7-C485-AD65-C886-A06D41B59DE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4D76E9B-C3F7-B779-CB31-A5B2E8F276D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844C204-4A8A-33B1-9701-AC9E8F3A5D0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4EC0CB5-A440-ECED-F5E5-EAF67B25EAC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8253797-D8ED-93EE-8E58-DF58DEF70B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66260F-663B-4006-AA2C-98D64336E379}" type="datetime1">
              <a:rPr lang="en-US" smtClean="0"/>
              <a:t>7/16/2026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71E6375-6CF0-2B55-E07F-70594A8A47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4E5E465-21B0-63C7-63AC-3639860569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890E68-D690-4AC2-96FA-C0B5F80968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20158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8CB73E-1FDB-2768-18D7-8485AAC38F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110CD60-1834-0DF8-3443-713D561916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0CAB38-758B-4823-95AF-C50E6547966C}" type="datetime1">
              <a:rPr lang="en-US" smtClean="0"/>
              <a:t>7/16/2026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23F3FEE-CF11-8C35-6D90-76C6304C80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A21C6E1-DA89-5462-56D3-26358FDC97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890E68-D690-4AC2-96FA-C0B5F80968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484856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5028DA4-D373-D1F6-209E-966219D575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387344-709F-43EA-A55B-8246CD3267AB}" type="datetime1">
              <a:rPr lang="en-US" smtClean="0"/>
              <a:t>7/16/2026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35CB80-108F-8FC2-127B-B08D4F865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C6B649-EB53-2848-390C-3A4296ACD2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890E68-D690-4AC2-96FA-C0B5F80968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397649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C3889D-672A-FC76-2B81-7EE892F2A7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8DDFD9-081D-6001-41DF-96ACA27FB0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06F64D0-E159-82DE-47DD-F7556FA0DFF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EFEEF5F-78F1-EF2B-4382-375D8C9D49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ACB447-DA57-4353-AF4E-16DFDA026034}" type="datetime1">
              <a:rPr lang="en-US" smtClean="0"/>
              <a:t>7/16/2026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9C3C07A-3CD4-E8F9-9591-52C3E8BE9B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0AB6502-81A6-3D88-2039-3C24133F2D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890E68-D690-4AC2-96FA-C0B5F80968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48398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B6E3FB-1D85-C984-8EFA-7D3968960A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2FC6586-CA07-0B0B-6D91-00E92D9DA6E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118DE47-470D-21CD-DE5B-99C2B16496F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4B08691-1EC7-AA14-CC9C-9EF5A8EDBF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25D064-2237-49F3-AB45-E1B7D4062571}" type="datetime1">
              <a:rPr lang="en-US" smtClean="0"/>
              <a:t>7/16/2026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5E8A282-89E9-69BB-2C98-E6F7BE4D27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DE503F8-246C-2C8B-1DEE-979C67A9A5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890E68-D690-4AC2-96FA-C0B5F80968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12897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FC6F3D-8CAB-6F4A-F2F4-4FC14E26D7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31687B3-6CC0-EC5C-4AF6-574DD417596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1742338-32CC-B9CD-47B4-835A134B1F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0B55C5-286B-4763-BAC7-BF7B72B1422A}" type="datetime1">
              <a:rPr lang="en-US" smtClean="0"/>
              <a:t>7/16/2026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CF34E6-4CF0-607D-AD40-97885841C0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ADA7598-B72F-596B-0939-423513BE5C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890E68-D690-4AC2-96FA-C0B5F80968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808892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65CC993-C462-C039-3E0D-EFC0A53EDD2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788C53B-5E6B-17A7-4426-8448744712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6E28B83-BCE9-EA98-16F2-98E390A4DC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612B56-0B9B-4C11-91C6-2FAECB8A82F0}" type="datetime1">
              <a:rPr lang="en-US" smtClean="0"/>
              <a:t>7/16/2026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771E89-95C7-563B-5AA7-3A05A9B07A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DCD416D-097C-BCBD-AD42-2B8700DBCA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890E68-D690-4AC2-96FA-C0B5F80968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631639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45FE3C9-471C-AF24-9B31-408B6D7F05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95AC752-CF0B-2524-A240-3264854CC5B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A64DAA7-A556-9B03-DB8D-D79A598CDCC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E9DC357-BB2B-4622-A46E-34C8E155D5BC}" type="datetime1">
              <a:rPr lang="en-US" smtClean="0"/>
              <a:t>7/16/2026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C1BDC3-3EE0-5E7A-97E3-D90296BEA23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2EDCAB-2080-63E3-EF09-AA0A0D9129F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890E68-D690-4AC2-96FA-C0B5F80968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29337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3D25CD-3838-A8B6-CDED-66FBCCC5DC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B8DCCF-E96E-5612-3869-CCEE12FFF72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214438"/>
            <a:ext cx="9144000" cy="2387600"/>
          </a:xfrm>
        </p:spPr>
        <p:txBody>
          <a:bodyPr/>
          <a:lstStyle/>
          <a:p>
            <a:r>
              <a:rPr lang="en-GB"/>
              <a:t>My Research Interest</a:t>
            </a:r>
            <a:endParaRPr lang="en-US"/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DFDE6BEC-9721-7972-52C7-4D71ADBA7B5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/>
              <a:t>…it's quite involved, so I'll get to the title later, promise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556321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1DEAD3-4AE9-2D67-8977-864AE8FF2F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2D4AC1-4EEF-7AA9-2C01-04A3D16697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Overview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8AEEA6-EABE-9CDB-3B1E-0999D17E4F5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GB"/>
              <a:t>How do Websites work?</a:t>
            </a:r>
          </a:p>
          <a:p>
            <a:pPr marL="971550" lvl="1" indent="-514350">
              <a:buFont typeface="+mj-lt"/>
              <a:buAutoNum type="alphaLcPeriod"/>
            </a:pPr>
            <a:r>
              <a:rPr lang="en-GB"/>
              <a:t>HTML = Layout</a:t>
            </a:r>
          </a:p>
          <a:p>
            <a:pPr marL="971550" lvl="1" indent="-514350">
              <a:buFont typeface="+mj-lt"/>
              <a:buAutoNum type="alphaLcPeriod"/>
            </a:pPr>
            <a:r>
              <a:rPr lang="en-GB"/>
              <a:t>CSS = Style</a:t>
            </a:r>
          </a:p>
          <a:p>
            <a:pPr marL="971550" lvl="1" indent="-514350">
              <a:buFont typeface="+mj-lt"/>
              <a:buAutoNum type="alphaLcPeriod"/>
            </a:pPr>
            <a:r>
              <a:rPr lang="en-GB"/>
              <a:t>JavaScript = All the cool stuff</a:t>
            </a:r>
          </a:p>
          <a:p>
            <a:pPr marL="971550" lvl="1" indent="-514350">
              <a:buFont typeface="+mj-lt"/>
              <a:buAutoNum type="alphaLcPeriod"/>
            </a:pPr>
            <a:r>
              <a:rPr lang="en-GB"/>
              <a:t>Modern Website Development</a:t>
            </a:r>
          </a:p>
          <a:p>
            <a:pPr marL="514350" indent="-514350">
              <a:buFont typeface="+mj-lt"/>
              <a:buAutoNum type="arabicPeriod"/>
            </a:pPr>
            <a:r>
              <a:rPr lang="en-GB"/>
              <a:t>What is a Fluent DSL?</a:t>
            </a:r>
          </a:p>
          <a:p>
            <a:pPr marL="514350" indent="-514350">
              <a:buFont typeface="+mj-lt"/>
              <a:buAutoNum type="arabicPeriod"/>
            </a:pPr>
            <a:r>
              <a:rPr lang="en-GB"/>
              <a:t>Making Fluent DSLs Secure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FAE8F55-77EE-B192-B51B-455E1F6C62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890E68-D690-4AC2-96FA-C0B5F80968DC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261856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779BF0-3459-ACD7-32F6-7F45D82E11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98A48B-4CBD-F55D-FACF-2544DECB21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How do Websites Work?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2D3D92-9EAB-699C-4C36-08D28396E8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/>
              <a:t>HTML = Layout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2772B6-789A-C534-F206-B68CBFA76C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890E68-D690-4AC2-96FA-C0B5F80968DC}" type="slidenum">
              <a:rPr lang="en-US" smtClean="0"/>
              <a:t>3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1288857-4B18-636A-B7CE-80E9F62489F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44573" y="1382293"/>
            <a:ext cx="3732054" cy="5110582"/>
          </a:xfrm>
          <a:prstGeom prst="rect">
            <a:avLst/>
          </a:prstGeom>
        </p:spPr>
      </p:pic>
      <p:sp>
        <p:nvSpPr>
          <p:cNvPr id="9" name="Freeform: Shape 8">
            <a:extLst>
              <a:ext uri="{FF2B5EF4-FFF2-40B4-BE49-F238E27FC236}">
                <a16:creationId xmlns:a16="http://schemas.microsoft.com/office/drawing/2014/main" id="{37E2A56F-7BBB-D546-8545-ECA85B977FE5}"/>
              </a:ext>
            </a:extLst>
          </p:cNvPr>
          <p:cNvSpPr/>
          <p:nvPr/>
        </p:nvSpPr>
        <p:spPr>
          <a:xfrm>
            <a:off x="10506808" y="1204546"/>
            <a:ext cx="977255" cy="1178169"/>
          </a:xfrm>
          <a:custGeom>
            <a:avLst/>
            <a:gdLst>
              <a:gd name="csX0" fmla="*/ 694592 w 977255"/>
              <a:gd name="csY0" fmla="*/ 0 h 1178169"/>
              <a:gd name="csX1" fmla="*/ 940777 w 977255"/>
              <a:gd name="csY1" fmla="*/ 694592 h 1178169"/>
              <a:gd name="csX2" fmla="*/ 0 w 977255"/>
              <a:gd name="csY2" fmla="*/ 1178169 h 11781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977255" h="1178169">
                <a:moveTo>
                  <a:pt x="694592" y="0"/>
                </a:moveTo>
                <a:cubicBezTo>
                  <a:pt x="875567" y="249115"/>
                  <a:pt x="1056542" y="498231"/>
                  <a:pt x="940777" y="694592"/>
                </a:cubicBezTo>
                <a:cubicBezTo>
                  <a:pt x="825012" y="890953"/>
                  <a:pt x="412506" y="1034561"/>
                  <a:pt x="0" y="1178169"/>
                </a:cubicBezTo>
              </a:path>
            </a:pathLst>
          </a:custGeom>
          <a:ln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51B59DA-96A9-12F3-1579-F422E67AAFB5}"/>
              </a:ext>
            </a:extLst>
          </p:cNvPr>
          <p:cNvSpPr txBox="1"/>
          <p:nvPr/>
        </p:nvSpPr>
        <p:spPr>
          <a:xfrm>
            <a:off x="10366513" y="565468"/>
            <a:ext cx="156044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>
                <a:solidFill>
                  <a:srgbClr val="0070C0"/>
                </a:solidFill>
                <a:latin typeface="Comic Sans MS" panose="030F0702030302020204" pitchFamily="66" charset="0"/>
              </a:rPr>
              <a:t>specified by HTML</a:t>
            </a:r>
            <a:endParaRPr lang="en-US">
              <a:solidFill>
                <a:srgbClr val="0070C0"/>
              </a:solidFill>
              <a:latin typeface="Comic Sans MS" panose="030F0702030302020204" pitchFamily="66" charset="0"/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8E0D2185-6C1B-4C38-74A7-917868D6834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76741" y="2382715"/>
            <a:ext cx="3550229" cy="1630561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A38D8128-4837-77D8-9E8F-F163B777BF3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28619" y="4936497"/>
            <a:ext cx="3046471" cy="1548206"/>
          </a:xfrm>
          <a:prstGeom prst="rect">
            <a:avLst/>
          </a:prstGeom>
        </p:spPr>
      </p:pic>
      <p:sp>
        <p:nvSpPr>
          <p:cNvPr id="15" name="Arrow: Down 14">
            <a:extLst>
              <a:ext uri="{FF2B5EF4-FFF2-40B4-BE49-F238E27FC236}">
                <a16:creationId xmlns:a16="http://schemas.microsoft.com/office/drawing/2014/main" id="{69B73620-48D6-4AF7-4F25-9ADFE9B50127}"/>
              </a:ext>
            </a:extLst>
          </p:cNvPr>
          <p:cNvSpPr/>
          <p:nvPr/>
        </p:nvSpPr>
        <p:spPr>
          <a:xfrm>
            <a:off x="2971800" y="4102970"/>
            <a:ext cx="725557" cy="743834"/>
          </a:xfrm>
          <a:prstGeom prst="downArrow">
            <a:avLst/>
          </a:prstGeom>
          <a:ln w="381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02953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C4A90E-3797-5B31-D380-039B383AD4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C06BBA-C8FE-A4B1-05FE-0A6B673B74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How do Websites Work?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765828-F215-EE5D-6A93-CEAE0D3F70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/>
              <a:t>CSS = Style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8F176F6-ADF5-C2D8-9ACC-0BF80BF068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890E68-D690-4AC2-96FA-C0B5F80968DC}" type="slidenum">
              <a:rPr lang="en-US" smtClean="0"/>
              <a:t>4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56612AC-BEAA-6732-EDA0-AD9EE55753B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2443136"/>
            <a:ext cx="4792047" cy="1380759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81D213A4-56F2-8ED3-6ED4-DB7049F3007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70171" y="867289"/>
            <a:ext cx="3783629" cy="2956606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D7DF6DB1-FAC4-E360-87F7-1B5ACF23AE4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54312" y="5291009"/>
            <a:ext cx="1792919" cy="1131596"/>
          </a:xfrm>
          <a:prstGeom prst="rect">
            <a:avLst/>
          </a:prstGeom>
        </p:spPr>
      </p:pic>
      <p:grpSp>
        <p:nvGrpSpPr>
          <p:cNvPr id="25" name="Group 24">
            <a:extLst>
              <a:ext uri="{FF2B5EF4-FFF2-40B4-BE49-F238E27FC236}">
                <a16:creationId xmlns:a16="http://schemas.microsoft.com/office/drawing/2014/main" id="{697A9F21-8ECB-773D-1C62-DD3E49AD75AD}"/>
              </a:ext>
            </a:extLst>
          </p:cNvPr>
          <p:cNvGrpSpPr/>
          <p:nvPr/>
        </p:nvGrpSpPr>
        <p:grpSpPr>
          <a:xfrm>
            <a:off x="6507595" y="5289488"/>
            <a:ext cx="1792920" cy="1066862"/>
            <a:chOff x="6507595" y="5289488"/>
            <a:chExt cx="1792920" cy="1066862"/>
          </a:xfrm>
        </p:grpSpPr>
        <p:pic>
          <p:nvPicPr>
            <p:cNvPr id="18" name="Picture 17">
              <a:extLst>
                <a:ext uri="{FF2B5EF4-FFF2-40B4-BE49-F238E27FC236}">
                  <a16:creationId xmlns:a16="http://schemas.microsoft.com/office/drawing/2014/main" id="{7232D6DD-654A-951E-0380-E3DA66D9AFD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507595" y="5289488"/>
              <a:ext cx="1792920" cy="1066862"/>
            </a:xfrm>
            <a:prstGeom prst="rect">
              <a:avLst/>
            </a:prstGeom>
          </p:spPr>
        </p:pic>
        <p:pic>
          <p:nvPicPr>
            <p:cNvPr id="22" name="Picture 21">
              <a:extLst>
                <a:ext uri="{FF2B5EF4-FFF2-40B4-BE49-F238E27FC236}">
                  <a16:creationId xmlns:a16="http://schemas.microsoft.com/office/drawing/2014/main" id="{1A045329-9E50-270F-B2C0-7110A6A3A43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083900" y="5955000"/>
              <a:ext cx="243721" cy="365125"/>
            </a:xfrm>
            <a:prstGeom prst="rect">
              <a:avLst/>
            </a:prstGeom>
          </p:spPr>
        </p:pic>
      </p:grpSp>
      <p:sp>
        <p:nvSpPr>
          <p:cNvPr id="23" name="Plus Sign 22">
            <a:extLst>
              <a:ext uri="{FF2B5EF4-FFF2-40B4-BE49-F238E27FC236}">
                <a16:creationId xmlns:a16="http://schemas.microsoft.com/office/drawing/2014/main" id="{773C0347-CFAA-0439-DB0E-B98E239DD7EE}"/>
              </a:ext>
            </a:extLst>
          </p:cNvPr>
          <p:cNvSpPr/>
          <p:nvPr/>
        </p:nvSpPr>
        <p:spPr>
          <a:xfrm>
            <a:off x="6226629" y="2659986"/>
            <a:ext cx="867999" cy="947057"/>
          </a:xfrm>
          <a:prstGeom prst="mathPlus">
            <a:avLst/>
          </a:prstGeom>
          <a:ln w="381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Equals 23">
            <a:extLst>
              <a:ext uri="{FF2B5EF4-FFF2-40B4-BE49-F238E27FC236}">
                <a16:creationId xmlns:a16="http://schemas.microsoft.com/office/drawing/2014/main" id="{5F62E320-73B0-9D09-39B8-7E357EC207D7}"/>
              </a:ext>
            </a:extLst>
          </p:cNvPr>
          <p:cNvSpPr/>
          <p:nvPr/>
        </p:nvSpPr>
        <p:spPr>
          <a:xfrm rot="5400000">
            <a:off x="5285961" y="3910806"/>
            <a:ext cx="1118423" cy="1293292"/>
          </a:xfrm>
          <a:prstGeom prst="mathEqual">
            <a:avLst/>
          </a:prstGeom>
          <a:ln w="381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923245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94524A-6A0C-8A38-4A0C-1A715C9F99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01E514-E537-0BC5-B0D5-CDD45E1C6E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How do Websites Work?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023CEB-0D83-731D-7A9C-C8D87121F7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/>
              <a:t>JavaScript = All the cool stuff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CD8E19-5048-A3D0-8430-760AE9E3DA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890E68-D690-4AC2-96FA-C0B5F80968DC}" type="slidenum">
              <a:rPr lang="en-US" smtClean="0"/>
              <a:t>5</a:t>
            </a:fld>
            <a:endParaRPr lang="en-US"/>
          </a:p>
        </p:txBody>
      </p:sp>
      <p:sp>
        <p:nvSpPr>
          <p:cNvPr id="23" name="Plus Sign 22">
            <a:extLst>
              <a:ext uri="{FF2B5EF4-FFF2-40B4-BE49-F238E27FC236}">
                <a16:creationId xmlns:a16="http://schemas.microsoft.com/office/drawing/2014/main" id="{478BDF2D-EC79-6E6D-EA9A-B385D2CE5AA1}"/>
              </a:ext>
            </a:extLst>
          </p:cNvPr>
          <p:cNvSpPr/>
          <p:nvPr/>
        </p:nvSpPr>
        <p:spPr>
          <a:xfrm>
            <a:off x="6226629" y="2659986"/>
            <a:ext cx="867999" cy="947057"/>
          </a:xfrm>
          <a:prstGeom prst="mathPlus">
            <a:avLst/>
          </a:prstGeom>
          <a:ln w="381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Equals 23">
            <a:extLst>
              <a:ext uri="{FF2B5EF4-FFF2-40B4-BE49-F238E27FC236}">
                <a16:creationId xmlns:a16="http://schemas.microsoft.com/office/drawing/2014/main" id="{E7898A4A-C1BC-5964-DF0B-EAC968F06A4B}"/>
              </a:ext>
            </a:extLst>
          </p:cNvPr>
          <p:cNvSpPr/>
          <p:nvPr/>
        </p:nvSpPr>
        <p:spPr>
          <a:xfrm rot="5400000">
            <a:off x="5285961" y="3910806"/>
            <a:ext cx="1118423" cy="1293292"/>
          </a:xfrm>
          <a:prstGeom prst="mathEqual">
            <a:avLst/>
          </a:prstGeom>
          <a:ln w="381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B22E573-21F7-34E8-0EF8-26A7DAF1F75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4516" y="2599912"/>
            <a:ext cx="5143090" cy="1152686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EA78C3F6-4053-0D88-5ECF-EBEE149CE74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53651" y="2659986"/>
            <a:ext cx="3056956" cy="947057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FA7EEC17-AB53-DDE4-E5B6-BD2B3395B6D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50489" y="5270210"/>
            <a:ext cx="2589366" cy="14611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36440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DFF728-52F1-1A41-9DB0-77F12D99D4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8E454D-BDF5-B392-5406-A3B07A91DE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Modern Website Development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853120-35CF-4279-E11F-B6C9DEBBDB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GB"/>
              <a:t>Every Language covers its own </a:t>
            </a:r>
            <a:r>
              <a:rPr lang="en-GB" b="1"/>
              <a:t>problem domain:</a:t>
            </a:r>
          </a:p>
          <a:p>
            <a:pPr lvl="1"/>
            <a:r>
              <a:rPr lang="en-GB"/>
              <a:t>HTML = Layout</a:t>
            </a:r>
          </a:p>
          <a:p>
            <a:pPr lvl="1"/>
            <a:r>
              <a:rPr lang="en-GB"/>
              <a:t>CSS = Style</a:t>
            </a:r>
          </a:p>
          <a:p>
            <a:pPr lvl="1"/>
            <a:r>
              <a:rPr lang="en-GB"/>
              <a:t>JavaScript = Behaviour</a:t>
            </a:r>
          </a:p>
          <a:p>
            <a:pPr lvl="1"/>
            <a:endParaRPr lang="en-GB"/>
          </a:p>
          <a:p>
            <a:pPr marL="457200" lvl="1" indent="0">
              <a:buNone/>
            </a:pPr>
            <a:endParaRPr lang="en-GB"/>
          </a:p>
          <a:p>
            <a:pPr marL="457200" lvl="1" indent="0">
              <a:buNone/>
            </a:pPr>
            <a:endParaRPr lang="en-GB"/>
          </a:p>
          <a:p>
            <a:pPr>
              <a:buFont typeface="Wingdings" panose="05000000000000000000" pitchFamily="2" charset="2"/>
              <a:buChar char="à"/>
            </a:pPr>
            <a:r>
              <a:rPr lang="en-GB">
                <a:sym typeface="Wingdings" panose="05000000000000000000" pitchFamily="2" charset="2"/>
              </a:rPr>
              <a:t>Very Complex: Developers need to be comfortable with 3 language</a:t>
            </a:r>
          </a:p>
          <a:p>
            <a:pPr marL="0" indent="0">
              <a:buNone/>
            </a:pPr>
            <a:r>
              <a:rPr lang="en-GB">
                <a:sym typeface="Wingdings" panose="05000000000000000000" pitchFamily="2" charset="2"/>
              </a:rPr>
              <a:t>     (at least!)</a:t>
            </a:r>
          </a:p>
          <a:p>
            <a:pPr marL="0" indent="0">
              <a:buNone/>
            </a:pPr>
            <a:r>
              <a:rPr lang="en-GB">
                <a:sym typeface="Wingdings" panose="05000000000000000000" pitchFamily="2" charset="2"/>
              </a:rPr>
              <a:t>Solution: Fluent DSLs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EBBF50-D11D-4951-B6E9-63CFFA5F44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890E68-D690-4AC2-96FA-C0B5F80968DC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212201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13BEC4-C0CE-180E-58D5-76FB00E477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90BB9E-5673-FB59-6594-53991A7566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What are Fluent DSLs?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E5AA89-67A4-0711-DB74-4B69167416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/>
              <a:t>DSL = </a:t>
            </a:r>
            <a:r>
              <a:rPr lang="en-GB" b="1"/>
              <a:t>Domain Specific Language</a:t>
            </a:r>
          </a:p>
          <a:p>
            <a:r>
              <a:rPr lang="en-GB"/>
              <a:t>Fluent DSL = A DSL using familiar syntax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FCA8B16-5C5D-9B63-01C6-89101D1F4D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890E68-D690-4AC2-96FA-C0B5F80968DC}" type="slidenum">
              <a:rPr lang="en-US" smtClean="0"/>
              <a:t>7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F508A7E-E4F5-F6BF-6CFE-A22DB33451A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65504" y="3553056"/>
            <a:ext cx="3886788" cy="2346079"/>
          </a:xfrm>
          <a:prstGeom prst="rect">
            <a:avLst/>
          </a:prstGeom>
        </p:spPr>
      </p:pic>
      <p:sp>
        <p:nvSpPr>
          <p:cNvPr id="7" name="Arrow: Right 6">
            <a:extLst>
              <a:ext uri="{FF2B5EF4-FFF2-40B4-BE49-F238E27FC236}">
                <a16:creationId xmlns:a16="http://schemas.microsoft.com/office/drawing/2014/main" id="{F82623C3-9109-D93F-FFCC-CD799749B5E3}"/>
              </a:ext>
            </a:extLst>
          </p:cNvPr>
          <p:cNvSpPr/>
          <p:nvPr/>
        </p:nvSpPr>
        <p:spPr>
          <a:xfrm>
            <a:off x="5433646" y="4352192"/>
            <a:ext cx="1283677" cy="641839"/>
          </a:xfrm>
          <a:prstGeom prst="rightArrow">
            <a:avLst/>
          </a:prstGeom>
          <a:ln w="381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0211319D-B68C-1308-F0D7-0DD491F669F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98677" y="3746662"/>
            <a:ext cx="1744616" cy="19588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883906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59A3D8-4397-5458-934A-096AF7C77F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A169D0-2BDB-9771-42EB-CEB90B218A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My Research Goal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78CEFD-DF19-E8A5-DAC1-02618FBFA9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/>
              <a:t>Prevent misuse of Fluent DSLs: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7AF29E-CE18-B6B7-438C-F8B36AC5E2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890E68-D690-4AC2-96FA-C0B5F80968DC}" type="slidenum">
              <a:rPr lang="en-US" smtClean="0"/>
              <a:t>8</a:t>
            </a:fld>
            <a:endParaRPr lang="en-US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44E33AEC-F77B-8A42-E5A6-37D249AC399A}"/>
              </a:ext>
            </a:extLst>
          </p:cNvPr>
          <p:cNvSpPr/>
          <p:nvPr/>
        </p:nvSpPr>
        <p:spPr>
          <a:xfrm>
            <a:off x="5454161" y="3442188"/>
            <a:ext cx="1283677" cy="641839"/>
          </a:xfrm>
          <a:prstGeom prst="rightArrow">
            <a:avLst/>
          </a:prstGeom>
          <a:ln w="381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0AF0396-7109-EB42-F435-E924569DD6E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01239" y="2722130"/>
            <a:ext cx="3451053" cy="2049063"/>
          </a:xfrm>
          <a:prstGeom prst="rect">
            <a:avLst/>
          </a:prstGeom>
        </p:spPr>
      </p:pic>
      <p:sp>
        <p:nvSpPr>
          <p:cNvPr id="10" name="&quot;Not Allowed&quot; Symbol 9">
            <a:extLst>
              <a:ext uri="{FF2B5EF4-FFF2-40B4-BE49-F238E27FC236}">
                <a16:creationId xmlns:a16="http://schemas.microsoft.com/office/drawing/2014/main" id="{337CB5E8-E0CD-8152-F714-95D0CB3121A5}"/>
              </a:ext>
            </a:extLst>
          </p:cNvPr>
          <p:cNvSpPr/>
          <p:nvPr/>
        </p:nvSpPr>
        <p:spPr>
          <a:xfrm>
            <a:off x="7080739" y="2963008"/>
            <a:ext cx="1529861" cy="1529861"/>
          </a:xfrm>
          <a:prstGeom prst="noSmoking">
            <a:avLst/>
          </a:prstGeom>
          <a:solidFill>
            <a:srgbClr val="FF0000"/>
          </a:solidFill>
          <a:ln w="381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1C0D09C-8E88-C7C1-A8F4-73A7DAC56D8C}"/>
              </a:ext>
            </a:extLst>
          </p:cNvPr>
          <p:cNvSpPr txBox="1"/>
          <p:nvPr/>
        </p:nvSpPr>
        <p:spPr>
          <a:xfrm>
            <a:off x="527920" y="4906130"/>
            <a:ext cx="173170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>
                <a:solidFill>
                  <a:srgbClr val="0070C0"/>
                </a:solidFill>
                <a:latin typeface="Comic Sans MS" panose="030F0702030302020204" pitchFamily="66" charset="0"/>
              </a:rPr>
              <a:t>double tagging is not allowed</a:t>
            </a:r>
            <a:endParaRPr lang="en-US">
              <a:solidFill>
                <a:srgbClr val="0070C0"/>
              </a:solidFill>
              <a:latin typeface="Comic Sans MS" panose="030F0702030302020204" pitchFamily="66" charset="0"/>
            </a:endParaRPr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35E0D132-D961-6A1F-BF03-FB50A768B4D2}"/>
              </a:ext>
            </a:extLst>
          </p:cNvPr>
          <p:cNvSpPr/>
          <p:nvPr/>
        </p:nvSpPr>
        <p:spPr>
          <a:xfrm>
            <a:off x="878175" y="3710354"/>
            <a:ext cx="1117679" cy="984738"/>
          </a:xfrm>
          <a:custGeom>
            <a:avLst/>
            <a:gdLst>
              <a:gd name="csX0" fmla="*/ 361540 w 1117679"/>
              <a:gd name="csY0" fmla="*/ 984738 h 984738"/>
              <a:gd name="csX1" fmla="*/ 36225 w 1117679"/>
              <a:gd name="csY1" fmla="*/ 290146 h 984738"/>
              <a:gd name="csX2" fmla="*/ 1117679 w 1117679"/>
              <a:gd name="csY2" fmla="*/ 0 h 9847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17679" h="984738">
                <a:moveTo>
                  <a:pt x="361540" y="984738"/>
                </a:moveTo>
                <a:cubicBezTo>
                  <a:pt x="135871" y="719503"/>
                  <a:pt x="-89798" y="454269"/>
                  <a:pt x="36225" y="290146"/>
                </a:cubicBezTo>
                <a:cubicBezTo>
                  <a:pt x="162248" y="126023"/>
                  <a:pt x="639963" y="63011"/>
                  <a:pt x="1117679" y="0"/>
                </a:cubicBezTo>
              </a:path>
            </a:pathLst>
          </a:custGeom>
          <a:noFill/>
          <a:ln w="12700">
            <a:solidFill>
              <a:srgbClr val="0070C0"/>
            </a:solidFill>
            <a:headEnd type="none"/>
            <a:tailEnd type="triangl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088649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07DF96-89E2-7590-0766-6C41648FD8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A70C08-CDF0-7B32-2162-F19D1704E9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My Research Goal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04B198-826B-5126-FBEB-6F3D9C1512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/>
              <a:t>Research Title: Static Correctness for Fluent DSLs</a:t>
            </a:r>
          </a:p>
          <a:p>
            <a:r>
              <a:rPr lang="en-GB"/>
              <a:t>Current Progress:</a:t>
            </a:r>
          </a:p>
          <a:p>
            <a:pPr lvl="1"/>
            <a:r>
              <a:rPr lang="en-GB"/>
              <a:t>Identified host language: Java</a:t>
            </a:r>
          </a:p>
          <a:p>
            <a:pPr lvl="1"/>
            <a:r>
              <a:rPr lang="en-GB"/>
              <a:t>Identified DSL to embed: SQL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F4F64B-BCDC-5D61-F15E-27F4FCA0D1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890E68-D690-4AC2-96FA-C0B5F80968DC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398968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C43572-AEC2-13D1-5E6D-309659710A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E3FCEA-8B0B-4302-6339-2A26278E12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Conclusion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2772FA-47CF-C39A-9D87-568F13A9AD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/>
              <a:t>Modern Software uses a mix of programming languages</a:t>
            </a:r>
          </a:p>
          <a:p>
            <a:r>
              <a:rPr lang="en-GB"/>
              <a:t>This is a strain on Developers</a:t>
            </a:r>
          </a:p>
          <a:p>
            <a:pPr>
              <a:buFont typeface="Wingdings" panose="05000000000000000000" pitchFamily="2" charset="2"/>
              <a:buChar char="à"/>
            </a:pPr>
            <a:r>
              <a:rPr lang="en-GB">
                <a:sym typeface="Wingdings" panose="05000000000000000000" pitchFamily="2" charset="2"/>
              </a:rPr>
              <a:t> Fluent DSLs alleviate this</a:t>
            </a:r>
          </a:p>
          <a:p>
            <a:r>
              <a:rPr lang="en-GB">
                <a:sym typeface="Wingdings" panose="05000000000000000000" pitchFamily="2" charset="2"/>
              </a:rPr>
              <a:t>But come with their own problems!</a:t>
            </a:r>
          </a:p>
          <a:p>
            <a:pPr lvl="1"/>
            <a:r>
              <a:rPr lang="en-GB">
                <a:sym typeface="Wingdings" panose="05000000000000000000" pitchFamily="2" charset="2"/>
              </a:rPr>
              <a:t>No safety guarantees</a:t>
            </a:r>
          </a:p>
          <a:p>
            <a:pPr lvl="1"/>
            <a:r>
              <a:rPr lang="en-GB">
                <a:sym typeface="Wingdings" panose="05000000000000000000" pitchFamily="2" charset="2"/>
              </a:rPr>
              <a:t>Feature incompleteness</a:t>
            </a:r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0CBE23-81F3-6E67-0895-6CDC75CF54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890E68-D690-4AC2-96FA-C0B5F80968DC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763867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D1A507-5148-BED2-0F82-A58C5EDB2B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B9EBC1-51AF-2C9F-EF63-D2845706CD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Use Case 1: Smart Error Messages</a:t>
            </a: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1A0C51-AC11-3191-F739-9C4FBF10E8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890E68-D690-4AC2-96FA-C0B5F80968DC}" type="slidenum">
              <a:rPr lang="en-US" smtClean="0"/>
              <a:t>11</a:t>
            </a:fld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3CAACC4-2347-792E-CB8D-E13FE1CB06B0}"/>
              </a:ext>
            </a:extLst>
          </p:cNvPr>
          <p:cNvSpPr/>
          <p:nvPr/>
        </p:nvSpPr>
        <p:spPr>
          <a:xfrm>
            <a:off x="3527898" y="1682582"/>
            <a:ext cx="5136204" cy="1245141"/>
          </a:xfrm>
          <a:prstGeom prst="rect">
            <a:avLst/>
          </a:prstGeom>
          <a:solidFill>
            <a:srgbClr val="1E1F22"/>
          </a:solidFill>
          <a:ln w="381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>
                <a:solidFill>
                  <a:srgbClr val="BCBEC4"/>
                </a:solidFill>
                <a:latin typeface="Consolas" panose="020B0609020204030204" pitchFamily="49" charset="0"/>
              </a:rPr>
              <a:t>Query </a:t>
            </a:r>
            <a:r>
              <a:rPr lang="en-US" err="1">
                <a:solidFill>
                  <a:srgbClr val="BCBEC4"/>
                </a:solidFill>
                <a:latin typeface="Consolas" panose="020B0609020204030204" pitchFamily="49" charset="0"/>
              </a:rPr>
              <a:t>query</a:t>
            </a:r>
            <a:r>
              <a:rPr lang="en-US">
                <a:solidFill>
                  <a:srgbClr val="BCBEC4"/>
                </a:solidFill>
                <a:latin typeface="Consolas" panose="020B0609020204030204" pitchFamily="49" charset="0"/>
              </a:rPr>
              <a:t> = </a:t>
            </a:r>
            <a:r>
              <a:rPr lang="en-US" err="1">
                <a:solidFill>
                  <a:srgbClr val="BCBEC4"/>
                </a:solidFill>
                <a:latin typeface="Consolas" panose="020B0609020204030204" pitchFamily="49" charset="0"/>
              </a:rPr>
              <a:t>SQL.select</a:t>
            </a:r>
            <a:r>
              <a:rPr lang="en-US">
                <a:solidFill>
                  <a:srgbClr val="BCBEC4"/>
                </a:solidFill>
                <a:latin typeface="Consolas" panose="020B0609020204030204" pitchFamily="49" charset="0"/>
              </a:rPr>
              <a:t>(</a:t>
            </a:r>
            <a:r>
              <a:rPr lang="en-US">
                <a:solidFill>
                  <a:srgbClr val="6AAB73"/>
                </a:solidFill>
                <a:latin typeface="Consolas" panose="020B0609020204030204" pitchFamily="49" charset="0"/>
              </a:rPr>
              <a:t>"*"</a:t>
            </a:r>
            <a:r>
              <a:rPr lang="en-US">
                <a:solidFill>
                  <a:srgbClr val="BCBEC4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en-US">
                <a:solidFill>
                  <a:srgbClr val="BCBEC4"/>
                </a:solidFill>
                <a:latin typeface="Consolas" panose="020B0609020204030204" pitchFamily="49" charset="0"/>
              </a:rPr>
              <a:t>                 .from(</a:t>
            </a:r>
            <a:r>
              <a:rPr lang="en-US">
                <a:solidFill>
                  <a:srgbClr val="6AAB73"/>
                </a:solidFill>
                <a:latin typeface="Consolas" panose="020B0609020204030204" pitchFamily="49" charset="0"/>
              </a:rPr>
              <a:t>"Students"</a:t>
            </a:r>
            <a:r>
              <a:rPr lang="en-US">
                <a:solidFill>
                  <a:srgbClr val="BCBEC4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en-US">
                <a:solidFill>
                  <a:srgbClr val="BCBEC4"/>
                </a:solidFill>
                <a:latin typeface="Consolas" panose="020B0609020204030204" pitchFamily="49" charset="0"/>
              </a:rPr>
              <a:t>                 .</a:t>
            </a:r>
            <a:r>
              <a:rPr lang="en-US" u="wavyHeavy">
                <a:solidFill>
                  <a:srgbClr val="BCBEC4"/>
                </a:solidFill>
                <a:uFill>
                  <a:solidFill>
                    <a:srgbClr val="FF0000"/>
                  </a:solidFill>
                </a:uFill>
                <a:latin typeface="Consolas" panose="020B0609020204030204" pitchFamily="49" charset="0"/>
              </a:rPr>
              <a:t>from</a:t>
            </a:r>
            <a:r>
              <a:rPr lang="en-US">
                <a:solidFill>
                  <a:srgbClr val="BCBEC4"/>
                </a:solidFill>
                <a:latin typeface="Consolas" panose="020B0609020204030204" pitchFamily="49" charset="0"/>
              </a:rPr>
              <a:t>(</a:t>
            </a:r>
            <a:r>
              <a:rPr lang="en-US">
                <a:solidFill>
                  <a:srgbClr val="6AAB73"/>
                </a:solidFill>
                <a:latin typeface="Consolas" panose="020B0609020204030204" pitchFamily="49" charset="0"/>
              </a:rPr>
              <a:t>"Teachers"</a:t>
            </a:r>
            <a:r>
              <a:rPr lang="en-US">
                <a:solidFill>
                  <a:srgbClr val="BCBEC4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en-US">
                <a:solidFill>
                  <a:srgbClr val="BCBEC4"/>
                </a:solidFill>
                <a:latin typeface="Consolas" panose="020B0609020204030204" pitchFamily="49" charset="0"/>
              </a:rPr>
              <a:t>                 .end();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B5188BB-6C69-507B-E814-D468114F35E7}"/>
              </a:ext>
            </a:extLst>
          </p:cNvPr>
          <p:cNvSpPr/>
          <p:nvPr/>
        </p:nvSpPr>
        <p:spPr>
          <a:xfrm>
            <a:off x="3527898" y="4343400"/>
            <a:ext cx="5136204" cy="1245141"/>
          </a:xfrm>
          <a:prstGeom prst="rect">
            <a:avLst/>
          </a:prstGeom>
          <a:solidFill>
            <a:srgbClr val="1E1F22"/>
          </a:solidFill>
          <a:ln w="381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>
                <a:solidFill>
                  <a:srgbClr val="BCBEC4"/>
                </a:solidFill>
                <a:latin typeface="Consolas" panose="020B0609020204030204" pitchFamily="49" charset="0"/>
              </a:rPr>
              <a:t>Query </a:t>
            </a:r>
            <a:r>
              <a:rPr lang="en-US" err="1">
                <a:solidFill>
                  <a:srgbClr val="BCBEC4"/>
                </a:solidFill>
                <a:latin typeface="Consolas" panose="020B0609020204030204" pitchFamily="49" charset="0"/>
              </a:rPr>
              <a:t>query</a:t>
            </a:r>
            <a:r>
              <a:rPr lang="en-US">
                <a:solidFill>
                  <a:srgbClr val="BCBEC4"/>
                </a:solidFill>
                <a:latin typeface="Consolas" panose="020B0609020204030204" pitchFamily="49" charset="0"/>
              </a:rPr>
              <a:t> = </a:t>
            </a:r>
            <a:r>
              <a:rPr lang="en-US" err="1">
                <a:solidFill>
                  <a:srgbClr val="BCBEC4"/>
                </a:solidFill>
                <a:latin typeface="Consolas" panose="020B0609020204030204" pitchFamily="49" charset="0"/>
              </a:rPr>
              <a:t>SQL.select</a:t>
            </a:r>
            <a:r>
              <a:rPr lang="en-US">
                <a:solidFill>
                  <a:srgbClr val="BCBEC4"/>
                </a:solidFill>
                <a:latin typeface="Consolas" panose="020B0609020204030204" pitchFamily="49" charset="0"/>
              </a:rPr>
              <a:t>(</a:t>
            </a:r>
            <a:r>
              <a:rPr lang="en-US">
                <a:solidFill>
                  <a:srgbClr val="6AAB73"/>
                </a:solidFill>
                <a:latin typeface="Consolas" panose="020B0609020204030204" pitchFamily="49" charset="0"/>
              </a:rPr>
              <a:t>"*"</a:t>
            </a:r>
            <a:r>
              <a:rPr lang="en-US">
                <a:solidFill>
                  <a:srgbClr val="BCBEC4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en-US">
                <a:solidFill>
                  <a:srgbClr val="BCBEC4"/>
                </a:solidFill>
                <a:latin typeface="Consolas" panose="020B0609020204030204" pitchFamily="49" charset="0"/>
              </a:rPr>
              <a:t>                 .from(</a:t>
            </a:r>
            <a:r>
              <a:rPr lang="en-US">
                <a:solidFill>
                  <a:srgbClr val="6AAB73"/>
                </a:solidFill>
                <a:latin typeface="Consolas" panose="020B0609020204030204" pitchFamily="49" charset="0"/>
              </a:rPr>
              <a:t>"Students"</a:t>
            </a:r>
            <a:r>
              <a:rPr lang="en-US">
                <a:solidFill>
                  <a:srgbClr val="BCBEC4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en-US">
                <a:solidFill>
                  <a:srgbClr val="BCBEC4"/>
                </a:solidFill>
                <a:latin typeface="Consolas" panose="020B0609020204030204" pitchFamily="49" charset="0"/>
              </a:rPr>
              <a:t>                 .</a:t>
            </a:r>
            <a:r>
              <a:rPr lang="en-US" u="wavyHeavy">
                <a:solidFill>
                  <a:srgbClr val="BCBEC4"/>
                </a:solidFill>
                <a:uFill>
                  <a:solidFill>
                    <a:srgbClr val="FF0000"/>
                  </a:solidFill>
                </a:uFill>
                <a:latin typeface="Consolas" panose="020B0609020204030204" pitchFamily="49" charset="0"/>
              </a:rPr>
              <a:t>from</a:t>
            </a:r>
            <a:r>
              <a:rPr lang="en-US">
                <a:solidFill>
                  <a:srgbClr val="BCBEC4"/>
                </a:solidFill>
                <a:latin typeface="Consolas" panose="020B0609020204030204" pitchFamily="49" charset="0"/>
              </a:rPr>
              <a:t>(</a:t>
            </a:r>
            <a:r>
              <a:rPr lang="en-US">
                <a:solidFill>
                  <a:srgbClr val="6AAB73"/>
                </a:solidFill>
                <a:latin typeface="Consolas" panose="020B0609020204030204" pitchFamily="49" charset="0"/>
              </a:rPr>
              <a:t>"Teachers"</a:t>
            </a:r>
            <a:r>
              <a:rPr lang="en-US">
                <a:solidFill>
                  <a:srgbClr val="BCBEC4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en-US">
                <a:solidFill>
                  <a:srgbClr val="BCBEC4"/>
                </a:solidFill>
                <a:latin typeface="Consolas" panose="020B0609020204030204" pitchFamily="49" charset="0"/>
              </a:rPr>
              <a:t>                 .end();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D3E906DB-7EB0-1308-65DB-06E98125C4F2}"/>
              </a:ext>
            </a:extLst>
          </p:cNvPr>
          <p:cNvSpPr/>
          <p:nvPr/>
        </p:nvSpPr>
        <p:spPr>
          <a:xfrm>
            <a:off x="6044834" y="5278448"/>
            <a:ext cx="4131013" cy="365125"/>
          </a:xfrm>
          <a:prstGeom prst="roundRect">
            <a:avLst/>
          </a:prstGeom>
          <a:solidFill>
            <a:schemeClr val="tx1">
              <a:lumMod val="75000"/>
              <a:lumOff val="25000"/>
            </a:schemeClr>
          </a:solidFill>
          <a:ln w="12700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GB" sz="1600">
                <a:solidFill>
                  <a:srgbClr val="BCBEC4"/>
                </a:solidFill>
              </a:rPr>
              <a:t>Expected 'where' or 'end' but got 'from'</a:t>
            </a:r>
            <a:endParaRPr lang="en-US" sz="1600">
              <a:solidFill>
                <a:srgbClr val="BCBEC4"/>
              </a:solidFill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1DA98A29-7D84-C35D-7062-77BCC084164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30925" y="5028434"/>
            <a:ext cx="130150" cy="1949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845184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3C1E30-2F61-951D-46FF-5BA9CB2190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0274853B-4518-FEAD-0748-C739F688ECC7}"/>
              </a:ext>
            </a:extLst>
          </p:cNvPr>
          <p:cNvSpPr/>
          <p:nvPr/>
        </p:nvSpPr>
        <p:spPr>
          <a:xfrm>
            <a:off x="3527898" y="4339018"/>
            <a:ext cx="5136204" cy="943154"/>
          </a:xfrm>
          <a:prstGeom prst="rect">
            <a:avLst/>
          </a:prstGeom>
          <a:solidFill>
            <a:srgbClr val="1E1F22"/>
          </a:solidFill>
          <a:ln w="381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>
                <a:solidFill>
                  <a:srgbClr val="BCBEC4"/>
                </a:solidFill>
                <a:latin typeface="Consolas" panose="020B0609020204030204" pitchFamily="49" charset="0"/>
              </a:rPr>
              <a:t>Query query = SQL.select(</a:t>
            </a:r>
            <a:r>
              <a:rPr lang="en-US">
                <a:solidFill>
                  <a:srgbClr val="6AAB73"/>
                </a:solidFill>
                <a:latin typeface="Consolas" panose="020B0609020204030204" pitchFamily="49" charset="0"/>
              </a:rPr>
              <a:t>"</a:t>
            </a:r>
            <a:r>
              <a:rPr lang="en-US" u="wavyHeavy">
                <a:solidFill>
                  <a:srgbClr val="6AAB73"/>
                </a:solidFill>
                <a:uFill>
                  <a:solidFill>
                    <a:srgbClr val="FF0000"/>
                  </a:solidFill>
                </a:uFill>
                <a:latin typeface="Consolas" panose="020B0609020204030204" pitchFamily="49" charset="0"/>
              </a:rPr>
              <a:t>1 </a:t>
            </a:r>
            <a:r>
              <a:rPr lang="en-US">
                <a:solidFill>
                  <a:srgbClr val="6AAB73"/>
                </a:solidFill>
                <a:latin typeface="Consolas" panose="020B0609020204030204" pitchFamily="49" charset="0"/>
              </a:rPr>
              <a:t>+ 5"</a:t>
            </a:r>
            <a:r>
              <a:rPr lang="en-US">
                <a:solidFill>
                  <a:srgbClr val="BCBEC4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en-US">
                <a:solidFill>
                  <a:srgbClr val="BCBEC4"/>
                </a:solidFill>
                <a:latin typeface="Consolas" panose="020B0609020204030204" pitchFamily="49" charset="0"/>
              </a:rPr>
              <a:t>                 .from(</a:t>
            </a:r>
            <a:r>
              <a:rPr lang="en-US">
                <a:solidFill>
                  <a:srgbClr val="6AAB73"/>
                </a:solidFill>
                <a:latin typeface="Consolas" panose="020B0609020204030204" pitchFamily="49" charset="0"/>
              </a:rPr>
              <a:t>"Students"</a:t>
            </a:r>
            <a:r>
              <a:rPr lang="en-US">
                <a:solidFill>
                  <a:srgbClr val="BCBEC4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en-US">
                <a:solidFill>
                  <a:srgbClr val="BCBEC4"/>
                </a:solidFill>
                <a:latin typeface="Consolas" panose="020B0609020204030204" pitchFamily="49" charset="0"/>
              </a:rPr>
              <a:t>                 .end();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40B221C-34EB-5291-3719-7053CB04F2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Use Case 2: Analyzing String Literals</a:t>
            </a: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C07B5FB-6A78-3AD9-87A9-0381EEAA8F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890E68-D690-4AC2-96FA-C0B5F80968DC}" type="slidenum">
              <a:rPr lang="en-US" smtClean="0"/>
              <a:t>12</a:t>
            </a:fld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7972773-4748-E484-1CB5-4C8C748DF3CB}"/>
              </a:ext>
            </a:extLst>
          </p:cNvPr>
          <p:cNvSpPr/>
          <p:nvPr/>
        </p:nvSpPr>
        <p:spPr>
          <a:xfrm>
            <a:off x="3527898" y="1682583"/>
            <a:ext cx="5136204" cy="943154"/>
          </a:xfrm>
          <a:prstGeom prst="rect">
            <a:avLst/>
          </a:prstGeom>
          <a:solidFill>
            <a:srgbClr val="1E1F22"/>
          </a:solidFill>
          <a:ln w="381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>
                <a:solidFill>
                  <a:srgbClr val="BCBEC4"/>
                </a:solidFill>
                <a:latin typeface="Consolas" panose="020B0609020204030204" pitchFamily="49" charset="0"/>
              </a:rPr>
              <a:t>Query query = SQL.select(</a:t>
            </a:r>
            <a:r>
              <a:rPr lang="en-US">
                <a:solidFill>
                  <a:srgbClr val="6AAB73"/>
                </a:solidFill>
                <a:latin typeface="Consolas" panose="020B0609020204030204" pitchFamily="49" charset="0"/>
              </a:rPr>
              <a:t>"</a:t>
            </a:r>
            <a:r>
              <a:rPr lang="en-US" u="wavyHeavy">
                <a:solidFill>
                  <a:srgbClr val="6AAB73"/>
                </a:solidFill>
                <a:uFill>
                  <a:solidFill>
                    <a:srgbClr val="FF0000"/>
                  </a:solidFill>
                </a:uFill>
                <a:latin typeface="Consolas" panose="020B0609020204030204" pitchFamily="49" charset="0"/>
              </a:rPr>
              <a:t>1 </a:t>
            </a:r>
            <a:r>
              <a:rPr lang="en-US">
                <a:solidFill>
                  <a:srgbClr val="6AAB73"/>
                </a:solidFill>
                <a:latin typeface="Consolas" panose="020B0609020204030204" pitchFamily="49" charset="0"/>
              </a:rPr>
              <a:t>+ 5"</a:t>
            </a:r>
            <a:r>
              <a:rPr lang="en-US">
                <a:solidFill>
                  <a:srgbClr val="BCBEC4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en-US">
                <a:solidFill>
                  <a:srgbClr val="BCBEC4"/>
                </a:solidFill>
                <a:latin typeface="Consolas" panose="020B0609020204030204" pitchFamily="49" charset="0"/>
              </a:rPr>
              <a:t>                 .from(</a:t>
            </a:r>
            <a:r>
              <a:rPr lang="en-US">
                <a:solidFill>
                  <a:srgbClr val="6AAB73"/>
                </a:solidFill>
                <a:latin typeface="Consolas" panose="020B0609020204030204" pitchFamily="49" charset="0"/>
              </a:rPr>
              <a:t>"Students"</a:t>
            </a:r>
            <a:r>
              <a:rPr lang="en-US">
                <a:solidFill>
                  <a:srgbClr val="BCBEC4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en-US">
                <a:solidFill>
                  <a:srgbClr val="BCBEC4"/>
                </a:solidFill>
                <a:latin typeface="Consolas" panose="020B0609020204030204" pitchFamily="49" charset="0"/>
              </a:rPr>
              <a:t>                 .end();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C99945E3-CF40-5011-C9D7-3C8D234D5A1D}"/>
              </a:ext>
            </a:extLst>
          </p:cNvPr>
          <p:cNvSpPr/>
          <p:nvPr/>
        </p:nvSpPr>
        <p:spPr>
          <a:xfrm>
            <a:off x="7019284" y="4762131"/>
            <a:ext cx="4131013" cy="365125"/>
          </a:xfrm>
          <a:prstGeom prst="roundRect">
            <a:avLst/>
          </a:prstGeom>
          <a:solidFill>
            <a:schemeClr val="tx1">
              <a:lumMod val="75000"/>
              <a:lumOff val="25000"/>
            </a:schemeClr>
          </a:solidFill>
          <a:ln w="12700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GB" sz="1600">
                <a:solidFill>
                  <a:srgbClr val="BCBEC4"/>
                </a:solidFill>
              </a:rPr>
              <a:t>Expected '*' or ID but got '1'</a:t>
            </a:r>
            <a:endParaRPr lang="en-US" sz="1600">
              <a:solidFill>
                <a:srgbClr val="BCBEC4"/>
              </a:solidFill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7F703AA3-1A30-C5CC-99F6-41A1103FEFE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19284" y="4491961"/>
            <a:ext cx="130150" cy="1949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60168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 w="38100"/>
      </a:spPr>
      <a:bodyPr rtlCol="0" anchor="ctr"/>
      <a:lstStyle>
        <a:defPPr algn="ctr">
          <a:defRPr/>
        </a:defPPr>
      </a:lstStyle>
      <a:style>
        <a:lnRef idx="2">
          <a:schemeClr val="dk1"/>
        </a:lnRef>
        <a:fillRef idx="1">
          <a:schemeClr val="lt1"/>
        </a:fillRef>
        <a:effectRef idx="0">
          <a:schemeClr val="dk1"/>
        </a:effectRef>
        <a:fontRef idx="minor">
          <a:schemeClr val="dk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5129</TotalTime>
  <Words>338</Words>
  <Application>Microsoft Office PowerPoint</Application>
  <PresentationFormat>Widescreen</PresentationFormat>
  <Paragraphs>75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9" baseType="lpstr">
      <vt:lpstr>Aptos</vt:lpstr>
      <vt:lpstr>Aptos Display</vt:lpstr>
      <vt:lpstr>Arial</vt:lpstr>
      <vt:lpstr>Comic Sans MS</vt:lpstr>
      <vt:lpstr>Consolas</vt:lpstr>
      <vt:lpstr>Wingdings</vt:lpstr>
      <vt:lpstr>Office Theme</vt:lpstr>
      <vt:lpstr>My Research Interest</vt:lpstr>
      <vt:lpstr>Overview</vt:lpstr>
      <vt:lpstr>How do Websites Work?</vt:lpstr>
      <vt:lpstr>How do Websites Work?</vt:lpstr>
      <vt:lpstr>How do Websites Work?</vt:lpstr>
      <vt:lpstr>Modern Website Development</vt:lpstr>
      <vt:lpstr>What are Fluent DSLs?</vt:lpstr>
      <vt:lpstr>My Research Goal</vt:lpstr>
      <vt:lpstr>My Research Goal</vt:lpstr>
      <vt:lpstr>Conclusion</vt:lpstr>
      <vt:lpstr>Use Case 1: Smart Error Messages</vt:lpstr>
      <vt:lpstr>Use Case 2: Analyzing String Literals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Dennis Prüne</dc:creator>
  <cp:lastModifiedBy>Dennis Prüne</cp:lastModifiedBy>
  <cp:revision>17</cp:revision>
  <dcterms:created xsi:type="dcterms:W3CDTF">2026-04-14T09:40:23Z</dcterms:created>
  <dcterms:modified xsi:type="dcterms:W3CDTF">2026-07-16T09:17:59Z</dcterms:modified>
</cp:coreProperties>
</file>