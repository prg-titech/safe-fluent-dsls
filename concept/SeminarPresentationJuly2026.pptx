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91" r:id="rId2"/>
    <p:sldId id="295" r:id="rId3"/>
    <p:sldId id="292" r:id="rId4"/>
    <p:sldId id="297" r:id="rId5"/>
    <p:sldId id="298" r:id="rId6"/>
    <p:sldId id="299" r:id="rId7"/>
    <p:sldId id="300" r:id="rId8"/>
    <p:sldId id="301" r:id="rId9"/>
    <p:sldId id="303" r:id="rId10"/>
    <p:sldId id="305" r:id="rId11"/>
    <p:sldId id="306" r:id="rId12"/>
    <p:sldId id="307" r:id="rId13"/>
    <p:sldId id="29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0756"/>
    <a:srgbClr val="129204"/>
    <a:srgbClr val="447DE4"/>
    <a:srgbClr val="E96207"/>
    <a:srgbClr val="A34D14"/>
    <a:srgbClr val="AD0B4D"/>
    <a:srgbClr val="14710A"/>
    <a:srgbClr val="846E15"/>
    <a:srgbClr val="A3144D"/>
    <a:srgbClr val="BCBE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FC1B7-3D5E-4A5B-82A1-8FEEA2A3FD17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645753-AE66-4D7F-9406-BD9694DCF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24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C679D-38E5-62C6-DCF5-C04B1C919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B288A3-B35F-2082-6D50-BE52AF599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1017F-F025-5400-6140-E5428DA43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0111-6FED-49C2-8789-378BED76E634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8174D-A11D-486F-CF04-0E88CD81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22E3C-11E9-61B1-DBA8-79694B82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0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76113-E68B-BBA2-CDAB-79ED000E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7F934-9076-09D9-3419-910458B24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0842D-B413-513F-D00B-0F377A4A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8E46B-21C7-46F1-9D55-2740DDD970A3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A55A0-8903-6565-1068-D2BC5E6DF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93266-096C-A70C-AFFD-00C822C3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15A2B9-7A2C-23E7-E194-DF2295B759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96863"/>
            <a:ext cx="10515600" cy="642937"/>
          </a:xfrm>
        </p:spPr>
        <p:txBody>
          <a:bodyPr/>
          <a:lstStyle>
            <a:lvl1pPr>
              <a:buNone/>
              <a:defRPr sz="3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Chapter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21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564F-A307-C491-FE23-0F6A29C74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052E5-9E55-BB04-15E2-EE0FEFD76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DA1C6-65BA-7A4F-815C-A84E0B206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CA89-DA8F-4892-AEE5-F7C0F2CD0860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574E6-B211-C2BB-7BA9-67667E69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FC850-A256-C0E4-284B-E620E8241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9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3579-917D-D3AA-1638-246FD3FEF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2CB76-418B-B247-6C74-6F9A741F6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6CAA3-2229-9018-0916-E48C168DD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4E871-A9CB-2D58-804A-8B8707A7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F53EC-CDE8-46DF-AB65-BEF790280B3B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ECA95-EFBB-B200-A7F0-A231A2F8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0B3AA-8FB9-DB22-B068-B6240A6B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70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8B221-BB99-48A8-197F-89CCE40B2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D10F7-C485-AD65-C886-A06D41B59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76E9B-C3F7-B779-CB31-A5B2E8F27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4C204-4A8A-33B1-9701-AC9E8F3A5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EC0CB5-A440-ECED-F5E5-EAF67B25E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53797-D8ED-93EE-8E58-DF58DEF70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28C3-EDF4-4EB0-A1F0-7630EE62CF3E}" type="datetime1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1E6375-6CF0-2B55-E07F-70594A8A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5E465-21B0-63C7-63AC-36398605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15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CB73E-1FDB-2768-18D7-8485AAC38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10CD60-1834-0DF8-3443-713D56191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759E-DC99-4512-A1E6-4D6A6134EB65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F3FEE-CF11-8C35-6D90-76C6304C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1C6E1-DA89-5462-56D3-26358FDC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48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28DA4-D373-D1F6-209E-966219D57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E4549-2816-45A0-AF94-821BE7068C3B}" type="datetime1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35CB80-108F-8FC2-127B-B08D4F865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6B649-EB53-2848-390C-3A4296ACD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976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3889D-672A-FC76-2B81-7EE892F2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DDFD9-081D-6001-41DF-96ACA27FB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F64D0-E159-82DE-47DD-F7556FA0D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EEF5F-78F1-EF2B-4382-375D8C9D4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2C81-353A-4972-8CE5-08B95FC9C929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3C07A-3CD4-E8F9-9591-52C3E8BE9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B6502-81A6-3D88-2039-3C24133F2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3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E3FB-1D85-C984-8EFA-7D3968960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FC6586-CA07-0B0B-6D91-00E92D9DA6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8DE47-470D-21CD-DE5B-99C2B1649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08691-1EC7-AA14-CC9C-9EF5A8ED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3E090-6202-4986-AD3A-4D939944BE69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8A282-89E9-69BB-2C98-E6F7BE4D2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503F8-246C-2C8B-1DEE-979C67A9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89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C6F3D-8CAB-6F4A-F2F4-4FC14E26D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687B3-6CC0-EC5C-4AF6-574DD4175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42338-32CC-B9CD-47B4-835A134B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6740-DF18-4F16-8667-118742CC9E59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F34E6-4CF0-607D-AD40-97885841C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A7598-B72F-596B-0939-423513BE5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88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5CC993-C462-C039-3E0D-EFC0A53EDD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8C53B-5E6B-17A7-4426-844874471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28B83-BCE9-EA98-16F2-98E390A4D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630C-7BE1-4F40-A0D5-7861FD4EF867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71E89-95C7-563B-5AA7-3A05A9B07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D416D-097C-BCBD-AD42-2B8700DB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16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5FE3C9-471C-AF24-9B31-408B6D7F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9114"/>
            <a:ext cx="10515600" cy="751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AC752-CF0B-2524-A240-3264854C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4DAA7-A556-9B03-DB8D-D79A598CD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C74DE-3C94-41C8-AEB3-8BC6999FD8F4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1BDC3-3EE0-5E7A-97E3-D90296BEA2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EDCAB-2080-63E3-EF09-AA0A0D912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3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EBB7D-D940-45D4-1008-947EBEC01D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Backtranslating Fluent APIs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86BF54-FFE2-BB8C-F984-57B6BC09E0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26M30498 | Dennis Prüne</a:t>
            </a:r>
          </a:p>
          <a:p>
            <a:r>
              <a:rPr lang="en-GB"/>
              <a:t>PRG Lab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57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F66A0-1FB2-E377-1206-0E1F3726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2F97D-9FF1-CD4B-EBD4-6D9B512B5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Background</a:t>
            </a:r>
          </a:p>
          <a:p>
            <a:r>
              <a:rPr lang="en-GB"/>
              <a:t>Related Work</a:t>
            </a:r>
          </a:p>
          <a:p>
            <a:r>
              <a:rPr lang="en-GB"/>
              <a:t>My Proposal</a:t>
            </a:r>
          </a:p>
          <a:p>
            <a:r>
              <a:rPr lang="en-GB"/>
              <a:t>Current Progress &amp; Summary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C2189-1D99-DDAA-7C14-063D748F9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2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6B32D-B2B2-F1A5-24F6-2108CC48FE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728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DE6D-9215-4A91-C1BB-D5CC7976B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are Fluent APIs?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429F1-A76F-94B4-3FA1-B3940F3DC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55F2F-A5F3-01AB-CC97-0D86A9C589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Background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8F5142-B743-D51B-4828-DE321A2163FD}"/>
              </a:ext>
            </a:extLst>
          </p:cNvPr>
          <p:cNvSpPr/>
          <p:nvPr/>
        </p:nvSpPr>
        <p:spPr>
          <a:xfrm>
            <a:off x="838200" y="1934307"/>
            <a:ext cx="5238033" cy="178217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List&lt;Integer&gt; ys =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new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ArrayList();</a:t>
            </a:r>
          </a:p>
          <a:p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for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(int x : xs)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(x &gt;= </a:t>
            </a:r>
            <a:r>
              <a:rPr lang="en-US">
                <a:solidFill>
                  <a:srgbClr val="447DE4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    ys.add(</a:t>
            </a:r>
            <a:r>
              <a:rPr lang="en-US">
                <a:solidFill>
                  <a:srgbClr val="447DE4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* x);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7D84D5-0BBB-DA00-9F1B-9515D7A597F7}"/>
              </a:ext>
            </a:extLst>
          </p:cNvPr>
          <p:cNvSpPr/>
          <p:nvPr/>
        </p:nvSpPr>
        <p:spPr>
          <a:xfrm>
            <a:off x="6115769" y="1936971"/>
            <a:ext cx="5238033" cy="1492029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List&lt;Integer&gt; ys = xs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.stream()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.filter(x -&gt; x &gt;= </a:t>
            </a:r>
            <a:r>
              <a:rPr lang="en-US">
                <a:solidFill>
                  <a:srgbClr val="447DE4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.map(x -&gt; </a:t>
            </a:r>
            <a:r>
              <a:rPr lang="en-US">
                <a:solidFill>
                  <a:srgbClr val="447DE4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* x)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.collect();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1D47EB-ADF9-1F2D-765F-120123C5F418}"/>
              </a:ext>
            </a:extLst>
          </p:cNvPr>
          <p:cNvSpPr txBox="1">
            <a:spLocks/>
          </p:cNvSpPr>
          <p:nvPr/>
        </p:nvSpPr>
        <p:spPr>
          <a:xfrm>
            <a:off x="838200" y="3675283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None/>
            </a:pPr>
            <a:r>
              <a:rPr lang="en-GB" b="1"/>
              <a:t>Imperative Style</a:t>
            </a:r>
            <a:endParaRPr lang="en-US" b="1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9C43515-1A3F-8DDF-88E5-4D5491DB04BA}"/>
              </a:ext>
            </a:extLst>
          </p:cNvPr>
          <p:cNvSpPr txBox="1">
            <a:spLocks/>
          </p:cNvSpPr>
          <p:nvPr/>
        </p:nvSpPr>
        <p:spPr>
          <a:xfrm>
            <a:off x="838200" y="4499195"/>
            <a:ext cx="5157787" cy="12949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For-loops, if-clauses, …</a:t>
            </a:r>
          </a:p>
          <a:p>
            <a:r>
              <a:rPr lang="en-US"/>
              <a:t>Nested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C703BAC-0F23-93C0-FA4D-22A78A533ECA}"/>
              </a:ext>
            </a:extLst>
          </p:cNvPr>
          <p:cNvSpPr txBox="1">
            <a:spLocks/>
          </p:cNvSpPr>
          <p:nvPr/>
        </p:nvSpPr>
        <p:spPr>
          <a:xfrm>
            <a:off x="6170612" y="3675283"/>
            <a:ext cx="5183188" cy="823912"/>
          </a:xfrm>
          <a:prstGeom prst="rect">
            <a:avLst/>
          </a:prstGeom>
        </p:spPr>
        <p:txBody>
          <a:bodyPr anchor="b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 b="1"/>
              <a:t>Fluent Style</a:t>
            </a:r>
            <a:endParaRPr lang="en-US" sz="2400" b="1"/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293D38D1-9E71-93A0-1494-74FD22D350B3}"/>
              </a:ext>
            </a:extLst>
          </p:cNvPr>
          <p:cNvSpPr txBox="1">
            <a:spLocks/>
          </p:cNvSpPr>
          <p:nvPr/>
        </p:nvSpPr>
        <p:spPr>
          <a:xfrm>
            <a:off x="6170612" y="4499195"/>
            <a:ext cx="5183188" cy="10311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Method chaining</a:t>
            </a:r>
          </a:p>
          <a:p>
            <a:r>
              <a:rPr lang="en-GB"/>
              <a:t>Flat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2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CEA0F-B2B3-10BC-EEA5-5F4BE9991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Fluent APIs 🤝 Embedded DSLs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FBB45-C607-5812-7C6A-3A40CBC1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346461-09DF-54B5-9D46-8B488986E3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Background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461BA-2C79-406F-0EB9-52C4D2911B0F}"/>
              </a:ext>
            </a:extLst>
          </p:cNvPr>
          <p:cNvSpPr txBox="1"/>
          <p:nvPr/>
        </p:nvSpPr>
        <p:spPr>
          <a:xfrm>
            <a:off x="4146305" y="2124580"/>
            <a:ext cx="31960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SELECT</a:t>
            </a:r>
            <a:r>
              <a:rPr lang="en-GB">
                <a:latin typeface="Consolas" panose="020B0609020204030204" pitchFamily="49" charset="0"/>
              </a:rPr>
              <a:t> name, birth_year </a:t>
            </a:r>
          </a:p>
          <a:p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FROM</a:t>
            </a:r>
            <a:r>
              <a:rPr lang="en-GB">
                <a:latin typeface="Consolas" panose="020B0609020204030204" pitchFamily="49" charset="0"/>
              </a:rPr>
              <a:t> Students </a:t>
            </a:r>
          </a:p>
          <a:p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WHERE</a:t>
            </a:r>
            <a:r>
              <a:rPr lang="en-GB">
                <a:latin typeface="Consolas" panose="020B0609020204030204" pitchFamily="49" charset="0"/>
              </a:rPr>
              <a:t> birth_year == </a:t>
            </a:r>
            <a:r>
              <a:rPr lang="en-GB">
                <a:solidFill>
                  <a:srgbClr val="447DE4"/>
                </a:solidFill>
                <a:latin typeface="Consolas" panose="020B0609020204030204" pitchFamily="49" charset="0"/>
              </a:rPr>
              <a:t>2005</a:t>
            </a:r>
            <a:endParaRPr lang="en-US">
              <a:solidFill>
                <a:srgbClr val="447DE4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4C915-B6FC-76E0-BADA-8D8F388FC913}"/>
              </a:ext>
            </a:extLst>
          </p:cNvPr>
          <p:cNvSpPr txBox="1"/>
          <p:nvPr/>
        </p:nvSpPr>
        <p:spPr>
          <a:xfrm>
            <a:off x="838198" y="4159282"/>
            <a:ext cx="4299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latin typeface="Consolas" panose="020B0609020204030204" pitchFamily="49" charset="0"/>
              </a:rPr>
              <a:t>Query query = SQL.query(</a:t>
            </a:r>
          </a:p>
          <a:p>
            <a:r>
              <a:rPr lang="en-GB">
                <a:latin typeface="Consolas" panose="020B0609020204030204" pitchFamily="49" charset="0"/>
              </a:rPr>
              <a:t>  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"SELECT name, birth_year "</a:t>
            </a:r>
            <a:r>
              <a:rPr lang="en-GB">
                <a:latin typeface="Consolas" panose="020B0609020204030204" pitchFamily="49" charset="0"/>
              </a:rPr>
              <a:t>  </a:t>
            </a:r>
          </a:p>
          <a:p>
            <a:r>
              <a:rPr lang="en-GB">
                <a:latin typeface="Consolas" panose="020B0609020204030204" pitchFamily="49" charset="0"/>
              </a:rPr>
              <a:t>  + 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"FROM Students "</a:t>
            </a:r>
            <a:r>
              <a:rPr lang="en-GB">
                <a:latin typeface="Consolas" panose="020B0609020204030204" pitchFamily="49" charset="0"/>
              </a:rPr>
              <a:t> </a:t>
            </a:r>
          </a:p>
          <a:p>
            <a:r>
              <a:rPr lang="en-GB">
                <a:latin typeface="Consolas" panose="020B0609020204030204" pitchFamily="49" charset="0"/>
              </a:rPr>
              <a:t>  + 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"WHERE birth_year == 2005"</a:t>
            </a:r>
            <a:r>
              <a:rPr lang="en-GB">
                <a:latin typeface="Consolas" panose="020B0609020204030204" pitchFamily="49" charset="0"/>
              </a:rPr>
              <a:t>);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89D9EC-A5FB-96A1-EA14-EC302E02061C}"/>
              </a:ext>
            </a:extLst>
          </p:cNvPr>
          <p:cNvSpPr txBox="1"/>
          <p:nvPr/>
        </p:nvSpPr>
        <p:spPr>
          <a:xfrm>
            <a:off x="6365629" y="4159281"/>
            <a:ext cx="49881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latin typeface="Consolas" panose="020B0609020204030204" pitchFamily="49" charset="0"/>
              </a:rPr>
              <a:t>Query query = SQL</a:t>
            </a:r>
          </a:p>
          <a:p>
            <a:r>
              <a:rPr lang="en-GB">
                <a:latin typeface="Consolas" panose="020B0609020204030204" pitchFamily="49" charset="0"/>
              </a:rPr>
              <a:t>  .select(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"name, birth_year"</a:t>
            </a:r>
            <a:r>
              <a:rPr lang="en-GB">
                <a:latin typeface="Consolas" panose="020B0609020204030204" pitchFamily="49" charset="0"/>
              </a:rPr>
              <a:t>)</a:t>
            </a:r>
          </a:p>
          <a:p>
            <a:r>
              <a:rPr lang="en-GB">
                <a:latin typeface="Consolas" panose="020B0609020204030204" pitchFamily="49" charset="0"/>
              </a:rPr>
              <a:t>  .from(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"Students"</a:t>
            </a:r>
            <a:r>
              <a:rPr lang="en-GB">
                <a:latin typeface="Consolas" panose="020B0609020204030204" pitchFamily="49" charset="0"/>
              </a:rPr>
              <a:t>)</a:t>
            </a:r>
          </a:p>
          <a:p>
            <a:r>
              <a:rPr lang="en-GB">
                <a:latin typeface="Consolas" panose="020B0609020204030204" pitchFamily="49" charset="0"/>
              </a:rPr>
              <a:t>  .where(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"birth_year == 2005"</a:t>
            </a:r>
            <a:r>
              <a:rPr lang="en-GB">
                <a:latin typeface="Consolas" panose="020B0609020204030204" pitchFamily="49" charset="0"/>
              </a:rPr>
              <a:t>);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F7DE014-3CBE-A3D1-3582-1312464434B6}"/>
              </a:ext>
            </a:extLst>
          </p:cNvPr>
          <p:cNvCxnSpPr>
            <a:cxnSpLocks/>
          </p:cNvCxnSpPr>
          <p:nvPr/>
        </p:nvCxnSpPr>
        <p:spPr>
          <a:xfrm flipH="1">
            <a:off x="3288323" y="3047910"/>
            <a:ext cx="857982" cy="1111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832EAD-7BF5-E71C-C499-E102F59CE812}"/>
              </a:ext>
            </a:extLst>
          </p:cNvPr>
          <p:cNvCxnSpPr>
            <a:cxnSpLocks/>
          </p:cNvCxnSpPr>
          <p:nvPr/>
        </p:nvCxnSpPr>
        <p:spPr>
          <a:xfrm>
            <a:off x="7342309" y="3047910"/>
            <a:ext cx="857982" cy="1111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4495246-4373-35B0-70B2-C8487ADAF2D6}"/>
              </a:ext>
            </a:extLst>
          </p:cNvPr>
          <p:cNvSpPr txBox="1"/>
          <p:nvPr/>
        </p:nvSpPr>
        <p:spPr>
          <a:xfrm>
            <a:off x="1817159" y="3328284"/>
            <a:ext cx="1883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naïve embedding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A79767-24AC-D11F-2F92-2FB098457C34}"/>
              </a:ext>
            </a:extLst>
          </p:cNvPr>
          <p:cNvSpPr txBox="1"/>
          <p:nvPr/>
        </p:nvSpPr>
        <p:spPr>
          <a:xfrm>
            <a:off x="7892141" y="3328284"/>
            <a:ext cx="1935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fluent embedding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2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61ABC-2EA7-C235-3557-C5B9C011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197C5-2EB8-C59D-B398-1337B2DEA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Tradeoff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E5763-67F9-3969-1176-32D3A60D3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B4804-32F3-C3AA-A814-D89F095029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Background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BE623D3-CB17-F0E1-8D96-B47F8A3AE5D9}"/>
              </a:ext>
            </a:extLst>
          </p:cNvPr>
          <p:cNvSpPr>
            <a:spLocks noGrp="1"/>
          </p:cNvSpPr>
          <p:nvPr/>
        </p:nvSpPr>
        <p:spPr>
          <a:xfrm>
            <a:off x="838200" y="1690688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Advantages</a:t>
            </a:r>
            <a:endParaRPr lang="en-US"/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46B6F0F8-599F-A243-43AB-BEB3E175E26C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Less syntax to remember</a:t>
            </a:r>
          </a:p>
          <a:p>
            <a:r>
              <a:rPr lang="en-GB"/>
              <a:t>Dynamic data support</a:t>
            </a:r>
          </a:p>
          <a:p>
            <a:endParaRPr lang="en-GB"/>
          </a:p>
          <a:p>
            <a:endParaRPr lang="en-GB"/>
          </a:p>
          <a:p>
            <a:pPr marL="0" indent="0">
              <a:buNone/>
            </a:pPr>
            <a:endParaRPr lang="en-US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FC071023-1BDE-00EE-B05D-6A36FF942A25}"/>
              </a:ext>
            </a:extLst>
          </p:cNvPr>
          <p:cNvSpPr>
            <a:spLocks noGrp="1"/>
          </p:cNvSpPr>
          <p:nvPr/>
        </p:nvSpPr>
        <p:spPr>
          <a:xfrm>
            <a:off x="6170612" y="1690688"/>
            <a:ext cx="5183188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Disadvantages</a:t>
            </a:r>
            <a:endParaRPr lang="en-US"/>
          </a:p>
        </p:txBody>
      </p:sp>
      <p:sp>
        <p:nvSpPr>
          <p:cNvPr id="29" name="Content Placeholder 5">
            <a:extLst>
              <a:ext uri="{FF2B5EF4-FFF2-40B4-BE49-F238E27FC236}">
                <a16:creationId xmlns:a16="http://schemas.microsoft.com/office/drawing/2014/main" id="{E58F0A3B-F734-C183-AB2F-E7A5AAF15B3A}"/>
              </a:ext>
            </a:extLst>
          </p:cNvPr>
          <p:cNvSpPr>
            <a:spLocks noGrp="1"/>
          </p:cNvSpPr>
          <p:nvPr/>
        </p:nvSpPr>
        <p:spPr>
          <a:xfrm>
            <a:off x="6170612" y="2514600"/>
            <a:ext cx="5183188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NO static safety guarantees</a:t>
            </a:r>
          </a:p>
          <a:p>
            <a:pPr lvl="1"/>
            <a:r>
              <a:rPr lang="en-GB"/>
              <a:t>NO syntax checking</a:t>
            </a:r>
          </a:p>
          <a:p>
            <a:pPr lvl="1"/>
            <a:r>
              <a:rPr lang="en-GB"/>
              <a:t>NO type checking</a:t>
            </a:r>
          </a:p>
          <a:p>
            <a:pPr lvl="1"/>
            <a:r>
              <a:rPr lang="en-GB"/>
              <a:t>NO semantic analysis</a:t>
            </a:r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B6C3CE0-CBE4-925A-C87C-734F7E820A5D}"/>
              </a:ext>
            </a:extLst>
          </p:cNvPr>
          <p:cNvGrpSpPr/>
          <p:nvPr/>
        </p:nvGrpSpPr>
        <p:grpSpPr>
          <a:xfrm>
            <a:off x="1088065" y="3543245"/>
            <a:ext cx="4658056" cy="1305854"/>
            <a:chOff x="1092507" y="3059668"/>
            <a:chExt cx="4658056" cy="130585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F548EF0-59F9-45BF-3480-4F57D9880DF8}"/>
                </a:ext>
              </a:extLst>
            </p:cNvPr>
            <p:cNvSpPr txBox="1"/>
            <p:nvPr/>
          </p:nvSpPr>
          <p:spPr>
            <a:xfrm>
              <a:off x="1260231" y="3059668"/>
              <a:ext cx="44903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>
                  <a:latin typeface="Consolas" panose="020B0609020204030204" pitchFamily="49" charset="0"/>
                </a:rPr>
                <a:t>SQL.select(</a:t>
              </a:r>
              <a:r>
                <a:rPr lang="en-GB" u="sng">
                  <a:uFill>
                    <a:solidFill>
                      <a:srgbClr val="0070C0"/>
                    </a:solidFill>
                  </a:uFill>
                  <a:latin typeface="Consolas" panose="020B0609020204030204" pitchFamily="49" charset="0"/>
                </a:rPr>
                <a:t>field</a:t>
              </a:r>
              <a:r>
                <a:rPr lang="en-GB">
                  <a:latin typeface="Consolas" panose="020B0609020204030204" pitchFamily="49" charset="0"/>
                </a:rPr>
                <a:t>).from(</a:t>
              </a:r>
              <a:r>
                <a:rPr lang="en-GB">
                  <a:solidFill>
                    <a:srgbClr val="129204"/>
                  </a:solidFill>
                  <a:latin typeface="Consolas" panose="020B0609020204030204" pitchFamily="49" charset="0"/>
                </a:rPr>
                <a:t>"Students"</a:t>
              </a:r>
              <a:r>
                <a:rPr lang="en-GB">
                  <a:latin typeface="Consolas" panose="020B0609020204030204" pitchFamily="49" charset="0"/>
                </a:rPr>
                <a:t>)</a:t>
              </a:r>
              <a:endParaRPr lang="en-US">
                <a:latin typeface="Consolas" panose="020B0609020204030204" pitchFamily="49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473CCAA-F5FE-5029-F72B-9D9E810B4791}"/>
                </a:ext>
              </a:extLst>
            </p:cNvPr>
            <p:cNvSpPr txBox="1"/>
            <p:nvPr/>
          </p:nvSpPr>
          <p:spPr>
            <a:xfrm>
              <a:off x="1092507" y="3780747"/>
              <a:ext cx="182293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>
                  <a:solidFill>
                    <a:srgbClr val="0070C0"/>
                  </a:solidFill>
                  <a:latin typeface="Comic Sans MS" panose="030F0702030302020204" pitchFamily="66" charset="0"/>
                </a:rPr>
                <a:t>can be set</a:t>
              </a:r>
            </a:p>
            <a:p>
              <a:pPr algn="ctr"/>
              <a:r>
                <a:rPr lang="en-GB" sz="1600">
                  <a:solidFill>
                    <a:srgbClr val="0070C0"/>
                  </a:solidFill>
                  <a:latin typeface="Comic Sans MS" panose="030F0702030302020204" pitchFamily="66" charset="0"/>
                </a:rPr>
                <a:t>programmatically</a:t>
              </a:r>
              <a:endParaRPr lang="en-US" sz="1600">
                <a:solidFill>
                  <a:srgbClr val="0070C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726EB60-6F33-C844-7BA8-EDBE0E99DB5D}"/>
                </a:ext>
              </a:extLst>
            </p:cNvPr>
            <p:cNvSpPr/>
            <p:nvPr/>
          </p:nvSpPr>
          <p:spPr>
            <a:xfrm>
              <a:off x="2848708" y="3472962"/>
              <a:ext cx="228600" cy="574767"/>
            </a:xfrm>
            <a:custGeom>
              <a:avLst/>
              <a:gdLst>
                <a:gd name="csX0" fmla="*/ 0 w 228600"/>
                <a:gd name="csY0" fmla="*/ 536330 h 574767"/>
                <a:gd name="csX1" fmla="*/ 175846 w 228600"/>
                <a:gd name="csY1" fmla="*/ 518746 h 574767"/>
                <a:gd name="csX2" fmla="*/ 228600 w 228600"/>
                <a:gd name="csY2" fmla="*/ 0 h 574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8600" h="574767">
                  <a:moveTo>
                    <a:pt x="0" y="536330"/>
                  </a:moveTo>
                  <a:cubicBezTo>
                    <a:pt x="68873" y="572232"/>
                    <a:pt x="137746" y="608134"/>
                    <a:pt x="175846" y="518746"/>
                  </a:cubicBezTo>
                  <a:cubicBezTo>
                    <a:pt x="213946" y="429358"/>
                    <a:pt x="221273" y="214679"/>
                    <a:pt x="228600" y="0"/>
                  </a:cubicBezTo>
                </a:path>
              </a:pathLst>
            </a:custGeom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4A39234-9A51-D479-A227-E84686F28A44}"/>
              </a:ext>
            </a:extLst>
          </p:cNvPr>
          <p:cNvSpPr txBox="1"/>
          <p:nvPr/>
        </p:nvSpPr>
        <p:spPr>
          <a:xfrm>
            <a:off x="6365629" y="4243922"/>
            <a:ext cx="49881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latin typeface="Consolas" panose="020B0609020204030204" pitchFamily="49" charset="0"/>
              </a:rPr>
              <a:t>SQL.select(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"name, birth_year"</a:t>
            </a:r>
            <a:r>
              <a:rPr lang="en-GB">
                <a:latin typeface="Consolas" panose="020B0609020204030204" pitchFamily="49" charset="0"/>
              </a:rPr>
              <a:t>)</a:t>
            </a:r>
          </a:p>
          <a:p>
            <a:r>
              <a:rPr lang="en-GB">
                <a:latin typeface="Consolas" panose="020B0609020204030204" pitchFamily="49" charset="0"/>
              </a:rPr>
              <a:t>   .from(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"Students"</a:t>
            </a:r>
            <a:r>
              <a:rPr lang="en-GB">
                <a:latin typeface="Consolas" panose="020B0609020204030204" pitchFamily="49" charset="0"/>
              </a:rPr>
              <a:t>)</a:t>
            </a:r>
          </a:p>
          <a:p>
            <a:r>
              <a:rPr lang="en-GB">
                <a:latin typeface="Consolas" panose="020B0609020204030204" pitchFamily="49" charset="0"/>
              </a:rPr>
              <a:t>   .</a:t>
            </a:r>
            <a:r>
              <a:rPr lang="en-GB" u="wavyHeavy"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from</a:t>
            </a:r>
            <a:r>
              <a:rPr lang="en-GB">
                <a:latin typeface="Consolas" panose="020B0609020204030204" pitchFamily="49" charset="0"/>
              </a:rPr>
              <a:t>(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"Teachers"</a:t>
            </a:r>
            <a:r>
              <a:rPr lang="en-GB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C36C946-87D5-61E5-811C-9B77DA26C2EB}"/>
              </a:ext>
            </a:extLst>
          </p:cNvPr>
          <p:cNvSpPr/>
          <p:nvPr/>
        </p:nvSpPr>
        <p:spPr>
          <a:xfrm>
            <a:off x="7142011" y="5187462"/>
            <a:ext cx="533674" cy="474784"/>
          </a:xfrm>
          <a:custGeom>
            <a:avLst/>
            <a:gdLst>
              <a:gd name="csX0" fmla="*/ 533674 w 533674"/>
              <a:gd name="csY0" fmla="*/ 474784 h 474784"/>
              <a:gd name="csX1" fmla="*/ 58889 w 533674"/>
              <a:gd name="csY1" fmla="*/ 369276 h 474784"/>
              <a:gd name="csX2" fmla="*/ 23720 w 533674"/>
              <a:gd name="csY2" fmla="*/ 0 h 474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33674" h="474784">
                <a:moveTo>
                  <a:pt x="533674" y="474784"/>
                </a:moveTo>
                <a:cubicBezTo>
                  <a:pt x="338777" y="461595"/>
                  <a:pt x="143881" y="448407"/>
                  <a:pt x="58889" y="369276"/>
                </a:cubicBezTo>
                <a:cubicBezTo>
                  <a:pt x="-26103" y="290145"/>
                  <a:pt x="-1192" y="145072"/>
                  <a:pt x="23720" y="0"/>
                </a:cubicBezTo>
              </a:path>
            </a:pathLst>
          </a:cu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4CC440-3875-68C2-72EC-559A801840E2}"/>
              </a:ext>
            </a:extLst>
          </p:cNvPr>
          <p:cNvSpPr txBox="1"/>
          <p:nvPr/>
        </p:nvSpPr>
        <p:spPr>
          <a:xfrm>
            <a:off x="7321513" y="5527020"/>
            <a:ext cx="21932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>
                <a:solidFill>
                  <a:srgbClr val="0070C0"/>
                </a:solidFill>
                <a:latin typeface="Comic Sans MS" panose="030F0702030302020204" pitchFamily="66" charset="0"/>
              </a:rPr>
              <a:t>illegal syntax</a:t>
            </a:r>
          </a:p>
          <a:p>
            <a:pPr algn="ctr"/>
            <a:r>
              <a:rPr lang="en-GB" sz="1600">
                <a:solidFill>
                  <a:srgbClr val="0070C0"/>
                </a:solidFill>
                <a:latin typeface="Comic Sans MS" panose="030F0702030302020204" pitchFamily="66" charset="0"/>
              </a:rPr>
              <a:t>causes </a:t>
            </a:r>
            <a:r>
              <a:rPr lang="en-GB" sz="1600">
                <a:solidFill>
                  <a:srgbClr val="FF0000"/>
                </a:solidFill>
                <a:latin typeface="Comic Sans MS" panose="030F0702030302020204" pitchFamily="66" charset="0"/>
              </a:rPr>
              <a:t>runtime error</a:t>
            </a:r>
            <a:endParaRPr lang="en-US" sz="160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97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27" grpId="0"/>
      <p:bldP spid="29" grpId="0"/>
      <p:bldP spid="36" grpId="0"/>
      <p:bldP spid="39" grpId="0" animBg="1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BEDA11-D991-D431-9485-271C2107A47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/>
              <a:t>Goal: Disallow bad method chains at compile time</a:t>
            </a:r>
          </a:p>
          <a:p>
            <a:pPr marL="514350" indent="-514350">
              <a:buAutoNum type="arabicPeriod"/>
            </a:pPr>
            <a:r>
              <a:rPr lang="en-GB"/>
              <a:t>Encode allowed chains as a CFG</a:t>
            </a:r>
          </a:p>
          <a:p>
            <a:pPr marL="514350" indent="-514350">
              <a:buAutoNum type="arabicPeriod"/>
            </a:pPr>
            <a:endParaRPr lang="en-GB"/>
          </a:p>
          <a:p>
            <a:pPr marL="514350" indent="-514350">
              <a:buAutoNum type="arabicPeriod"/>
            </a:pPr>
            <a:endParaRPr lang="en-GB"/>
          </a:p>
          <a:p>
            <a:pPr marL="514350" indent="-514350">
              <a:buAutoNum type="arabicPeriod"/>
            </a:pPr>
            <a:endParaRPr lang="en-GB"/>
          </a:p>
          <a:p>
            <a:pPr marL="514350" indent="-514350">
              <a:buAutoNum type="arabicPeriod"/>
            </a:pPr>
            <a:endParaRPr lang="en-GB"/>
          </a:p>
          <a:p>
            <a:pPr marL="514350" indent="-514350">
              <a:buAutoNum type="arabicPeriod"/>
            </a:pPr>
            <a:r>
              <a:rPr lang="en-GB"/>
              <a:t>Generate a fluent API where this syntax is encoded in the type system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81C78-6A13-E3C1-FA0D-4A34E58A3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9114"/>
            <a:ext cx="10697308" cy="751574"/>
          </a:xfrm>
        </p:spPr>
        <p:txBody>
          <a:bodyPr/>
          <a:lstStyle/>
          <a:p>
            <a:r>
              <a:rPr lang="en-GB"/>
              <a:t>Safe Fluent APIs</a:t>
            </a:r>
            <a:r>
              <a:rPr lang="en-GB" sz="2800"/>
              <a:t>[EriLex, H. Xu, 2010][Fling, Gil &amp; Roth, 2019][...]</a:t>
            </a:r>
            <a:endParaRPr 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3B6186-E59B-6E80-77B0-34E11EB75E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77815" y="2826177"/>
                <a:ext cx="6512169" cy="193748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𝑄𝑢𝑒𝑟</m:t>
                      </m:r>
                      <m:r>
                        <m:rPr>
                          <m:sty m:val="p"/>
                        </m:rPr>
                        <a:rPr lang="en-GB" sz="2400" b="0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: := 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SQL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select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onsolas" panose="020B0609020204030204" pitchFamily="49" charset="0"/>
                            </a:rPr>
                            <m:t>String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onsolas" panose="020B0609020204030204" pitchFamily="49" charset="0"/>
                            </a:rPr>
                            <m:t>selections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            .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from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onsolas" panose="020B0609020204030204" pitchFamily="49" charset="0"/>
                            </a:rPr>
                            <m:t>String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onsolas" panose="020B0609020204030204" pitchFamily="49" charset="0"/>
                            </a:rPr>
                            <m:t>source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𝑊h𝑒𝑟𝑒</m:t>
                      </m:r>
                    </m:oMath>
                  </m:oMathPara>
                </a14:m>
                <a:br>
                  <a:rPr lang="en-GB" sz="2400" b="0"/>
                </a:br>
                <a:br>
                  <a:rPr lang="en-GB" sz="2400" b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𝑊h𝑒𝑟𝑒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: :=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|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where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String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clause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)</m:t>
                      </m:r>
                    </m:oMath>
                  </m:oMathPara>
                </a14:m>
                <a:endParaRPr lang="en-GB" sz="2400" b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endParaRPr lang="en-GB" b="0"/>
              </a:p>
              <a:p>
                <a:pPr marL="0" indent="0">
                  <a:buNone/>
                </a:pPr>
                <a:endParaRPr lang="en-GB" b="0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3B6186-E59B-6E80-77B0-34E11EB75E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7815" y="2826177"/>
                <a:ext cx="6512169" cy="1937483"/>
              </a:xfrm>
              <a:blipFill>
                <a:blip r:embed="rId2"/>
                <a:stretch>
                  <a:fillRect l="-749" b="-1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E16D5-AB9D-7049-355B-409B9C12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3EAE5-A45C-46BA-4FA5-94366390C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Related Work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3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B75E2-56D3-8D7B-9596-992FB456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Limitations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81B4A-2E86-46E9-9381-F2B7EA981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Only ensures partial syntactic correctness</a:t>
            </a:r>
          </a:p>
          <a:p>
            <a:r>
              <a:rPr lang="en-GB"/>
              <a:t>Verbose error messages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262BE-2F04-E39F-BDB0-79EB9B706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EEA63-6EF5-0817-9B16-CF01C11D4F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Related Work</a:t>
            </a: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20E559-ACEB-1B69-FEC2-FE6886B70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785" y="2257682"/>
            <a:ext cx="5395428" cy="420660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9179D61-B7ED-DEB4-808C-3CB3E1C8279C}"/>
              </a:ext>
            </a:extLst>
          </p:cNvPr>
          <p:cNvGrpSpPr/>
          <p:nvPr/>
        </p:nvGrpSpPr>
        <p:grpSpPr>
          <a:xfrm>
            <a:off x="0" y="4868597"/>
            <a:ext cx="5826371" cy="1338596"/>
            <a:chOff x="0" y="4868597"/>
            <a:chExt cx="5826371" cy="133859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47882F-4EA4-1702-2532-BCB7C2E480C8}"/>
                </a:ext>
              </a:extLst>
            </p:cNvPr>
            <p:cNvSpPr txBox="1"/>
            <p:nvPr/>
          </p:nvSpPr>
          <p:spPr>
            <a:xfrm>
              <a:off x="838200" y="4868597"/>
              <a:ext cx="49881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latin typeface="Consolas" panose="020B0609020204030204" pitchFamily="49" charset="0"/>
                </a:rPr>
                <a:t>SQL.select(</a:t>
              </a:r>
              <a:r>
                <a:rPr lang="en-GB">
                  <a:solidFill>
                    <a:srgbClr val="129204"/>
                  </a:solidFill>
                  <a:latin typeface="Consolas" panose="020B0609020204030204" pitchFamily="49" charset="0"/>
                </a:rPr>
                <a:t>"</a:t>
              </a:r>
              <a:r>
                <a:rPr lang="en-GB" u="wavyHeavy">
                  <a:solidFill>
                    <a:srgbClr val="129204"/>
                  </a:solidFill>
                  <a:uFill>
                    <a:solidFill>
                      <a:srgbClr val="FF0000"/>
                    </a:solidFill>
                  </a:uFill>
                  <a:latin typeface="Consolas" panose="020B0609020204030204" pitchFamily="49" charset="0"/>
                </a:rPr>
                <a:t>1 + 6</a:t>
              </a:r>
              <a:r>
                <a:rPr lang="en-GB">
                  <a:solidFill>
                    <a:srgbClr val="129204"/>
                  </a:solidFill>
                  <a:latin typeface="Consolas" panose="020B0609020204030204" pitchFamily="49" charset="0"/>
                </a:rPr>
                <a:t>"</a:t>
              </a:r>
              <a:r>
                <a:rPr lang="en-GB">
                  <a:latin typeface="Consolas" panose="020B0609020204030204" pitchFamily="49" charset="0"/>
                </a:rPr>
                <a:t>).from(</a:t>
              </a:r>
              <a:r>
                <a:rPr lang="en-GB">
                  <a:solidFill>
                    <a:srgbClr val="129204"/>
                  </a:solidFill>
                  <a:latin typeface="Consolas" panose="020B0609020204030204" pitchFamily="49" charset="0"/>
                </a:rPr>
                <a:t>"Students"</a:t>
              </a:r>
              <a:r>
                <a:rPr lang="en-GB"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554BA5-58BF-91FD-2B13-F9BE898DD9FD}"/>
                </a:ext>
              </a:extLst>
            </p:cNvPr>
            <p:cNvSpPr txBox="1"/>
            <p:nvPr/>
          </p:nvSpPr>
          <p:spPr>
            <a:xfrm>
              <a:off x="0" y="5622418"/>
              <a:ext cx="320312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>
                  <a:solidFill>
                    <a:srgbClr val="0070C0"/>
                  </a:solidFill>
                  <a:latin typeface="Comic Sans MS" panose="030F0702030302020204" pitchFamily="66" charset="0"/>
                </a:rPr>
                <a:t>syntax error which cannot</a:t>
              </a:r>
            </a:p>
            <a:p>
              <a:pPr algn="ctr"/>
              <a:r>
                <a:rPr lang="en-GB" sz="1600">
                  <a:solidFill>
                    <a:srgbClr val="0070C0"/>
                  </a:solidFill>
                  <a:latin typeface="Comic Sans MS" panose="030F0702030302020204" pitchFamily="66" charset="0"/>
                </a:rPr>
                <a:t>be detected by safe fluent API</a:t>
              </a:r>
              <a:endParaRPr lang="en-US" sz="1600">
                <a:solidFill>
                  <a:srgbClr val="0070C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7B2E246-406E-D9EA-24FC-704F864A8C9D}"/>
                </a:ext>
              </a:extLst>
            </p:cNvPr>
            <p:cNvSpPr/>
            <p:nvPr/>
          </p:nvSpPr>
          <p:spPr>
            <a:xfrm>
              <a:off x="2875085" y="5240215"/>
              <a:ext cx="513154" cy="562708"/>
            </a:xfrm>
            <a:custGeom>
              <a:avLst/>
              <a:gdLst>
                <a:gd name="csX0" fmla="*/ 307730 w 513154"/>
                <a:gd name="csY0" fmla="*/ 562708 h 562708"/>
                <a:gd name="csX1" fmla="*/ 501161 w 513154"/>
                <a:gd name="csY1" fmla="*/ 369277 h 562708"/>
                <a:gd name="csX2" fmla="*/ 0 w 513154"/>
                <a:gd name="csY2" fmla="*/ 0 h 562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3154" h="562708">
                  <a:moveTo>
                    <a:pt x="307730" y="562708"/>
                  </a:moveTo>
                  <a:cubicBezTo>
                    <a:pt x="430089" y="512885"/>
                    <a:pt x="552449" y="463062"/>
                    <a:pt x="501161" y="369277"/>
                  </a:cubicBezTo>
                  <a:cubicBezTo>
                    <a:pt x="449873" y="275492"/>
                    <a:pt x="224936" y="137746"/>
                    <a:pt x="0" y="0"/>
                  </a:cubicBezTo>
                </a:path>
              </a:pathLst>
            </a:custGeom>
            <a:noFill/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29260A7-BA98-0293-B73A-E06BBD4C1FC5}"/>
              </a:ext>
            </a:extLst>
          </p:cNvPr>
          <p:cNvSpPr/>
          <p:nvPr/>
        </p:nvSpPr>
        <p:spPr>
          <a:xfrm>
            <a:off x="5164946" y="3965331"/>
            <a:ext cx="963292" cy="334107"/>
          </a:xfrm>
          <a:custGeom>
            <a:avLst/>
            <a:gdLst>
              <a:gd name="csX0" fmla="*/ 66477 w 963292"/>
              <a:gd name="csY0" fmla="*/ 0 h 334107"/>
              <a:gd name="csX1" fmla="*/ 92854 w 963292"/>
              <a:gd name="csY1" fmla="*/ 219807 h 334107"/>
              <a:gd name="csX2" fmla="*/ 963292 w 963292"/>
              <a:gd name="csY2" fmla="*/ 334107 h 3341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63292" h="334107">
                <a:moveTo>
                  <a:pt x="66477" y="0"/>
                </a:moveTo>
                <a:cubicBezTo>
                  <a:pt x="4931" y="82061"/>
                  <a:pt x="-56615" y="164123"/>
                  <a:pt x="92854" y="219807"/>
                </a:cubicBezTo>
                <a:cubicBezTo>
                  <a:pt x="242323" y="275491"/>
                  <a:pt x="602807" y="304799"/>
                  <a:pt x="963292" y="334107"/>
                </a:cubicBezTo>
              </a:path>
            </a:pathLst>
          </a:cu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145E35-84D0-1A4C-A7E4-16E86105FA72}"/>
              </a:ext>
            </a:extLst>
          </p:cNvPr>
          <p:cNvSpPr txBox="1"/>
          <p:nvPr/>
        </p:nvSpPr>
        <p:spPr>
          <a:xfrm>
            <a:off x="3842531" y="3644218"/>
            <a:ext cx="24112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>
                <a:solidFill>
                  <a:srgbClr val="0070C0"/>
                </a:solidFill>
                <a:latin typeface="Comic Sans MS" panose="030F0702030302020204" pitchFamily="66" charset="0"/>
              </a:rPr>
              <a:t>realistic error message</a:t>
            </a:r>
            <a:endParaRPr lang="en-US" sz="1600">
              <a:solidFill>
                <a:srgbClr val="0070C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34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7121A-C9B4-0168-8699-D3E3440F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not translate back?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6DADA-3465-8E1F-274E-F9602F476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9F47F8-9B67-7025-0E7F-1726066FA2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441C54-D3A6-66FE-03D6-E804CFD2AD85}"/>
              </a:ext>
            </a:extLst>
          </p:cNvPr>
          <p:cNvSpPr txBox="1"/>
          <p:nvPr/>
        </p:nvSpPr>
        <p:spPr>
          <a:xfrm>
            <a:off x="2620652" y="3075057"/>
            <a:ext cx="10839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/>
              <a:t>DSL</a:t>
            </a:r>
            <a:endParaRPr lang="en-US" sz="4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87E21D-D820-5337-6237-249F2749CDCC}"/>
              </a:ext>
            </a:extLst>
          </p:cNvPr>
          <p:cNvSpPr txBox="1"/>
          <p:nvPr/>
        </p:nvSpPr>
        <p:spPr>
          <a:xfrm>
            <a:off x="7363906" y="3075057"/>
            <a:ext cx="34863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/>
              <a:t>Host Language</a:t>
            </a:r>
            <a:endParaRPr lang="en-US" sz="40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DA9829A-96A5-22C5-09A4-BDD1A8965B79}"/>
              </a:ext>
            </a:extLst>
          </p:cNvPr>
          <p:cNvSpPr/>
          <p:nvPr/>
        </p:nvSpPr>
        <p:spPr>
          <a:xfrm>
            <a:off x="3751868" y="2545183"/>
            <a:ext cx="3657600" cy="631650"/>
          </a:xfrm>
          <a:custGeom>
            <a:avLst/>
            <a:gdLst>
              <a:gd name="csX0" fmla="*/ 0 w 3657600"/>
              <a:gd name="csY0" fmla="*/ 603370 h 631650"/>
              <a:gd name="csX1" fmla="*/ 1734532 w 3657600"/>
              <a:gd name="csY1" fmla="*/ 54 h 631650"/>
              <a:gd name="csX2" fmla="*/ 3657600 w 3657600"/>
              <a:gd name="csY2" fmla="*/ 631650 h 631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657600" h="631650">
                <a:moveTo>
                  <a:pt x="0" y="603370"/>
                </a:moveTo>
                <a:cubicBezTo>
                  <a:pt x="562466" y="299355"/>
                  <a:pt x="1124932" y="-4659"/>
                  <a:pt x="1734532" y="54"/>
                </a:cubicBezTo>
                <a:cubicBezTo>
                  <a:pt x="2344132" y="4767"/>
                  <a:pt x="3000866" y="318208"/>
                  <a:pt x="3657600" y="63165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DF279F-AACB-3E3B-AAF9-422E38811CCF}"/>
              </a:ext>
            </a:extLst>
          </p:cNvPr>
          <p:cNvSpPr txBox="1"/>
          <p:nvPr/>
        </p:nvSpPr>
        <p:spPr>
          <a:xfrm>
            <a:off x="4704466" y="1690688"/>
            <a:ext cx="17524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/>
              <a:t>Fluent API</a:t>
            </a:r>
            <a:endParaRPr lang="en-US" sz="28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BDB6B1-71A4-DFB6-7D7D-E0CEFFCA7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006" y="2059169"/>
            <a:ext cx="547540" cy="5475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B1C202-1F1A-B15E-5BE9-CFD0886DCC19}"/>
              </a:ext>
            </a:extLst>
          </p:cNvPr>
          <p:cNvSpPr txBox="1"/>
          <p:nvPr/>
        </p:nvSpPr>
        <p:spPr>
          <a:xfrm>
            <a:off x="5287849" y="2021963"/>
            <a:ext cx="3593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/>
              <a:t>/</a:t>
            </a:r>
            <a:endParaRPr lang="en-US" sz="40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7D3B254-F146-991D-798B-EFCA61D22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546" y="2092162"/>
            <a:ext cx="547540" cy="547540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DD2BDB1-192E-48C4-AE73-D4F360D51F9B}"/>
              </a:ext>
            </a:extLst>
          </p:cNvPr>
          <p:cNvSpPr/>
          <p:nvPr/>
        </p:nvSpPr>
        <p:spPr>
          <a:xfrm>
            <a:off x="3751868" y="3638746"/>
            <a:ext cx="3619893" cy="631619"/>
          </a:xfrm>
          <a:custGeom>
            <a:avLst/>
            <a:gdLst>
              <a:gd name="csX0" fmla="*/ 3619893 w 3619893"/>
              <a:gd name="csY0" fmla="*/ 18854 h 631619"/>
              <a:gd name="csX1" fmla="*/ 1951348 w 3619893"/>
              <a:gd name="csY1" fmla="*/ 631596 h 631619"/>
              <a:gd name="csX2" fmla="*/ 0 w 3619893"/>
              <a:gd name="csY2" fmla="*/ 0 h 6316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619893" h="631619">
                <a:moveTo>
                  <a:pt x="3619893" y="18854"/>
                </a:moveTo>
                <a:cubicBezTo>
                  <a:pt x="3087278" y="326796"/>
                  <a:pt x="2554663" y="634738"/>
                  <a:pt x="1951348" y="631596"/>
                </a:cubicBezTo>
                <a:cubicBezTo>
                  <a:pt x="1348033" y="628454"/>
                  <a:pt x="674016" y="314227"/>
                  <a:pt x="0" y="0"/>
                </a:cubicBezTo>
              </a:path>
            </a:pathLst>
          </a:cu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572A6C-D9C3-0CCB-2B0E-38E17BFD82E2}"/>
              </a:ext>
            </a:extLst>
          </p:cNvPr>
          <p:cNvSpPr txBox="1"/>
          <p:nvPr/>
        </p:nvSpPr>
        <p:spPr>
          <a:xfrm>
            <a:off x="4338294" y="4270365"/>
            <a:ext cx="261789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>
                <a:solidFill>
                  <a:srgbClr val="FF0000"/>
                </a:solidFill>
              </a:rPr>
              <a:t>Static </a:t>
            </a:r>
          </a:p>
          <a:p>
            <a:pPr algn="ctr"/>
            <a:r>
              <a:rPr lang="en-GB" sz="2800">
                <a:solidFill>
                  <a:srgbClr val="FF0000"/>
                </a:solidFill>
              </a:rPr>
              <a:t>Backtranslation</a:t>
            </a:r>
            <a:endParaRPr lang="en-US" sz="2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2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7A602-FEAA-940A-FDE1-19E20E1AA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Possible Use Cases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8A392-78DC-BC11-BE37-06EF6015A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Full syntax checking</a:t>
            </a:r>
          </a:p>
          <a:p>
            <a:r>
              <a:rPr lang="en-GB"/>
              <a:t>Semantic Analysis</a:t>
            </a:r>
          </a:p>
          <a:p>
            <a:r>
              <a:rPr lang="en-GB"/>
              <a:t>In-editor error messages</a:t>
            </a:r>
          </a:p>
          <a:p>
            <a:r>
              <a:rPr lang="en-GB"/>
              <a:t>Custom syntax highlighting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9CB37-BA32-E47C-DE32-637F355D4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01FDD0-FA80-6EA2-2BF1-0DF700E59C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C0966-5D6F-688B-9B5B-B0C82AB2BC97}"/>
              </a:ext>
            </a:extLst>
          </p:cNvPr>
          <p:cNvSpPr txBox="1"/>
          <p:nvPr/>
        </p:nvSpPr>
        <p:spPr>
          <a:xfrm>
            <a:off x="3388543" y="4168508"/>
            <a:ext cx="5414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latin typeface="Consolas" panose="020B0609020204030204" pitchFamily="49" charset="0"/>
              </a:rPr>
              <a:t>SQL.</a:t>
            </a:r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select</a:t>
            </a:r>
            <a:r>
              <a:rPr lang="en-GB">
                <a:latin typeface="Consolas" panose="020B0609020204030204" pitchFamily="49" charset="0"/>
              </a:rPr>
              <a:t>(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</a:t>
            </a:r>
            <a:r>
              <a:rPr lang="en-GB">
                <a:latin typeface="Consolas" panose="020B0609020204030204" pitchFamily="49" charset="0"/>
              </a:rPr>
              <a:t>name, birth_year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</a:t>
            </a:r>
            <a:r>
              <a:rPr lang="en-GB">
                <a:latin typeface="Consolas" panose="020B0609020204030204" pitchFamily="49" charset="0"/>
              </a:rPr>
              <a:t>)</a:t>
            </a:r>
          </a:p>
          <a:p>
            <a:r>
              <a:rPr lang="en-GB">
                <a:latin typeface="Consolas" panose="020B0609020204030204" pitchFamily="49" charset="0"/>
              </a:rPr>
              <a:t>   .</a:t>
            </a:r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from</a:t>
            </a:r>
            <a:r>
              <a:rPr lang="en-GB">
                <a:latin typeface="Consolas" panose="020B0609020204030204" pitchFamily="49" charset="0"/>
              </a:rPr>
              <a:t>(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</a:t>
            </a:r>
            <a:r>
              <a:rPr lang="en-GB">
                <a:latin typeface="Consolas" panose="020B0609020204030204" pitchFamily="49" charset="0"/>
              </a:rPr>
              <a:t>Students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</a:t>
            </a:r>
            <a:r>
              <a:rPr lang="en-GB">
                <a:latin typeface="Consolas" panose="020B0609020204030204" pitchFamily="49" charset="0"/>
              </a:rPr>
              <a:t>)</a:t>
            </a:r>
          </a:p>
          <a:p>
            <a:r>
              <a:rPr lang="en-GB">
                <a:latin typeface="Consolas" panose="020B0609020204030204" pitchFamily="49" charset="0"/>
              </a:rPr>
              <a:t>   .</a:t>
            </a:r>
            <a:r>
              <a:rPr lang="en-GB">
                <a:solidFill>
                  <a:srgbClr val="CB0756"/>
                </a:solidFill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where</a:t>
            </a:r>
            <a:r>
              <a:rPr lang="en-GB">
                <a:latin typeface="Consolas" panose="020B0609020204030204" pitchFamily="49" charset="0"/>
              </a:rPr>
              <a:t>(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</a:t>
            </a:r>
            <a:r>
              <a:rPr lang="en-GB" u="wavyHeavy"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age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 </a:t>
            </a:r>
            <a:r>
              <a:rPr lang="en-GB">
                <a:latin typeface="Consolas" panose="020B0609020204030204" pitchFamily="49" charset="0"/>
              </a:rPr>
              <a:t>==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 </a:t>
            </a:r>
            <a:r>
              <a:rPr lang="en-GB">
                <a:solidFill>
                  <a:srgbClr val="447DE4"/>
                </a:solidFill>
                <a:latin typeface="Consolas" panose="020B0609020204030204" pitchFamily="49" charset="0"/>
              </a:rPr>
              <a:t>16 </a:t>
            </a:r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AND</a:t>
            </a:r>
            <a:r>
              <a:rPr lang="en-GB">
                <a:solidFill>
                  <a:srgbClr val="447DE4"/>
                </a:solidFill>
                <a:latin typeface="Consolas" panose="020B0609020204030204" pitchFamily="49" charset="0"/>
              </a:rPr>
              <a:t> </a:t>
            </a:r>
            <a:r>
              <a:rPr lang="en-GB">
                <a:latin typeface="Consolas" panose="020B0609020204030204" pitchFamily="49" charset="0"/>
              </a:rPr>
              <a:t>name == 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'Joe'"</a:t>
            </a:r>
            <a:r>
              <a:rPr lang="en-GB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D972A8-E0CE-3D30-7172-CA82D5B02416}"/>
              </a:ext>
            </a:extLst>
          </p:cNvPr>
          <p:cNvSpPr/>
          <p:nvPr/>
        </p:nvSpPr>
        <p:spPr>
          <a:xfrm>
            <a:off x="4950655" y="5113098"/>
            <a:ext cx="2637922" cy="8564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600">
                <a:solidFill>
                  <a:schemeClr val="bg2">
                    <a:lumMod val="25000"/>
                  </a:schemeClr>
                </a:solidFill>
              </a:rPr>
              <a:t>Unselected column 'age'</a:t>
            </a:r>
          </a:p>
          <a:p>
            <a:pPr>
              <a:lnSpc>
                <a:spcPct val="200000"/>
              </a:lnSpc>
            </a:pPr>
            <a:r>
              <a:rPr lang="en-US" sz="1600" u="sng">
                <a:solidFill>
                  <a:schemeClr val="tx2">
                    <a:lumMod val="50000"/>
                    <a:lumOff val="50000"/>
                  </a:schemeClr>
                </a:solidFill>
              </a:rPr>
              <a:t>Select 'age' from 'Students'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9223C18-E718-AE70-C34E-8CBD6ED832DA}"/>
              </a:ext>
            </a:extLst>
          </p:cNvPr>
          <p:cNvSpPr/>
          <p:nvPr/>
        </p:nvSpPr>
        <p:spPr>
          <a:xfrm>
            <a:off x="8578392" y="4062953"/>
            <a:ext cx="836532" cy="565608"/>
          </a:xfrm>
          <a:custGeom>
            <a:avLst/>
            <a:gdLst>
              <a:gd name="csX0" fmla="*/ 556181 w 836532"/>
              <a:gd name="csY0" fmla="*/ 0 h 565608"/>
              <a:gd name="csX1" fmla="*/ 810705 w 836532"/>
              <a:gd name="csY1" fmla="*/ 433633 h 565608"/>
              <a:gd name="csX2" fmla="*/ 0 w 836532"/>
              <a:gd name="csY2" fmla="*/ 565608 h 5656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36532" h="565608">
                <a:moveTo>
                  <a:pt x="556181" y="0"/>
                </a:moveTo>
                <a:cubicBezTo>
                  <a:pt x="729791" y="169682"/>
                  <a:pt x="903402" y="339365"/>
                  <a:pt x="810705" y="433633"/>
                </a:cubicBezTo>
                <a:cubicBezTo>
                  <a:pt x="718008" y="527901"/>
                  <a:pt x="359004" y="546754"/>
                  <a:pt x="0" y="565608"/>
                </a:cubicBezTo>
              </a:path>
            </a:pathLst>
          </a:cu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7EF133-3AFD-4E5D-3C99-B187251772C8}"/>
              </a:ext>
            </a:extLst>
          </p:cNvPr>
          <p:cNvSpPr txBox="1"/>
          <p:nvPr/>
        </p:nvSpPr>
        <p:spPr>
          <a:xfrm>
            <a:off x="7588577" y="3448796"/>
            <a:ext cx="29418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>
                <a:solidFill>
                  <a:srgbClr val="0070C0"/>
                </a:solidFill>
                <a:latin typeface="Comic Sans MS" panose="030F0702030302020204" pitchFamily="66" charset="0"/>
              </a:rPr>
              <a:t>this is how fluent API</a:t>
            </a:r>
          </a:p>
          <a:p>
            <a:pPr algn="ctr"/>
            <a:r>
              <a:rPr lang="en-GB" sz="1600">
                <a:solidFill>
                  <a:srgbClr val="0070C0"/>
                </a:solidFill>
                <a:latin typeface="Comic Sans MS" panose="030F0702030302020204" pitchFamily="66" charset="0"/>
              </a:rPr>
              <a:t>code might look in the editor</a:t>
            </a:r>
            <a:endParaRPr lang="en-US" sz="1600">
              <a:solidFill>
                <a:srgbClr val="0070C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764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04112-0979-370C-D444-35EB3F8F4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How can backtranslation be done?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6D422-D916-584E-9C4A-94656FAD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10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DA0AF6-071A-CE88-DCA6-2421BED88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2180A7-ED34-832B-1369-B0759DC9F11F}"/>
              </a:ext>
            </a:extLst>
          </p:cNvPr>
          <p:cNvSpPr txBox="1"/>
          <p:nvPr/>
        </p:nvSpPr>
        <p:spPr>
          <a:xfrm>
            <a:off x="1000116" y="2124199"/>
            <a:ext cx="4260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latin typeface="Consolas" panose="020B0609020204030204" pitchFamily="49" charset="0"/>
              </a:rPr>
              <a:t>SQL.select(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"*"</a:t>
            </a:r>
            <a:r>
              <a:rPr lang="en-GB">
                <a:latin typeface="Consolas" panose="020B0609020204030204" pitchFamily="49" charset="0"/>
              </a:rPr>
              <a:t>).from(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"Students"</a:t>
            </a:r>
            <a:r>
              <a:rPr lang="en-GB"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47C33A-DE1A-D026-5EB5-5C4A61D73847}"/>
              </a:ext>
            </a:extLst>
          </p:cNvPr>
          <p:cNvCxnSpPr>
            <a:cxnSpLocks/>
          </p:cNvCxnSpPr>
          <p:nvPr/>
        </p:nvCxnSpPr>
        <p:spPr>
          <a:xfrm flipH="1">
            <a:off x="3129698" y="2765010"/>
            <a:ext cx="438" cy="644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9D08FA8-8D83-287E-AC65-C040BB8A1015}"/>
              </a:ext>
            </a:extLst>
          </p:cNvPr>
          <p:cNvSpPr txBox="1"/>
          <p:nvPr/>
        </p:nvSpPr>
        <p:spPr>
          <a:xfrm>
            <a:off x="2708750" y="3680886"/>
            <a:ext cx="841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/>
              <a:t>Chain</a:t>
            </a:r>
            <a:endParaRPr lang="en-US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6FB6F4-6EBA-37E6-43A6-E749928B77AD}"/>
              </a:ext>
            </a:extLst>
          </p:cNvPr>
          <p:cNvSpPr txBox="1"/>
          <p:nvPr/>
        </p:nvSpPr>
        <p:spPr>
          <a:xfrm>
            <a:off x="3190214" y="2896548"/>
            <a:ext cx="1159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transform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B8A476-2096-5C1E-2E44-2F2418C64743}"/>
              </a:ext>
            </a:extLst>
          </p:cNvPr>
          <p:cNvCxnSpPr/>
          <p:nvPr/>
        </p:nvCxnSpPr>
        <p:spPr>
          <a:xfrm flipH="1">
            <a:off x="2284544" y="4080996"/>
            <a:ext cx="424206" cy="5708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61D9EF-09A6-7358-75B0-0E01F3D64CB3}"/>
              </a:ext>
            </a:extLst>
          </p:cNvPr>
          <p:cNvCxnSpPr>
            <a:cxnSpLocks/>
          </p:cNvCxnSpPr>
          <p:nvPr/>
        </p:nvCxnSpPr>
        <p:spPr>
          <a:xfrm>
            <a:off x="3582184" y="4080996"/>
            <a:ext cx="392669" cy="5708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C14DE3C-E9EF-199B-3421-02816D38EB9B}"/>
              </a:ext>
            </a:extLst>
          </p:cNvPr>
          <p:cNvSpPr txBox="1"/>
          <p:nvPr/>
        </p:nvSpPr>
        <p:spPr>
          <a:xfrm>
            <a:off x="1847827" y="4651847"/>
            <a:ext cx="1031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latin typeface="Consolas" panose="020B0609020204030204" pitchFamily="49" charset="0"/>
              </a:rPr>
              <a:t>select</a:t>
            </a:r>
            <a:endParaRPr lang="en-US" sz="200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8FAB97-1C21-D424-7D83-9926B98C26C7}"/>
              </a:ext>
            </a:extLst>
          </p:cNvPr>
          <p:cNvSpPr txBox="1"/>
          <p:nvPr/>
        </p:nvSpPr>
        <p:spPr>
          <a:xfrm>
            <a:off x="3600391" y="4662417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latin typeface="Consolas" panose="020B0609020204030204" pitchFamily="49" charset="0"/>
              </a:rPr>
              <a:t>from</a:t>
            </a:r>
            <a:endParaRPr lang="en-US" sz="2000">
              <a:latin typeface="Consolas" panose="020B0609020204030204" pitchFamily="49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1F1FBE6-AC28-294D-BB6E-557B7BA97E4B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2363352" y="5051957"/>
            <a:ext cx="1" cy="6274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CAE755F-B9FC-D2DD-5791-46F9F8CED670}"/>
              </a:ext>
            </a:extLst>
          </p:cNvPr>
          <p:cNvCxnSpPr/>
          <p:nvPr/>
        </p:nvCxnSpPr>
        <p:spPr>
          <a:xfrm flipH="1">
            <a:off x="3979566" y="5051957"/>
            <a:ext cx="1" cy="6274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1C11A90-88D0-7F5A-2AC0-DE0BAD39D677}"/>
              </a:ext>
            </a:extLst>
          </p:cNvPr>
          <p:cNvSpPr txBox="1"/>
          <p:nvPr/>
        </p:nvSpPr>
        <p:spPr>
          <a:xfrm>
            <a:off x="2059422" y="5696354"/>
            <a:ext cx="6078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>
                <a:solidFill>
                  <a:srgbClr val="129204"/>
                </a:solidFill>
                <a:latin typeface="Consolas" panose="020B0609020204030204" pitchFamily="49" charset="0"/>
              </a:rPr>
              <a:t>"*"</a:t>
            </a:r>
            <a:endParaRPr lang="en-US" sz="2000">
              <a:solidFill>
                <a:srgbClr val="129204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CE8C16-A784-BBBC-3C3B-176D952D5F34}"/>
              </a:ext>
            </a:extLst>
          </p:cNvPr>
          <p:cNvSpPr txBox="1"/>
          <p:nvPr/>
        </p:nvSpPr>
        <p:spPr>
          <a:xfrm>
            <a:off x="3177200" y="5696354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>
                <a:solidFill>
                  <a:srgbClr val="129204"/>
                </a:solidFill>
                <a:latin typeface="Consolas" panose="020B0609020204030204" pitchFamily="49" charset="0"/>
              </a:rPr>
              <a:t>"Students"</a:t>
            </a:r>
            <a:endParaRPr lang="en-US" sz="2000">
              <a:solidFill>
                <a:srgbClr val="129204"/>
              </a:solidFill>
              <a:latin typeface="Consolas" panose="020B06090202040302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2EA235B-D9A9-1F67-30C7-FEF88F245551}"/>
              </a:ext>
            </a:extLst>
          </p:cNvPr>
          <p:cNvCxnSpPr>
            <a:cxnSpLocks/>
          </p:cNvCxnSpPr>
          <p:nvPr/>
        </p:nvCxnSpPr>
        <p:spPr>
          <a:xfrm>
            <a:off x="5260157" y="4878423"/>
            <a:ext cx="12922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F793B95-3881-3DBE-F77E-E84F32A07FDB}"/>
              </a:ext>
            </a:extLst>
          </p:cNvPr>
          <p:cNvSpPr txBox="1"/>
          <p:nvPr/>
        </p:nvSpPr>
        <p:spPr>
          <a:xfrm>
            <a:off x="4850167" y="4467181"/>
            <a:ext cx="2112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traverse &amp; translate</a:t>
            </a:r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4DEE8B-3CC5-264B-AF7D-51D9B2681C24}"/>
              </a:ext>
            </a:extLst>
          </p:cNvPr>
          <p:cNvSpPr txBox="1"/>
          <p:nvPr/>
        </p:nvSpPr>
        <p:spPr>
          <a:xfrm>
            <a:off x="6773082" y="4651847"/>
            <a:ext cx="4260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SELECT</a:t>
            </a:r>
            <a:r>
              <a:rPr lang="en-GB">
                <a:latin typeface="Consolas" panose="020B0609020204030204" pitchFamily="49" charset="0"/>
              </a:rPr>
              <a:t> * </a:t>
            </a:r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FROM</a:t>
            </a:r>
            <a:r>
              <a:rPr lang="en-GB">
                <a:latin typeface="Consolas" panose="020B0609020204030204" pitchFamily="49" charset="0"/>
              </a:rPr>
              <a:t> Students</a:t>
            </a:r>
          </a:p>
        </p:txBody>
      </p:sp>
    </p:spTree>
    <p:extLst>
      <p:ext uri="{BB962C8B-B14F-4D97-AF65-F5344CB8AC3E}">
        <p14:creationId xmlns:p14="http://schemas.microsoft.com/office/powerpoint/2010/main" val="171233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9" grpId="0"/>
      <p:bldP spid="21" grpId="0"/>
      <p:bldP spid="26" grpId="0"/>
      <p:bldP spid="28" grpId="0"/>
      <p:bldP spid="33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AC54F-B232-0C36-2E3A-2FE619D8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Current Progress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58BB0-7BF2-9E49-6F0D-D28DEBE23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GB"/>
              <a:t>Come up with new method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/>
              <a:t>Create a Prototype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/>
              <a:t>Test it on existing Code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4290-1BD1-B67F-1A9D-1CE3FCEF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11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33F436-752B-6FC4-90CD-31723F1B5C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27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E652A-2BF7-C1D4-A334-9C62AF39C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8BB87-6866-7A07-F5E6-CD7EF3271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Summary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C28D5-A852-B7A9-7E50-6E0F87865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Fluent APIs for embedded DSLs are very useful!</a:t>
            </a:r>
          </a:p>
          <a:p>
            <a:r>
              <a:rPr lang="en-GB"/>
              <a:t>…static analysis is very limited</a:t>
            </a:r>
          </a:p>
          <a:p>
            <a:r>
              <a:rPr lang="en-GB"/>
              <a:t>I proposed a simple and extendable way to translate method chains back to the original DSL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5679E-34F1-0601-E607-ED119F99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12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DB97F-39EA-78CF-D30E-D425085F39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29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2E1856-8426-0DF2-F7C3-6401998696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Style Sheet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D0299A-2571-75BF-28CD-275B601F5376}"/>
              </a:ext>
            </a:extLst>
          </p:cNvPr>
          <p:cNvSpPr/>
          <p:nvPr/>
        </p:nvSpPr>
        <p:spPr>
          <a:xfrm>
            <a:off x="960544" y="1172630"/>
            <a:ext cx="8236210" cy="2625648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class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Example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public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void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main(String[] args)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(args.length &gt; </a:t>
            </a:r>
            <a:r>
              <a:rPr lang="en-US">
                <a:solidFill>
                  <a:srgbClr val="447DE4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(args[</a:t>
            </a:r>
            <a:r>
              <a:rPr lang="en-US">
                <a:solidFill>
                  <a:srgbClr val="447DE4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].equals(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"help"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    System.out.println(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"There's no help for the wicked..."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DAB52-400D-C030-7FEC-EB84659D4D68}"/>
              </a:ext>
            </a:extLst>
          </p:cNvPr>
          <p:cNvSpPr txBox="1"/>
          <p:nvPr/>
        </p:nvSpPr>
        <p:spPr>
          <a:xfrm>
            <a:off x="838200" y="4031108"/>
            <a:ext cx="6136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SELECT</a:t>
            </a:r>
            <a:r>
              <a:rPr lang="en-GB">
                <a:latin typeface="Consolas" panose="020B0609020204030204" pitchFamily="49" charset="0"/>
              </a:rPr>
              <a:t> * </a:t>
            </a:r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FROM</a:t>
            </a:r>
            <a:r>
              <a:rPr lang="en-GB">
                <a:latin typeface="Consolas" panose="020B0609020204030204" pitchFamily="49" charset="0"/>
              </a:rPr>
              <a:t> Students </a:t>
            </a:r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WHERE</a:t>
            </a:r>
            <a:r>
              <a:rPr lang="en-GB">
                <a:latin typeface="Consolas" panose="020B0609020204030204" pitchFamily="49" charset="0"/>
              </a:rPr>
              <a:t> name == 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"John Doe"</a:t>
            </a:r>
            <a:endParaRPr lang="en-US">
              <a:solidFill>
                <a:srgbClr val="129204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6F49CE-77A9-9A93-2A3C-CA8305812C4D}"/>
              </a:ext>
            </a:extLst>
          </p:cNvPr>
          <p:cNvSpPr txBox="1"/>
          <p:nvPr/>
        </p:nvSpPr>
        <p:spPr>
          <a:xfrm>
            <a:off x="838200" y="452331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Keyword</a:t>
            </a:r>
            <a:endParaRPr lang="en-US">
              <a:solidFill>
                <a:srgbClr val="CB0756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8376D3-709C-334A-BF07-4BD6AB37A690}"/>
              </a:ext>
            </a:extLst>
          </p:cNvPr>
          <p:cNvSpPr txBox="1"/>
          <p:nvPr/>
        </p:nvSpPr>
        <p:spPr>
          <a:xfrm>
            <a:off x="2485292" y="4523316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"Hello World!"</a:t>
            </a:r>
            <a:endParaRPr lang="en-US">
              <a:solidFill>
                <a:srgbClr val="129204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13B999-9A50-C9D6-C604-43564BBB52DA}"/>
              </a:ext>
            </a:extLst>
          </p:cNvPr>
          <p:cNvSpPr txBox="1"/>
          <p:nvPr/>
        </p:nvSpPr>
        <p:spPr>
          <a:xfrm>
            <a:off x="4826977" y="452331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447DE4"/>
                </a:solidFill>
                <a:latin typeface="Consolas" panose="020B0609020204030204" pitchFamily="49" charset="0"/>
              </a:rPr>
              <a:t>1_000_000</a:t>
            </a:r>
            <a:endParaRPr lang="en-US">
              <a:solidFill>
                <a:srgbClr val="447DE4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C6AEC-BA0F-7A37-788A-2CF669299A5A}"/>
              </a:ext>
            </a:extLst>
          </p:cNvPr>
          <p:cNvSpPr txBox="1"/>
          <p:nvPr/>
        </p:nvSpPr>
        <p:spPr>
          <a:xfrm>
            <a:off x="4898236" y="501552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447DE4"/>
                </a:solidFill>
                <a:latin typeface="Consolas" panose="020B0609020204030204" pitchFamily="49" charset="0"/>
              </a:rPr>
              <a:t>3.141529</a:t>
            </a:r>
            <a:endParaRPr lang="en-US">
              <a:solidFill>
                <a:srgbClr val="447DE4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B23F19-1218-6AD5-31C4-9BB7429F0C4E}"/>
              </a:ext>
            </a:extLst>
          </p:cNvPr>
          <p:cNvSpPr txBox="1"/>
          <p:nvPr/>
        </p:nvSpPr>
        <p:spPr>
          <a:xfrm>
            <a:off x="5143570" y="550773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447DE4"/>
                </a:solidFill>
                <a:latin typeface="Consolas" panose="020B0609020204030204" pitchFamily="49" charset="0"/>
              </a:rPr>
              <a:t>true</a:t>
            </a:r>
            <a:endParaRPr lang="en-US">
              <a:solidFill>
                <a:srgbClr val="447DE4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B4C16B-0EE4-1577-DE9D-F3027B508D11}"/>
              </a:ext>
            </a:extLst>
          </p:cNvPr>
          <p:cNvSpPr txBox="1"/>
          <p:nvPr/>
        </p:nvSpPr>
        <p:spPr>
          <a:xfrm>
            <a:off x="7248267" y="452331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latin typeface="Consolas" panose="020B0609020204030204" pitchFamily="49" charset="0"/>
              </a:rPr>
              <a:t>other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25771B-60EB-B3AE-20A2-D51070C74581}"/>
              </a:ext>
            </a:extLst>
          </p:cNvPr>
          <p:cNvSpPr txBox="1"/>
          <p:nvPr/>
        </p:nvSpPr>
        <p:spPr>
          <a:xfrm>
            <a:off x="9071206" y="312854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u="wavyHeavy"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error</a:t>
            </a:r>
            <a:endParaRPr lang="en-US" u="wavyHeavy">
              <a:uFill>
                <a:solidFill>
                  <a:srgbClr val="FF0000"/>
                </a:solidFill>
              </a:u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4A9ECA-BAD3-2A25-E22D-B1112DA9E4F5}"/>
              </a:ext>
            </a:extLst>
          </p:cNvPr>
          <p:cNvSpPr txBox="1"/>
          <p:nvPr/>
        </p:nvSpPr>
        <p:spPr>
          <a:xfrm>
            <a:off x="9071205" y="403110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u="wavyHeavy"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error</a:t>
            </a:r>
            <a:endParaRPr lang="en-US" u="wavyHeavy">
              <a:uFill>
                <a:solidFill>
                  <a:srgbClr val="FF0000"/>
                </a:solidFill>
              </a:uFill>
              <a:latin typeface="Consolas" panose="020B0609020204030204" pitchFamily="49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BFA6880-5088-69D2-4BE2-9E2B88A2D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789" y="4205458"/>
            <a:ext cx="130150" cy="194982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74836C6-869E-8912-BE21-38887BE085A5}"/>
              </a:ext>
            </a:extLst>
          </p:cNvPr>
          <p:cNvSpPr/>
          <p:nvPr/>
        </p:nvSpPr>
        <p:spPr>
          <a:xfrm>
            <a:off x="9569789" y="4379423"/>
            <a:ext cx="1657988" cy="3651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600">
                <a:solidFill>
                  <a:schemeClr val="bg2">
                    <a:lumMod val="25000"/>
                  </a:schemeClr>
                </a:solidFill>
              </a:rPr>
              <a:t>Error annotation</a:t>
            </a:r>
            <a:endParaRPr 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9F32643-EC9B-CB00-3679-8FFAB04BFDC9}"/>
              </a:ext>
            </a:extLst>
          </p:cNvPr>
          <p:cNvSpPr/>
          <p:nvPr/>
        </p:nvSpPr>
        <p:spPr>
          <a:xfrm>
            <a:off x="9569788" y="5275427"/>
            <a:ext cx="1784011" cy="8564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600">
                <a:solidFill>
                  <a:schemeClr val="bg2">
                    <a:lumMod val="25000"/>
                  </a:schemeClr>
                </a:solidFill>
              </a:rPr>
              <a:t>Error annotation</a:t>
            </a:r>
          </a:p>
          <a:p>
            <a:pPr>
              <a:lnSpc>
                <a:spcPct val="200000"/>
              </a:lnSpc>
            </a:pPr>
            <a:r>
              <a:rPr lang="en-US" sz="1600" u="sng">
                <a:solidFill>
                  <a:schemeClr val="tx2">
                    <a:lumMod val="50000"/>
                    <a:lumOff val="50000"/>
                  </a:schemeClr>
                </a:solidFill>
              </a:rPr>
              <a:t>Fix suggestion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58CF9CF-9025-1582-E812-62675947F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3836" y="3238271"/>
            <a:ext cx="130150" cy="19498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AE727E-6EB0-06AB-A7EB-165675BBF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866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9050" cap="flat" cmpd="sng" algn="ctr">
          <a:solidFill>
            <a:srgbClr val="0070C0"/>
          </a:solidFill>
          <a:prstDash val="solid"/>
          <a:round/>
          <a:headEnd type="none" w="med" len="med"/>
          <a:tailEnd type="arrow" w="med" len="med"/>
        </a:ln>
      </a:spPr>
      <a:bodyPr rtlCol="0" anchor="ctr"/>
      <a:lstStyle>
        <a:defPPr algn="ctr">
          <a:defRPr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8452</TotalTime>
  <Words>634</Words>
  <Application>Microsoft Office PowerPoint</Application>
  <PresentationFormat>Widescreen</PresentationFormat>
  <Paragraphs>154</Paragraphs>
  <Slides>13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Comic Sans MS</vt:lpstr>
      <vt:lpstr>Consolas</vt:lpstr>
      <vt:lpstr>Wingdings</vt:lpstr>
      <vt:lpstr>Office Theme</vt:lpstr>
      <vt:lpstr>Backtranslating Fluent APIs</vt:lpstr>
      <vt:lpstr>Contents</vt:lpstr>
      <vt:lpstr>What are Fluent APIs?</vt:lpstr>
      <vt:lpstr>Fluent APIs 🤝 Embedded DSLs</vt:lpstr>
      <vt:lpstr>The Tradeoff</vt:lpstr>
      <vt:lpstr>Safe Fluent APIs[EriLex, H. Xu, 2010][Fling, Gil &amp; Roth, 2019][...]</vt:lpstr>
      <vt:lpstr>Limitations</vt:lpstr>
      <vt:lpstr>Why not translate back?</vt:lpstr>
      <vt:lpstr>Possible Use Cases</vt:lpstr>
      <vt:lpstr>How can backtranslation be done?</vt:lpstr>
      <vt:lpstr>Current Progress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Prüne</dc:creator>
  <cp:lastModifiedBy>Dennis Prüne</cp:lastModifiedBy>
  <cp:revision>28</cp:revision>
  <dcterms:created xsi:type="dcterms:W3CDTF">2026-04-14T09:40:23Z</dcterms:created>
  <dcterms:modified xsi:type="dcterms:W3CDTF">2026-07-22T04:12:34Z</dcterms:modified>
</cp:coreProperties>
</file>